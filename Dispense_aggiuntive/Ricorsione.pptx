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0"/>
  </p:notesMasterIdLst>
  <p:handoutMasterIdLst>
    <p:handoutMasterId r:id="rId61"/>
  </p:handoutMasterIdLst>
  <p:sldIdLst>
    <p:sldId id="892" r:id="rId2"/>
    <p:sldId id="983" r:id="rId3"/>
    <p:sldId id="931" r:id="rId4"/>
    <p:sldId id="969" r:id="rId5"/>
    <p:sldId id="970" r:id="rId6"/>
    <p:sldId id="971" r:id="rId7"/>
    <p:sldId id="932" r:id="rId8"/>
    <p:sldId id="972" r:id="rId9"/>
    <p:sldId id="935" r:id="rId10"/>
    <p:sldId id="937" r:id="rId11"/>
    <p:sldId id="938" r:id="rId12"/>
    <p:sldId id="984" r:id="rId13"/>
    <p:sldId id="996" r:id="rId14"/>
    <p:sldId id="973" r:id="rId15"/>
    <p:sldId id="933" r:id="rId16"/>
    <p:sldId id="939" r:id="rId17"/>
    <p:sldId id="957" r:id="rId18"/>
    <p:sldId id="940" r:id="rId19"/>
    <p:sldId id="993" r:id="rId20"/>
    <p:sldId id="986" r:id="rId21"/>
    <p:sldId id="941" r:id="rId22"/>
    <p:sldId id="942" r:id="rId23"/>
    <p:sldId id="943" r:id="rId24"/>
    <p:sldId id="975" r:id="rId25"/>
    <p:sldId id="958" r:id="rId26"/>
    <p:sldId id="959" r:id="rId27"/>
    <p:sldId id="960" r:id="rId28"/>
    <p:sldId id="961" r:id="rId29"/>
    <p:sldId id="963" r:id="rId30"/>
    <p:sldId id="989" r:id="rId31"/>
    <p:sldId id="962" r:id="rId32"/>
    <p:sldId id="944" r:id="rId33"/>
    <p:sldId id="945" r:id="rId34"/>
    <p:sldId id="946" r:id="rId35"/>
    <p:sldId id="947" r:id="rId36"/>
    <p:sldId id="948" r:id="rId37"/>
    <p:sldId id="949" r:id="rId38"/>
    <p:sldId id="978" r:id="rId39"/>
    <p:sldId id="979" r:id="rId40"/>
    <p:sldId id="976" r:id="rId41"/>
    <p:sldId id="998" r:id="rId42"/>
    <p:sldId id="997" r:id="rId43"/>
    <p:sldId id="977" r:id="rId44"/>
    <p:sldId id="953" r:id="rId45"/>
    <p:sldId id="964" r:id="rId46"/>
    <p:sldId id="965" r:id="rId47"/>
    <p:sldId id="966" r:id="rId48"/>
    <p:sldId id="967" r:id="rId49"/>
    <p:sldId id="954" r:id="rId50"/>
    <p:sldId id="955" r:id="rId51"/>
    <p:sldId id="956" r:id="rId52"/>
    <p:sldId id="990" r:id="rId53"/>
    <p:sldId id="950" r:id="rId54"/>
    <p:sldId id="952" r:id="rId55"/>
    <p:sldId id="980" r:id="rId56"/>
    <p:sldId id="981" r:id="rId57"/>
    <p:sldId id="982" r:id="rId58"/>
    <p:sldId id="994" r:id="rId59"/>
  </p:sldIdLst>
  <p:sldSz cx="9144000" cy="6858000" type="screen4x3"/>
  <p:notesSz cx="6797675" cy="9926638"/>
  <p:defaultTextStyle>
    <a:defPPr>
      <a:defRPr lang="it-IT"/>
    </a:defPPr>
    <a:lvl1pPr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AFF"/>
    <a:srgbClr val="FFFFCC"/>
    <a:srgbClr val="0000FF"/>
    <a:srgbClr val="E2E2E2"/>
    <a:srgbClr val="808000"/>
    <a:srgbClr val="33CC33"/>
    <a:srgbClr val="CC3300"/>
    <a:srgbClr val="FF3300"/>
    <a:srgbClr val="FFFF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24" autoAdjust="0"/>
    <p:restoredTop sz="94656" autoAdjust="0"/>
  </p:normalViewPr>
  <p:slideViewPr>
    <p:cSldViewPr snapToGrid="0">
      <p:cViewPr varScale="1">
        <p:scale>
          <a:sx n="145" d="100"/>
          <a:sy n="145" d="100"/>
        </p:scale>
        <p:origin x="176" y="4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notesMaster" Target="notesMasters/notesMaster1.xml"/><Relationship Id="rId61" Type="http://schemas.openxmlformats.org/officeDocument/2006/relationships/handoutMaster" Target="handoutMasters/handoutMaster1.xml"/><Relationship Id="rId62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>
            <a:lvl1pPr algn="l" defTabSz="955675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>
            <a:lvl1pPr algn="r" defTabSz="955675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83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b" anchorCtr="0" compatLnSpc="1">
            <a:prstTxWarp prst="textNoShape">
              <a:avLst/>
            </a:prstTxWarp>
          </a:bodyPr>
          <a:lstStyle>
            <a:lvl1pPr algn="l" defTabSz="955675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83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b" anchorCtr="0" compatLnSpc="1">
            <a:prstTxWarp prst="textNoShape">
              <a:avLst/>
            </a:prstTxWarp>
          </a:bodyPr>
          <a:lstStyle>
            <a:lvl1pPr algn="r" defTabSz="955675">
              <a:defRPr sz="1300"/>
            </a:lvl1pPr>
          </a:lstStyle>
          <a:p>
            <a:pPr>
              <a:defRPr/>
            </a:pPr>
            <a:fld id="{EAD16F55-D467-4713-ACDA-09A4334A23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3770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>
            <a:lvl1pPr algn="l" defTabSz="95567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>
            <a:lvl1pPr algn="r" defTabSz="95567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 smtClean="0"/>
              <a:t>Fare clic per modificare gli stili del testo dello schema</a:t>
            </a:r>
          </a:p>
          <a:p>
            <a:pPr lvl="1"/>
            <a:r>
              <a:rPr lang="it-IT" noProof="0" smtClean="0"/>
              <a:t>Secondo livello</a:t>
            </a:r>
          </a:p>
          <a:p>
            <a:pPr lvl="2"/>
            <a:r>
              <a:rPr lang="it-IT" noProof="0" smtClean="0"/>
              <a:t>Terzo livello</a:t>
            </a:r>
          </a:p>
          <a:p>
            <a:pPr lvl="3"/>
            <a:r>
              <a:rPr lang="it-IT" noProof="0" smtClean="0"/>
              <a:t>Quarto livello</a:t>
            </a:r>
          </a:p>
          <a:p>
            <a:pPr lvl="4"/>
            <a:r>
              <a:rPr lang="it-IT" noProof="0" smtClean="0"/>
              <a:t>Quinto livello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b" anchorCtr="0" compatLnSpc="1">
            <a:prstTxWarp prst="textNoShape">
              <a:avLst/>
            </a:prstTxWarp>
          </a:bodyPr>
          <a:lstStyle>
            <a:lvl1pPr algn="l" defTabSz="95567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b" anchorCtr="0" compatLnSpc="1">
            <a:prstTxWarp prst="textNoShape">
              <a:avLst/>
            </a:prstTxWarp>
          </a:bodyPr>
          <a:lstStyle>
            <a:lvl1pPr algn="r" defTabSz="95567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F7388A8D-B2A2-42A7-9525-3F9BAB5DD06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55148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6884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8750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937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3489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3810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0060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7072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1975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1078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0990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2495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528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2063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99495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9888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7772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0726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75521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82896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86020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79437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60290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3363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56498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87026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90147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47809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43155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32584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56964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98569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79284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11286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77106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47018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81779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69914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9452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27516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06453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58179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81118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12221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60228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45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8967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46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40237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47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052756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48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951336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49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589521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50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558890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51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026975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52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222818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53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29444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54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845851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55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21643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56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07739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57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79754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388A8D-B2A2-42A7-9525-3F9BAB5DD068}" type="slidenum">
              <a:rPr lang="it-IT" smtClean="0"/>
              <a:pPr>
                <a:defRPr/>
              </a:pPr>
              <a:t>58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6395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BBE1-2DCE-B640-AF43-4EE2598F7532}" type="datetime1">
              <a:rPr lang="en-US" smtClean="0"/>
              <a:t>11/30/16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58E22A-3D22-4E4A-86E2-31DC673ED979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0384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6893A-98EB-5A45-B4A1-5778DE55AA4D}" type="datetime1">
              <a:rPr lang="en-US" smtClean="0"/>
              <a:t>11/30/16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15F41-BD4C-4A04-AEC7-9D77D080A7DC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8375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CE9-5D6C-4049-9EA2-65CD4CFBF184}" type="datetime1">
              <a:rPr lang="en-US" smtClean="0"/>
              <a:t>11/30/16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D53B8F-86FD-4A9E-AA99-4C738D1CDF72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9941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61CC7-360D-1C4C-9636-FB51D055333C}" type="datetime1">
              <a:rPr lang="en-US" smtClean="0"/>
              <a:t>11/30/16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C6E81D-6C13-450A-9C32-1C749CEC0020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0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DD52E-50C2-244A-BA6E-50C1B038EE37}" type="datetime1">
              <a:rPr lang="en-US" smtClean="0"/>
              <a:t>11/30/16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20BB0D-18C9-4027-BBA8-7C810ED0F7C7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2248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2ABC8-66F8-5542-83F7-0711457B38EF}" type="datetime1">
              <a:rPr lang="en-US" smtClean="0"/>
              <a:t>11/30/16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43ACF-1A3F-4B7E-847B-B0E1C600CB26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646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8C54-8B45-D745-8097-8A2053249858}" type="datetime1">
              <a:rPr lang="en-US" smtClean="0"/>
              <a:t>11/30/16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6A7F17-7ACA-4096-AF00-DBCE4D4CD8CA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6801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2C89-4518-CA44-853B-75F0C59167BB}" type="datetime1">
              <a:rPr lang="en-US" smtClean="0"/>
              <a:t>11/30/16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507171-AC54-49B8-A361-306B8D68BCAD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6532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1C77D-EBE7-EB44-9E81-4E9A229EBE93}" type="datetime1">
              <a:rPr lang="en-US" smtClean="0"/>
              <a:t>11/30/16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33F4FE-08B7-4137-B3F3-8063BE08A42D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6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30A5-BEBC-CB44-8AB0-F81EE6A744CB}" type="datetime1">
              <a:rPr lang="en-US" smtClean="0"/>
              <a:t>11/30/16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150097-702B-4A69-B568-C0175088871B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071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899A8-B4F1-7A42-9F79-70B60BBDD928}" type="datetime1">
              <a:rPr lang="en-US" smtClean="0"/>
              <a:t>11/30/16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2933B-3D19-429D-B181-03AB3F38902E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950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3C553-00C0-1E48-B426-F1F47191AE71}" type="datetime1">
              <a:rPr lang="en-US" smtClean="0"/>
              <a:t>11/30/16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CF66FCA-CA8F-445B-B878-DCD2A4992256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312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it-IT" smtClean="0"/>
              <a:t>Informatica A </a:t>
            </a:r>
            <a:endParaRPr lang="it-IT" dirty="0" smtClean="0"/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dirty="0" err="1" smtClean="0"/>
              <a:t>Ricorsione</a:t>
            </a:r>
            <a:endParaRPr lang="it-IT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Sommario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 smtClean="0"/>
              <a:t>Definizioni basate sull'induzione</a:t>
            </a:r>
          </a:p>
          <a:p>
            <a:endParaRPr lang="it-IT" dirty="0" smtClean="0"/>
          </a:p>
          <a:p>
            <a:r>
              <a:rPr lang="it-IT" dirty="0" smtClean="0"/>
              <a:t>L'iterazione e la </a:t>
            </a:r>
            <a:r>
              <a:rPr lang="it-IT" dirty="0" err="1" smtClean="0"/>
              <a:t>ricorsione</a:t>
            </a:r>
            <a:endParaRPr lang="it-IT" dirty="0" smtClean="0"/>
          </a:p>
          <a:p>
            <a:endParaRPr lang="it-IT" dirty="0" smtClean="0"/>
          </a:p>
          <a:p>
            <a:r>
              <a:rPr lang="it-IT" dirty="0" smtClean="0"/>
              <a:t>Che cosa significa "ricorsivo"</a:t>
            </a:r>
          </a:p>
          <a:p>
            <a:endParaRPr lang="it-IT" dirty="0" smtClean="0"/>
          </a:p>
          <a:p>
            <a:r>
              <a:rPr lang="it-IT" dirty="0" smtClean="0"/>
              <a:t>Come si realizza una funzione ricorsiva</a:t>
            </a:r>
          </a:p>
          <a:p>
            <a:endParaRPr lang="it-IT" dirty="0" smtClean="0"/>
          </a:p>
          <a:p>
            <a:r>
              <a:rPr lang="it-IT" dirty="0" smtClean="0"/>
              <a:t>Come si esegue una funzione ricorsiva</a:t>
            </a:r>
          </a:p>
          <a:p>
            <a:endParaRPr lang="it-IT" dirty="0" smtClean="0"/>
          </a:p>
          <a:p>
            <a:r>
              <a:rPr lang="it-IT" dirty="0" smtClean="0"/>
              <a:t>Esempi</a:t>
            </a:r>
          </a:p>
          <a:p>
            <a:endParaRPr lang="it-IT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1E88-C18C-4AA8-919B-F448CFA31F27}" type="slidenum">
              <a:rPr lang="it-IT" smtClean="0"/>
              <a:pPr/>
              <a:t>2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Definizioni induttive</a:t>
            </a:r>
            <a:endParaRPr lang="it-IT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 smtClean="0"/>
              <a:t>Sono comuni in matematica</a:t>
            </a:r>
          </a:p>
          <a:p>
            <a:endParaRPr lang="it-IT" dirty="0" smtClean="0"/>
          </a:p>
          <a:p>
            <a:r>
              <a:rPr lang="it-IT" dirty="0" smtClean="0"/>
              <a:t>Esempio: il fattoriale di un naturale </a:t>
            </a:r>
            <a:r>
              <a:rPr lang="it-IT" dirty="0" err="1" smtClean="0"/>
              <a:t>N</a:t>
            </a:r>
            <a:r>
              <a:rPr lang="it-IT" dirty="0" smtClean="0"/>
              <a:t> (</a:t>
            </a:r>
            <a:r>
              <a:rPr lang="it-IT" dirty="0" err="1" smtClean="0"/>
              <a:t>N</a:t>
            </a:r>
            <a:r>
              <a:rPr lang="it-IT" dirty="0" smtClean="0"/>
              <a:t>!)</a:t>
            </a:r>
          </a:p>
          <a:p>
            <a:pPr lvl="1"/>
            <a:r>
              <a:rPr lang="it-IT" dirty="0"/>
              <a:t>S</a:t>
            </a:r>
            <a:r>
              <a:rPr lang="it-IT" dirty="0" smtClean="0"/>
              <a:t>e </a:t>
            </a:r>
            <a:r>
              <a:rPr lang="it-IT" dirty="0" err="1" smtClean="0"/>
              <a:t>N</a:t>
            </a:r>
            <a:r>
              <a:rPr lang="it-IT" dirty="0" smtClean="0"/>
              <a:t>=0 il fattoriale </a:t>
            </a:r>
            <a:r>
              <a:rPr lang="it-IT" dirty="0" err="1" smtClean="0"/>
              <a:t>N</a:t>
            </a:r>
            <a:r>
              <a:rPr lang="it-IT" dirty="0" smtClean="0"/>
              <a:t>! è 1</a:t>
            </a:r>
          </a:p>
          <a:p>
            <a:pPr lvl="1"/>
            <a:r>
              <a:rPr lang="it-IT" dirty="0"/>
              <a:t>S</a:t>
            </a:r>
            <a:r>
              <a:rPr lang="it-IT" dirty="0" smtClean="0"/>
              <a:t>e </a:t>
            </a:r>
            <a:r>
              <a:rPr lang="it-IT" dirty="0" err="1" smtClean="0"/>
              <a:t>N</a:t>
            </a:r>
            <a:r>
              <a:rPr lang="it-IT" dirty="0" smtClean="0"/>
              <a:t>&gt;0 il fattoriale </a:t>
            </a:r>
            <a:r>
              <a:rPr lang="it-IT" dirty="0" err="1" smtClean="0"/>
              <a:t>N</a:t>
            </a:r>
            <a:r>
              <a:rPr lang="it-IT" dirty="0" smtClean="0"/>
              <a:t>! è </a:t>
            </a:r>
            <a:r>
              <a:rPr lang="it-IT" dirty="0" err="1" smtClean="0"/>
              <a:t>N</a:t>
            </a:r>
            <a:r>
              <a:rPr lang="it-IT" dirty="0" smtClean="0"/>
              <a:t> * (N-1)!</a:t>
            </a:r>
          </a:p>
          <a:p>
            <a:endParaRPr lang="it-IT" dirty="0" smtClean="0"/>
          </a:p>
          <a:p>
            <a:r>
              <a:rPr lang="it-IT" dirty="0" smtClean="0"/>
              <a:t>Esempio: numeri pari</a:t>
            </a:r>
          </a:p>
          <a:p>
            <a:pPr lvl="1"/>
            <a:r>
              <a:rPr lang="it-IT" dirty="0" smtClean="0"/>
              <a:t> 0 è un numero pari</a:t>
            </a:r>
          </a:p>
          <a:p>
            <a:pPr lvl="1"/>
            <a:r>
              <a:rPr lang="it-IT" dirty="0" smtClean="0"/>
              <a:t> Se </a:t>
            </a:r>
            <a:r>
              <a:rPr lang="it-IT" dirty="0" err="1" smtClean="0"/>
              <a:t>n</a:t>
            </a:r>
            <a:r>
              <a:rPr lang="it-IT" dirty="0" smtClean="0"/>
              <a:t> è un numero pari anche n+2 è un numero pari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99E8-7683-4A5B-9899-19E344740B3A}" type="slidenum">
              <a:rPr lang="it-IT" smtClean="0"/>
              <a:pPr/>
              <a:t>3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Dimostrazioni induttive</a:t>
            </a:r>
            <a:endParaRPr lang="it-IT" dirty="0" smtClean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 smtClean="0"/>
              <a:t>Dimostriamo che (2n)</a:t>
            </a:r>
            <a:r>
              <a:rPr lang="it-IT" baseline="30000" dirty="0" smtClean="0"/>
              <a:t>2</a:t>
            </a:r>
            <a:r>
              <a:rPr lang="it-IT" dirty="0" smtClean="0"/>
              <a:t> = 4n</a:t>
            </a:r>
            <a:r>
              <a:rPr lang="it-IT" baseline="30000" dirty="0" smtClean="0"/>
              <a:t>2</a:t>
            </a:r>
          </a:p>
          <a:p>
            <a:pPr lvl="1"/>
            <a:r>
              <a:rPr lang="it-IT" dirty="0"/>
              <a:t>D</a:t>
            </a:r>
            <a:r>
              <a:rPr lang="it-IT" dirty="0" smtClean="0"/>
              <a:t>istributività del quadrato rispetto alla moltiplicazione</a:t>
            </a:r>
            <a:endParaRPr lang="it-IT" dirty="0"/>
          </a:p>
          <a:p>
            <a:pPr marL="514350" indent="-514350">
              <a:buFont typeface="+mj-lt"/>
              <a:buAutoNum type="arabicPeriod"/>
            </a:pPr>
            <a:endParaRPr lang="it-IT" dirty="0"/>
          </a:p>
          <a:p>
            <a:pPr marL="514350" indent="-514350">
              <a:buFont typeface="+mj-lt"/>
              <a:buAutoNum type="arabicPeriod"/>
            </a:pPr>
            <a:r>
              <a:rPr lang="it-IT" dirty="0" smtClean="0"/>
              <a:t>Se </a:t>
            </a:r>
            <a:r>
              <a:rPr lang="it-IT" dirty="0" err="1" smtClean="0"/>
              <a:t>n</a:t>
            </a:r>
            <a:r>
              <a:rPr lang="it-IT" dirty="0" smtClean="0"/>
              <a:t>=1 : vero (per verifica diretta)</a:t>
            </a:r>
          </a:p>
          <a:p>
            <a:pPr marL="514350" indent="-514350">
              <a:buFont typeface="+mj-lt"/>
              <a:buAutoNum type="arabicPeriod"/>
            </a:pPr>
            <a:r>
              <a:rPr lang="it-IT" i="1" dirty="0">
                <a:solidFill>
                  <a:srgbClr val="001AFF"/>
                </a:solidFill>
              </a:rPr>
              <a:t>S</a:t>
            </a:r>
            <a:r>
              <a:rPr lang="it-IT" i="1" dirty="0" smtClean="0">
                <a:solidFill>
                  <a:srgbClr val="001AFF"/>
                </a:solidFill>
              </a:rPr>
              <a:t>uppongo</a:t>
            </a:r>
            <a:r>
              <a:rPr lang="it-IT" dirty="0" smtClean="0">
                <a:solidFill>
                  <a:srgbClr val="001AFF"/>
                </a:solidFill>
              </a:rPr>
              <a:t> </a:t>
            </a:r>
            <a:r>
              <a:rPr lang="it-IT" dirty="0" smtClean="0"/>
              <a:t>sia vero per </a:t>
            </a:r>
            <a:r>
              <a:rPr lang="it-IT" dirty="0" err="1" smtClean="0"/>
              <a:t>n</a:t>
            </a:r>
            <a:r>
              <a:rPr lang="it-IT" dirty="0" smtClean="0"/>
              <a:t>=k </a:t>
            </a:r>
            <a:r>
              <a:rPr lang="it-IT" dirty="0" smtClean="0"/>
              <a:t>(ipotesi di induzione) e </a:t>
            </a:r>
            <a:r>
              <a:rPr lang="it-IT" i="1" dirty="0" smtClean="0">
                <a:solidFill>
                  <a:srgbClr val="001AFF"/>
                </a:solidFill>
              </a:rPr>
              <a:t>dimostro</a:t>
            </a:r>
            <a:r>
              <a:rPr lang="it-IT" dirty="0" smtClean="0">
                <a:solidFill>
                  <a:srgbClr val="001AFF"/>
                </a:solidFill>
              </a:rPr>
              <a:t> </a:t>
            </a:r>
            <a:r>
              <a:rPr lang="it-IT" dirty="0" smtClean="0"/>
              <a:t>l’uguaglianza di cui sopra, per </a:t>
            </a:r>
            <a:r>
              <a:rPr lang="it-IT" dirty="0" err="1" smtClean="0"/>
              <a:t>n</a:t>
            </a:r>
            <a:r>
              <a:rPr lang="it-IT" dirty="0" smtClean="0"/>
              <a:t>=k+1:</a:t>
            </a:r>
          </a:p>
          <a:p>
            <a:pPr marL="514350" indent="-514350">
              <a:buFont typeface="+mj-lt"/>
              <a:buAutoNum type="arabicPeriod"/>
            </a:pPr>
            <a:endParaRPr lang="it-IT" dirty="0"/>
          </a:p>
          <a:p>
            <a:pPr marL="0" indent="0">
              <a:buNone/>
            </a:pPr>
            <a:r>
              <a:rPr lang="it-IT" dirty="0" smtClean="0"/>
              <a:t>	(2n)</a:t>
            </a:r>
            <a:r>
              <a:rPr lang="it-IT" baseline="30000" dirty="0" smtClean="0"/>
              <a:t>2</a:t>
            </a:r>
            <a:r>
              <a:rPr lang="it-IT" dirty="0" smtClean="0"/>
              <a:t> = (2(k+1))</a:t>
            </a:r>
            <a:r>
              <a:rPr lang="it-IT" baseline="30000" dirty="0" smtClean="0"/>
              <a:t>2</a:t>
            </a:r>
            <a:r>
              <a:rPr lang="it-IT" dirty="0" smtClean="0"/>
              <a:t> = (2k+2)</a:t>
            </a:r>
            <a:r>
              <a:rPr lang="it-IT" baseline="30000" dirty="0" smtClean="0"/>
              <a:t>2</a:t>
            </a:r>
            <a:r>
              <a:rPr lang="it-IT" dirty="0" smtClean="0"/>
              <a:t> = (2k)</a:t>
            </a:r>
            <a:r>
              <a:rPr lang="it-IT" baseline="30000" dirty="0" smtClean="0"/>
              <a:t>2</a:t>
            </a:r>
            <a:r>
              <a:rPr lang="it-IT" dirty="0" smtClean="0"/>
              <a:t> + 8k + 4 = </a:t>
            </a:r>
          </a:p>
          <a:p>
            <a:pPr marL="0" indent="0">
              <a:buNone/>
            </a:pPr>
            <a:r>
              <a:rPr lang="it-IT" dirty="0" smtClean="0"/>
              <a:t>	(per ipotesi di induzione) 4k</a:t>
            </a:r>
            <a:r>
              <a:rPr lang="it-IT" baseline="30000" dirty="0" smtClean="0"/>
              <a:t>2</a:t>
            </a:r>
            <a:r>
              <a:rPr lang="it-IT" dirty="0" smtClean="0"/>
              <a:t> + 8k + 4 =	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smtClean="0"/>
              <a:t>4(k</a:t>
            </a:r>
            <a:r>
              <a:rPr lang="it-IT" baseline="30000" dirty="0" smtClean="0"/>
              <a:t>2</a:t>
            </a:r>
            <a:r>
              <a:rPr lang="it-IT" dirty="0" smtClean="0"/>
              <a:t> + 2k + 1) = 4(k+1)</a:t>
            </a:r>
            <a:r>
              <a:rPr lang="it-IT" baseline="30000" dirty="0" smtClean="0"/>
              <a:t>2</a:t>
            </a:r>
            <a:r>
              <a:rPr lang="it-IT" dirty="0" smtClean="0"/>
              <a:t> = 4n</a:t>
            </a:r>
            <a:r>
              <a:rPr lang="it-IT" baseline="30000" dirty="0" smtClean="0"/>
              <a:t>2	</a:t>
            </a:r>
            <a:r>
              <a:rPr lang="it-IT" dirty="0" smtClean="0"/>
              <a:t>	</a:t>
            </a:r>
          </a:p>
          <a:p>
            <a:endParaRPr lang="it-IT" dirty="0" smtClean="0"/>
          </a:p>
          <a:p>
            <a:r>
              <a:rPr lang="it-IT" dirty="0" smtClean="0"/>
              <a:t>(1) è il caso base, (2) è il passo induttivo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DDE93-D919-4D8D-B4FA-0B8187B9BFE7}" type="slidenum">
              <a:rPr lang="it-IT" smtClean="0"/>
              <a:pPr/>
              <a:t>4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Iterazione e ricorsione</a:t>
            </a:r>
            <a:endParaRPr lang="it-IT" dirty="0" smtClean="0"/>
          </a:p>
        </p:txBody>
      </p:sp>
      <p:sp>
        <p:nvSpPr>
          <p:cNvPr id="6148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 smtClean="0"/>
              <a:t>Sono i due concetti informatici che nascono dal concetto di induzione</a:t>
            </a:r>
          </a:p>
          <a:p>
            <a:endParaRPr lang="it-IT" dirty="0" smtClean="0"/>
          </a:p>
          <a:p>
            <a:r>
              <a:rPr lang="it-IT" dirty="0" smtClean="0"/>
              <a:t>L'iterazione si realizza mediante la tecnica del ciclo</a:t>
            </a:r>
          </a:p>
          <a:p>
            <a:endParaRPr lang="it-IT" dirty="0" smtClean="0"/>
          </a:p>
          <a:p>
            <a:r>
              <a:rPr lang="it-IT" dirty="0" smtClean="0"/>
              <a:t>Per il calcolo del fattoriale:</a:t>
            </a:r>
          </a:p>
          <a:p>
            <a:pPr lvl="1"/>
            <a:r>
              <a:rPr lang="it-IT" dirty="0" smtClean="0"/>
              <a:t>0! = 1</a:t>
            </a:r>
          </a:p>
          <a:p>
            <a:pPr lvl="1"/>
            <a:r>
              <a:rPr lang="it-IT" dirty="0" err="1" smtClean="0"/>
              <a:t>n</a:t>
            </a:r>
            <a:r>
              <a:rPr lang="it-IT" dirty="0" smtClean="0"/>
              <a:t>! = </a:t>
            </a:r>
            <a:r>
              <a:rPr lang="it-IT" dirty="0" err="1" smtClean="0"/>
              <a:t>n</a:t>
            </a:r>
            <a:r>
              <a:rPr lang="it-IT" dirty="0" smtClean="0"/>
              <a:t> (</a:t>
            </a:r>
            <a:r>
              <a:rPr lang="it-IT" dirty="0" err="1" smtClean="0"/>
              <a:t>n</a:t>
            </a:r>
            <a:r>
              <a:rPr lang="it-IT" dirty="0" smtClean="0"/>
              <a:t> - 1)(</a:t>
            </a:r>
            <a:r>
              <a:rPr lang="it-IT" dirty="0" err="1" smtClean="0"/>
              <a:t>n</a:t>
            </a:r>
            <a:r>
              <a:rPr lang="it-IT" dirty="0" smtClean="0"/>
              <a:t> - 2)…. 1 (realizzo un ciclo)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2D6D-3BF8-471D-AAF8-33BB070A58A3}" type="slidenum">
              <a:rPr lang="it-IT" smtClean="0"/>
              <a:pPr/>
              <a:t>5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Fattoriale – versione iterativa</a:t>
            </a:r>
            <a:endParaRPr lang="it-IT" dirty="0" smtClean="0"/>
          </a:p>
        </p:txBody>
      </p:sp>
      <p:sp>
        <p:nvSpPr>
          <p:cNvPr id="7172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fattoriale (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) {</a:t>
            </a:r>
          </a:p>
          <a:p>
            <a:pPr marL="0" indent="0">
              <a:buNone/>
            </a:pP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	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f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= 1;</a:t>
            </a:r>
          </a:p>
          <a:p>
            <a:pPr marL="0" indent="0">
              <a:buNone/>
            </a:pP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while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&gt; 0) {</a:t>
            </a:r>
          </a:p>
          <a:p>
            <a:pPr marL="0" indent="0">
              <a:buNone/>
            </a:pP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f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f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* 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pPr marL="0" indent="0">
              <a:buNone/>
            </a:pP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--;</a:t>
            </a:r>
            <a:endParaRPr lang="it-IT" sz="2400" dirty="0">
              <a:latin typeface="Courier" charset="0"/>
              <a:ea typeface="Courier" charset="0"/>
              <a:cs typeface="Courier" charset="0"/>
            </a:endParaRPr>
          </a:p>
          <a:p>
            <a:pPr marL="0" indent="0">
              <a:buNone/>
            </a:pP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	}</a:t>
            </a:r>
            <a:endParaRPr lang="it-IT" sz="2400" dirty="0" smtClean="0">
              <a:latin typeface="Courier" charset="0"/>
              <a:ea typeface="Courier" charset="0"/>
              <a:cs typeface="Courier" charset="0"/>
            </a:endParaRPr>
          </a:p>
          <a:p>
            <a:pPr marL="0" indent="0">
              <a:buNone/>
            </a:pP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f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pPr marL="0" indent="0">
              <a:buNone/>
            </a:pP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  <a:p>
            <a:endParaRPr lang="it-IT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5FD0-E6CC-4E98-8C73-345A9DA58A2F}" type="slidenum">
              <a:rPr lang="it-IT" smtClean="0"/>
              <a:pPr/>
              <a:t>6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Lo "spirito" del metodo ricorsivo</a:t>
            </a:r>
            <a:endParaRPr lang="it-IT" dirty="0" smtClean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 smtClean="0"/>
              <a:t>Esiste almeno un </a:t>
            </a:r>
            <a:r>
              <a:rPr lang="it-IT" i="1" dirty="0" smtClean="0">
                <a:solidFill>
                  <a:srgbClr val="001AFF"/>
                </a:solidFill>
              </a:rPr>
              <a:t>caso base </a:t>
            </a:r>
            <a:r>
              <a:rPr lang="it-IT" dirty="0" smtClean="0"/>
              <a:t>che rappresenta un sotto-problema di facile soluzione</a:t>
            </a:r>
          </a:p>
          <a:p>
            <a:pPr lvl="1"/>
            <a:r>
              <a:rPr lang="it-IT" dirty="0" smtClean="0"/>
              <a:t>Esempio: se </a:t>
            </a:r>
            <a:r>
              <a:rPr lang="it-IT" dirty="0" err="1" smtClean="0"/>
              <a:t>N</a:t>
            </a:r>
            <a:r>
              <a:rPr lang="it-IT" dirty="0" smtClean="0"/>
              <a:t>=0, so </a:t>
            </a:r>
            <a:r>
              <a:rPr lang="it-IT" dirty="0" err="1" smtClean="0"/>
              <a:t>N</a:t>
            </a:r>
            <a:r>
              <a:rPr lang="it-IT" dirty="0" smtClean="0"/>
              <a:t>! in modo "immediato" (vale 1)</a:t>
            </a:r>
          </a:p>
          <a:p>
            <a:endParaRPr lang="it-IT" dirty="0" smtClean="0"/>
          </a:p>
          <a:p>
            <a:r>
              <a:rPr lang="it-IT" dirty="0" smtClean="0"/>
              <a:t>Esiste almeno un </a:t>
            </a:r>
            <a:r>
              <a:rPr lang="it-IT" i="1" dirty="0" smtClean="0">
                <a:solidFill>
                  <a:srgbClr val="001AFF"/>
                </a:solidFill>
              </a:rPr>
              <a:t>passo induttivo </a:t>
            </a:r>
            <a:r>
              <a:rPr lang="it-IT" dirty="0" smtClean="0"/>
              <a:t>che (prima o poi) riconduce il problema generale a un caso base</a:t>
            </a:r>
          </a:p>
          <a:p>
            <a:pPr lvl="1"/>
            <a:r>
              <a:rPr lang="it-IT" dirty="0" smtClean="0"/>
              <a:t>Consiste nell'esprimere la soluzione al problema (su dati di una dimensione generica </a:t>
            </a:r>
            <a:r>
              <a:rPr lang="it-IT" i="1" dirty="0" err="1" smtClean="0"/>
              <a:t>n</a:t>
            </a:r>
            <a:r>
              <a:rPr lang="it-IT" dirty="0" smtClean="0"/>
              <a:t>) in termini di operazioni semplici e della soluzione allo stesso problema su dati di dimensione </a:t>
            </a:r>
            <a:r>
              <a:rPr lang="it-IT" i="1" dirty="0" smtClean="0"/>
              <a:t>n-1</a:t>
            </a:r>
            <a:r>
              <a:rPr lang="it-IT" dirty="0" smtClean="0"/>
              <a:t> (che, per tali dati, si suppone risolto per ipotesi)</a:t>
            </a:r>
          </a:p>
          <a:p>
            <a:pPr lvl="2"/>
            <a:r>
              <a:rPr lang="it-IT" dirty="0" smtClean="0"/>
              <a:t>Esempio: per </a:t>
            </a:r>
            <a:r>
              <a:rPr lang="it-IT" dirty="0" err="1"/>
              <a:t>n</a:t>
            </a:r>
            <a:r>
              <a:rPr lang="it-IT" dirty="0" smtClean="0"/>
              <a:t> generico esprimo </a:t>
            </a:r>
            <a:r>
              <a:rPr lang="it-IT" dirty="0" err="1"/>
              <a:t>n</a:t>
            </a:r>
            <a:r>
              <a:rPr lang="it-IT" dirty="0" smtClean="0"/>
              <a:t>! in termini di </a:t>
            </a:r>
            <a:r>
              <a:rPr lang="it-IT" dirty="0" err="1"/>
              <a:t>n</a:t>
            </a:r>
            <a:r>
              <a:rPr lang="it-IT" dirty="0" smtClean="0"/>
              <a:t> (è un dato direttamente accessibile) moltiplicato per (è una operazione semplice e nota) il valore di (n-1)! (che non conosco ma so calcolare per ipotesi induttiva)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334CB-608B-4361-8F49-1DCD3DDAE62D}" type="slidenum">
              <a:rPr lang="it-IT" smtClean="0"/>
              <a:pPr/>
              <a:t>7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Fattoriale – versione ricorsiva</a:t>
            </a:r>
            <a:endParaRPr lang="it-IT" dirty="0" smtClean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it-IT" dirty="0" err="1" smtClean="0"/>
              <a:t>n</a:t>
            </a:r>
            <a:r>
              <a:rPr lang="it-IT" dirty="0" smtClean="0"/>
              <a:t>! = 1				se		</a:t>
            </a:r>
            <a:r>
              <a:rPr lang="it-IT" dirty="0" err="1" smtClean="0"/>
              <a:t>n</a:t>
            </a:r>
            <a:r>
              <a:rPr lang="it-IT" dirty="0" smtClean="0"/>
              <a:t> = 0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 err="1" smtClean="0"/>
              <a:t>n</a:t>
            </a:r>
            <a:r>
              <a:rPr lang="it-IT" dirty="0" smtClean="0"/>
              <a:t>! = </a:t>
            </a:r>
            <a:r>
              <a:rPr lang="it-IT" dirty="0" err="1" smtClean="0"/>
              <a:t>n</a:t>
            </a:r>
            <a:r>
              <a:rPr lang="it-IT" dirty="0" smtClean="0"/>
              <a:t> * (</a:t>
            </a:r>
            <a:r>
              <a:rPr lang="it-IT" dirty="0" err="1" smtClean="0"/>
              <a:t>n</a:t>
            </a:r>
            <a:r>
              <a:rPr lang="it-IT" dirty="0" smtClean="0"/>
              <a:t> – 1)!	se		</a:t>
            </a:r>
            <a:r>
              <a:rPr lang="it-IT" dirty="0" err="1" smtClean="0"/>
              <a:t>n</a:t>
            </a:r>
            <a:r>
              <a:rPr lang="it-IT" dirty="0" smtClean="0"/>
              <a:t> &gt; 0</a:t>
            </a:r>
          </a:p>
          <a:p>
            <a:endParaRPr lang="it-IT" dirty="0" smtClean="0"/>
          </a:p>
          <a:p>
            <a:r>
              <a:rPr lang="it-IT" dirty="0" smtClean="0"/>
              <a:t>Riduce il calcolo a un calcolo più semplice</a:t>
            </a:r>
          </a:p>
          <a:p>
            <a:endParaRPr lang="it-IT" dirty="0" smtClean="0"/>
          </a:p>
          <a:p>
            <a:r>
              <a:rPr lang="it-IT" dirty="0" smtClean="0"/>
              <a:t>Ha senso perché si basa sempre sul fattoriale del numero più piccolo, che io conosco</a:t>
            </a:r>
          </a:p>
          <a:p>
            <a:endParaRPr lang="it-IT" dirty="0" smtClean="0"/>
          </a:p>
          <a:p>
            <a:r>
              <a:rPr lang="it-IT" dirty="0" smtClean="0"/>
              <a:t>Ha senso perché si arriva a un punto in cui non è più necessario riusare la definizione (2) e invece si usa la (1)</a:t>
            </a:r>
          </a:p>
          <a:p>
            <a:endParaRPr lang="it-IT" dirty="0" smtClean="0"/>
          </a:p>
          <a:p>
            <a:r>
              <a:rPr lang="it-IT" dirty="0" smtClean="0"/>
              <a:t>(1) è il caso base, (2) è il passo induttivo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E9FB7-2B9C-4A70-8C1C-4D2B8F755B09}" type="slidenum">
              <a:rPr lang="it-IT" smtClean="0"/>
              <a:pPr/>
              <a:t>8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Ricorsione nei sottoprogrammi</a:t>
            </a:r>
            <a:endParaRPr lang="it-IT" dirty="0" smtClean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 smtClean="0"/>
              <a:t>Dal latino re-</a:t>
            </a:r>
            <a:r>
              <a:rPr lang="it-IT" dirty="0" err="1" smtClean="0"/>
              <a:t>currere</a:t>
            </a:r>
            <a:endParaRPr lang="it-IT" dirty="0" smtClean="0"/>
          </a:p>
          <a:p>
            <a:pPr lvl="1"/>
            <a:r>
              <a:rPr lang="it-IT" dirty="0"/>
              <a:t>R</a:t>
            </a:r>
            <a:r>
              <a:rPr lang="it-IT" dirty="0" smtClean="0"/>
              <a:t>icorrere, fare ripetutamente la stessa azione</a:t>
            </a:r>
          </a:p>
          <a:p>
            <a:endParaRPr lang="it-IT" dirty="0" smtClean="0"/>
          </a:p>
          <a:p>
            <a:r>
              <a:rPr lang="it-IT" dirty="0" smtClean="0"/>
              <a:t>Un sottoprogramma </a:t>
            </a:r>
            <a:r>
              <a:rPr lang="it-IT" dirty="0" err="1" smtClean="0"/>
              <a:t>P</a:t>
            </a:r>
            <a:r>
              <a:rPr lang="it-IT" dirty="0" smtClean="0"/>
              <a:t> invoca se stesso</a:t>
            </a:r>
          </a:p>
          <a:p>
            <a:pPr lvl="1"/>
            <a:endParaRPr lang="it-IT" dirty="0" smtClean="0"/>
          </a:p>
          <a:p>
            <a:pPr lvl="1"/>
            <a:r>
              <a:rPr lang="it-IT" dirty="0" smtClean="0"/>
              <a:t>Direttamente</a:t>
            </a:r>
          </a:p>
          <a:p>
            <a:pPr lvl="2"/>
            <a:r>
              <a:rPr lang="it-IT" dirty="0" err="1" smtClean="0"/>
              <a:t>P</a:t>
            </a:r>
            <a:r>
              <a:rPr lang="it-IT" dirty="0" smtClean="0"/>
              <a:t> invoca </a:t>
            </a:r>
            <a:r>
              <a:rPr lang="it-IT" dirty="0" err="1" smtClean="0"/>
              <a:t>P</a:t>
            </a:r>
            <a:endParaRPr lang="it-IT" dirty="0" smtClean="0"/>
          </a:p>
          <a:p>
            <a:pPr lvl="1"/>
            <a:endParaRPr lang="it-IT" dirty="0" smtClean="0"/>
          </a:p>
          <a:p>
            <a:pPr lvl="1"/>
            <a:r>
              <a:rPr lang="it-IT" dirty="0" smtClean="0"/>
              <a:t>Indirettamente</a:t>
            </a:r>
          </a:p>
          <a:p>
            <a:pPr lvl="2"/>
            <a:r>
              <a:rPr lang="it-IT" dirty="0" err="1" smtClean="0"/>
              <a:t>P</a:t>
            </a:r>
            <a:r>
              <a:rPr lang="it-IT" dirty="0" smtClean="0"/>
              <a:t> invoca </a:t>
            </a:r>
            <a:r>
              <a:rPr lang="it-IT" dirty="0" err="1" smtClean="0"/>
              <a:t>Q</a:t>
            </a:r>
            <a:r>
              <a:rPr lang="it-IT" dirty="0" smtClean="0"/>
              <a:t> che invoca </a:t>
            </a:r>
            <a:r>
              <a:rPr lang="it-IT" dirty="0" err="1" smtClean="0"/>
              <a:t>P</a:t>
            </a:r>
            <a:endParaRPr lang="it-IT" dirty="0" smtClean="0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99D35-CE4D-4D30-974D-1FBB404EE1B9}" type="slidenum">
              <a:rPr lang="it-IT" smtClean="0"/>
              <a:pPr/>
              <a:t>9</a:t>
            </a:fld>
            <a:endParaRPr lang="it-IT"/>
          </a:p>
        </p:txBody>
      </p:sp>
      <p:grpSp>
        <p:nvGrpSpPr>
          <p:cNvPr id="7" name="Group 6"/>
          <p:cNvGrpSpPr/>
          <p:nvPr/>
        </p:nvGrpSpPr>
        <p:grpSpPr>
          <a:xfrm>
            <a:off x="4688967" y="4069553"/>
            <a:ext cx="652462" cy="638175"/>
            <a:chOff x="4057200" y="4086178"/>
            <a:chExt cx="652462" cy="638175"/>
          </a:xfrm>
        </p:grpSpPr>
        <p:sp>
          <p:nvSpPr>
            <p:cNvPr id="10245" name="Oval 4"/>
            <p:cNvSpPr>
              <a:spLocks noChangeArrowheads="1"/>
            </p:cNvSpPr>
            <p:nvPr/>
          </p:nvSpPr>
          <p:spPr bwMode="auto">
            <a:xfrm>
              <a:off x="4057200" y="4086178"/>
              <a:ext cx="652462" cy="63817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sz="2800" dirty="0"/>
                <a:t>P</a:t>
              </a:r>
            </a:p>
          </p:txBody>
        </p:sp>
        <p:cxnSp>
          <p:nvCxnSpPr>
            <p:cNvPr id="10248" name="AutoShape 7"/>
            <p:cNvCxnSpPr>
              <a:cxnSpLocks noChangeShapeType="1"/>
              <a:stCxn id="10245" idx="7"/>
              <a:endCxn id="10245" idx="5"/>
            </p:cNvCxnSpPr>
            <p:nvPr/>
          </p:nvCxnSpPr>
          <p:spPr bwMode="auto">
            <a:xfrm rot="16200000" flipH="1">
              <a:off x="4388481" y="4405265"/>
              <a:ext cx="451259" cy="1588"/>
            </a:xfrm>
            <a:prstGeom prst="curvedConnector5">
              <a:avLst>
                <a:gd name="adj1" fmla="val -50658"/>
                <a:gd name="adj2" fmla="val 49465428"/>
                <a:gd name="adj3" fmla="val 150658"/>
              </a:avLst>
            </a:prstGeom>
            <a:ln>
              <a:headEnd/>
              <a:tailEnd type="stealth" w="med" len="lg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5631247" y="5232265"/>
            <a:ext cx="2284716" cy="672661"/>
            <a:chOff x="5755938" y="4179637"/>
            <a:chExt cx="2284716" cy="672661"/>
          </a:xfrm>
        </p:grpSpPr>
        <p:sp>
          <p:nvSpPr>
            <p:cNvPr id="10246" name="Oval 5"/>
            <p:cNvSpPr>
              <a:spLocks noChangeArrowheads="1"/>
            </p:cNvSpPr>
            <p:nvPr/>
          </p:nvSpPr>
          <p:spPr bwMode="auto">
            <a:xfrm>
              <a:off x="5755938" y="4179637"/>
              <a:ext cx="652463" cy="63817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sz="2800" dirty="0"/>
                <a:t>P</a:t>
              </a:r>
            </a:p>
          </p:txBody>
        </p:sp>
        <p:sp>
          <p:nvSpPr>
            <p:cNvPr id="10247" name="Oval 6"/>
            <p:cNvSpPr>
              <a:spLocks noChangeArrowheads="1"/>
            </p:cNvSpPr>
            <p:nvPr/>
          </p:nvSpPr>
          <p:spPr bwMode="auto">
            <a:xfrm>
              <a:off x="7388192" y="4214123"/>
              <a:ext cx="652462" cy="63817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sz="2800" dirty="0"/>
                <a:t>Q</a:t>
              </a:r>
            </a:p>
          </p:txBody>
        </p:sp>
        <p:cxnSp>
          <p:nvCxnSpPr>
            <p:cNvPr id="10249" name="AutoShape 8"/>
            <p:cNvCxnSpPr>
              <a:cxnSpLocks noChangeShapeType="1"/>
              <a:stCxn id="10247" idx="1"/>
              <a:endCxn id="10246" idx="7"/>
            </p:cNvCxnSpPr>
            <p:nvPr/>
          </p:nvCxnSpPr>
          <p:spPr bwMode="auto">
            <a:xfrm rot="16200000" flipV="1">
              <a:off x="6881054" y="3704891"/>
              <a:ext cx="34486" cy="1170893"/>
            </a:xfrm>
            <a:prstGeom prst="curvedConnector3">
              <a:avLst>
                <a:gd name="adj1" fmla="val 1033880"/>
              </a:avLst>
            </a:prstGeom>
            <a:ln>
              <a:headEnd/>
              <a:tailEnd type="stealth" w="med" len="lg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0250" name="AutoShape 9"/>
            <p:cNvCxnSpPr>
              <a:cxnSpLocks noChangeShapeType="1"/>
              <a:stCxn id="10246" idx="5"/>
              <a:endCxn id="10247" idx="3"/>
            </p:cNvCxnSpPr>
            <p:nvPr/>
          </p:nvCxnSpPr>
          <p:spPr bwMode="auto">
            <a:xfrm rot="16200000" flipH="1">
              <a:off x="6881053" y="4156150"/>
              <a:ext cx="34486" cy="1170893"/>
            </a:xfrm>
            <a:prstGeom prst="curvedConnector3">
              <a:avLst>
                <a:gd name="adj1" fmla="val 1033880"/>
              </a:avLst>
            </a:prstGeom>
            <a:ln>
              <a:headEnd/>
              <a:tailEnd type="stealth" w="med" len="lg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Formulazione ricorsiva in C</a:t>
            </a:r>
            <a:endParaRPr lang="it-IT" dirty="0" smtClean="0"/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DE877-23E3-44BB-A1AF-1C733B544930}" type="slidenum">
              <a:rPr lang="it-IT" smtClean="0"/>
              <a:pPr/>
              <a:t>10</a:t>
            </a:fld>
            <a:endParaRPr lang="it-IT"/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664903" y="1578670"/>
            <a:ext cx="6455613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GB" sz="24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2400" dirty="0" err="1" smtClean="0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FattRic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GB" sz="24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n)</a:t>
            </a: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{</a:t>
            </a:r>
          </a:p>
          <a:p>
            <a:pPr algn="l"/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(n == 0) </a:t>
            </a:r>
            <a:endParaRPr lang="en-GB" sz="24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		return</a:t>
            </a: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1;</a:t>
            </a:r>
          </a:p>
          <a:p>
            <a:pPr algn="l"/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	else </a:t>
            </a:r>
          </a:p>
          <a:p>
            <a:pPr algn="l"/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		return</a:t>
            </a: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n * </a:t>
            </a:r>
            <a:r>
              <a:rPr lang="en-GB" sz="2400" dirty="0" err="1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FattRic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(n–1);</a:t>
            </a:r>
          </a:p>
          <a:p>
            <a:pPr algn="l"/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}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Simulazione del calcolo</a:t>
            </a:r>
            <a:br>
              <a:rPr lang="it-IT" dirty="0" smtClean="0"/>
            </a:br>
            <a:r>
              <a:rPr lang="it-IT" dirty="0" smtClean="0"/>
              <a:t>Invocazione di: </a:t>
            </a:r>
            <a:r>
              <a:rPr lang="it-IT" dirty="0" err="1" smtClean="0"/>
              <a:t>FattRic</a:t>
            </a:r>
            <a:r>
              <a:rPr lang="it-IT" dirty="0" smtClean="0"/>
              <a:t>(3)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ABDC4-8E82-4D6D-90D3-FB1974F63BF4}" type="slidenum">
              <a:rPr lang="it-IT" smtClean="0"/>
              <a:pPr/>
              <a:t>11</a:t>
            </a:fld>
            <a:endParaRPr lang="it-IT"/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457199" y="1696821"/>
            <a:ext cx="8404167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it-IT" sz="2400" dirty="0">
                <a:latin typeface="+mn-lt"/>
                <a:cs typeface="Times New Roman" pitchFamily="18" charset="0"/>
              </a:rPr>
              <a:t>3 = 0? </a:t>
            </a:r>
            <a:r>
              <a:rPr lang="it-IT" sz="2400" dirty="0" smtClean="0">
                <a:latin typeface="+mn-lt"/>
                <a:cs typeface="Times New Roman" pitchFamily="18" charset="0"/>
              </a:rPr>
              <a:t>No</a:t>
            </a:r>
          </a:p>
          <a:p>
            <a:pPr algn="l"/>
            <a:r>
              <a:rPr lang="it-IT" sz="2400" dirty="0" smtClean="0">
                <a:latin typeface="+mn-lt"/>
                <a:cs typeface="Times New Roman" pitchFamily="18" charset="0"/>
                <a:sym typeface="Wingdings"/>
              </a:rPr>
              <a:t>	</a:t>
            </a:r>
            <a:r>
              <a:rPr lang="it-IT" sz="2400" dirty="0" smtClean="0">
                <a:latin typeface="+mn-lt"/>
                <a:cs typeface="Times New Roman" pitchFamily="18" charset="0"/>
              </a:rPr>
              <a:t> </a:t>
            </a:r>
            <a:r>
              <a:rPr lang="it-IT" sz="2400" dirty="0">
                <a:latin typeface="+mn-lt"/>
                <a:cs typeface="Times New Roman" pitchFamily="18" charset="0"/>
              </a:rPr>
              <a:t>C</a:t>
            </a:r>
            <a:r>
              <a:rPr lang="it-IT" sz="2400" dirty="0" smtClean="0">
                <a:latin typeface="+mn-lt"/>
                <a:cs typeface="Times New Roman" pitchFamily="18" charset="0"/>
              </a:rPr>
              <a:t>alcola </a:t>
            </a:r>
            <a:r>
              <a:rPr lang="it-IT" sz="2400" dirty="0">
                <a:latin typeface="+mn-lt"/>
                <a:cs typeface="Times New Roman" pitchFamily="18" charset="0"/>
              </a:rPr>
              <a:t>fattoriale di 2 e </a:t>
            </a:r>
            <a:r>
              <a:rPr lang="it-IT" sz="2400" dirty="0" smtClean="0">
                <a:latin typeface="+mn-lt"/>
                <a:cs typeface="Times New Roman" pitchFamily="18" charset="0"/>
              </a:rPr>
              <a:t>moltiplicalo </a:t>
            </a:r>
            <a:r>
              <a:rPr lang="it-IT" sz="2400" dirty="0">
                <a:latin typeface="+mn-lt"/>
                <a:cs typeface="Times New Roman" pitchFamily="18" charset="0"/>
              </a:rPr>
              <a:t>per 3</a:t>
            </a:r>
          </a:p>
          <a:p>
            <a:pPr algn="l"/>
            <a:r>
              <a:rPr lang="it-IT" sz="2400" dirty="0" smtClean="0">
                <a:latin typeface="+mn-lt"/>
                <a:cs typeface="Times New Roman" pitchFamily="18" charset="0"/>
              </a:rPr>
              <a:t>    	2 </a:t>
            </a:r>
            <a:r>
              <a:rPr lang="it-IT" sz="2400" dirty="0">
                <a:latin typeface="+mn-lt"/>
                <a:cs typeface="Times New Roman" pitchFamily="18" charset="0"/>
              </a:rPr>
              <a:t>= 0? No </a:t>
            </a:r>
          </a:p>
          <a:p>
            <a:pPr algn="l"/>
            <a:r>
              <a:rPr lang="it-IT" sz="2400" dirty="0"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it-IT" sz="2400" dirty="0" smtClean="0">
                <a:latin typeface="+mn-lt"/>
                <a:cs typeface="Times New Roman" pitchFamily="18" charset="0"/>
                <a:sym typeface="Symbol" pitchFamily="18" charset="2"/>
              </a:rPr>
              <a:t>        		</a:t>
            </a:r>
            <a:r>
              <a:rPr lang="it-IT" sz="2400" dirty="0" smtClean="0">
                <a:latin typeface="+mn-lt"/>
                <a:cs typeface="Times New Roman" pitchFamily="18" charset="0"/>
                <a:sym typeface="Wingdings"/>
              </a:rPr>
              <a:t></a:t>
            </a:r>
            <a:r>
              <a:rPr lang="it-IT" sz="2400" dirty="0" smtClean="0">
                <a:latin typeface="+mn-lt"/>
                <a:cs typeface="Times New Roman" pitchFamily="18" charset="0"/>
              </a:rPr>
              <a:t> </a:t>
            </a:r>
            <a:r>
              <a:rPr lang="it-IT" sz="2400" dirty="0">
                <a:latin typeface="+mn-lt"/>
                <a:cs typeface="Times New Roman" pitchFamily="18" charset="0"/>
              </a:rPr>
              <a:t>C</a:t>
            </a:r>
            <a:r>
              <a:rPr lang="it-IT" sz="2400" dirty="0" smtClean="0">
                <a:latin typeface="+mn-lt"/>
                <a:cs typeface="Times New Roman" pitchFamily="18" charset="0"/>
              </a:rPr>
              <a:t>alcola </a:t>
            </a:r>
            <a:r>
              <a:rPr lang="it-IT" sz="2400" dirty="0">
                <a:latin typeface="+mn-lt"/>
                <a:cs typeface="Times New Roman" pitchFamily="18" charset="0"/>
              </a:rPr>
              <a:t>fattoriale di 1 e </a:t>
            </a:r>
            <a:r>
              <a:rPr lang="it-IT" sz="2400" dirty="0" smtClean="0">
                <a:latin typeface="+mn-lt"/>
                <a:cs typeface="Times New Roman" pitchFamily="18" charset="0"/>
              </a:rPr>
              <a:t>moltiplicalo </a:t>
            </a:r>
            <a:r>
              <a:rPr lang="it-IT" sz="2400" dirty="0">
                <a:latin typeface="+mn-lt"/>
                <a:cs typeface="Times New Roman" pitchFamily="18" charset="0"/>
              </a:rPr>
              <a:t>per 2</a:t>
            </a:r>
          </a:p>
          <a:p>
            <a:pPr algn="l"/>
            <a:r>
              <a:rPr lang="it-IT" sz="2400" dirty="0">
                <a:latin typeface="+mn-lt"/>
                <a:cs typeface="Times New Roman" pitchFamily="18" charset="0"/>
              </a:rPr>
              <a:t>  </a:t>
            </a:r>
            <a:r>
              <a:rPr lang="it-IT" sz="2400" dirty="0" smtClean="0">
                <a:latin typeface="+mn-lt"/>
                <a:cs typeface="Times New Roman" pitchFamily="18" charset="0"/>
              </a:rPr>
              <a:t>    		1 </a:t>
            </a:r>
            <a:r>
              <a:rPr lang="it-IT" sz="2400" dirty="0">
                <a:latin typeface="+mn-lt"/>
                <a:cs typeface="Times New Roman" pitchFamily="18" charset="0"/>
              </a:rPr>
              <a:t>= 0? No</a:t>
            </a:r>
          </a:p>
          <a:p>
            <a:pPr algn="l"/>
            <a:r>
              <a:rPr lang="it-IT" sz="2400" dirty="0">
                <a:latin typeface="+mn-lt"/>
                <a:cs typeface="Times New Roman" pitchFamily="18" charset="0"/>
              </a:rPr>
              <a:t>	</a:t>
            </a:r>
            <a:r>
              <a:rPr lang="it-IT" sz="2400" dirty="0" smtClean="0">
                <a:latin typeface="+mn-lt"/>
                <a:cs typeface="Times New Roman" pitchFamily="18" charset="0"/>
              </a:rPr>
              <a:t> 		</a:t>
            </a:r>
            <a:r>
              <a:rPr lang="it-IT" sz="2400" dirty="0" smtClean="0">
                <a:latin typeface="+mn-lt"/>
                <a:cs typeface="Times New Roman" pitchFamily="18" charset="0"/>
                <a:sym typeface="Wingdings"/>
              </a:rPr>
              <a:t></a:t>
            </a:r>
            <a:r>
              <a:rPr lang="it-IT" sz="2400" dirty="0" smtClean="0">
                <a:latin typeface="+mn-lt"/>
                <a:cs typeface="Times New Roman" pitchFamily="18" charset="0"/>
              </a:rPr>
              <a:t> </a:t>
            </a:r>
            <a:r>
              <a:rPr lang="it-IT" sz="2400" dirty="0">
                <a:latin typeface="+mn-lt"/>
                <a:cs typeface="Times New Roman" pitchFamily="18" charset="0"/>
              </a:rPr>
              <a:t>C</a:t>
            </a:r>
            <a:r>
              <a:rPr lang="it-IT" sz="2400" dirty="0" smtClean="0">
                <a:latin typeface="+mn-lt"/>
                <a:cs typeface="Times New Roman" pitchFamily="18" charset="0"/>
              </a:rPr>
              <a:t>alcola </a:t>
            </a:r>
            <a:r>
              <a:rPr lang="it-IT" sz="2400" dirty="0">
                <a:latin typeface="+mn-lt"/>
                <a:cs typeface="Times New Roman" pitchFamily="18" charset="0"/>
              </a:rPr>
              <a:t>fattoriale di 0 e </a:t>
            </a:r>
            <a:r>
              <a:rPr lang="it-IT" sz="2400" dirty="0" smtClean="0">
                <a:latin typeface="+mn-lt"/>
                <a:cs typeface="Times New Roman" pitchFamily="18" charset="0"/>
              </a:rPr>
              <a:t>moltiplicalo </a:t>
            </a:r>
            <a:r>
              <a:rPr lang="it-IT" sz="2400" dirty="0">
                <a:latin typeface="+mn-lt"/>
                <a:cs typeface="Times New Roman" pitchFamily="18" charset="0"/>
              </a:rPr>
              <a:t>per 1</a:t>
            </a:r>
          </a:p>
          <a:p>
            <a:pPr algn="l"/>
            <a:r>
              <a:rPr lang="it-IT" sz="2400" dirty="0">
                <a:latin typeface="+mn-lt"/>
                <a:cs typeface="Times New Roman" pitchFamily="18" charset="0"/>
              </a:rPr>
              <a:t> </a:t>
            </a:r>
            <a:r>
              <a:rPr lang="it-IT" sz="2400" dirty="0" smtClean="0">
                <a:latin typeface="+mn-lt"/>
                <a:cs typeface="Times New Roman" pitchFamily="18" charset="0"/>
              </a:rPr>
              <a:t>        			0 </a:t>
            </a:r>
            <a:r>
              <a:rPr lang="it-IT" sz="2400" dirty="0">
                <a:latin typeface="+mn-lt"/>
                <a:cs typeface="Times New Roman" pitchFamily="18" charset="0"/>
              </a:rPr>
              <a:t>= 0? </a:t>
            </a:r>
            <a:r>
              <a:rPr lang="it-IT" sz="2400" dirty="0" smtClean="0">
                <a:latin typeface="+mn-lt"/>
                <a:cs typeface="Times New Roman" pitchFamily="18" charset="0"/>
              </a:rPr>
              <a:t>Sì</a:t>
            </a:r>
            <a:endParaRPr lang="it-IT" sz="2400" dirty="0">
              <a:latin typeface="+mn-lt"/>
              <a:cs typeface="Times New Roman" pitchFamily="18" charset="0"/>
            </a:endParaRPr>
          </a:p>
          <a:p>
            <a:pPr algn="l"/>
            <a:r>
              <a:rPr lang="it-IT" sz="2400" dirty="0" smtClean="0">
                <a:latin typeface="+mn-lt"/>
                <a:cs typeface="Times New Roman" pitchFamily="18" charset="0"/>
              </a:rPr>
              <a:t> </a:t>
            </a:r>
            <a:r>
              <a:rPr lang="it-IT" sz="2400" dirty="0">
                <a:latin typeface="+mn-lt"/>
                <a:cs typeface="Times New Roman" pitchFamily="18" charset="0"/>
              </a:rPr>
              <a:t>	</a:t>
            </a:r>
            <a:r>
              <a:rPr lang="it-IT" sz="2400" dirty="0" smtClean="0">
                <a:latin typeface="+mn-lt"/>
                <a:cs typeface="Times New Roman" pitchFamily="18" charset="0"/>
              </a:rPr>
              <a:t> 		</a:t>
            </a:r>
            <a:r>
              <a:rPr lang="it-IT" sz="2400" dirty="0" smtClean="0">
                <a:latin typeface="+mn-lt"/>
                <a:cs typeface="Times New Roman" pitchFamily="18" charset="0"/>
                <a:sym typeface="Wingdings"/>
              </a:rPr>
              <a:t></a:t>
            </a:r>
            <a:r>
              <a:rPr lang="it-IT" sz="2400" dirty="0" smtClean="0">
                <a:latin typeface="+mn-lt"/>
                <a:cs typeface="Times New Roman" pitchFamily="18" charset="0"/>
              </a:rPr>
              <a:t> </a:t>
            </a:r>
            <a:r>
              <a:rPr lang="it-IT" sz="2400" dirty="0">
                <a:latin typeface="+mn-lt"/>
                <a:cs typeface="Times New Roman" pitchFamily="18" charset="0"/>
              </a:rPr>
              <a:t>F</a:t>
            </a:r>
            <a:r>
              <a:rPr lang="it-IT" sz="2400" dirty="0" smtClean="0">
                <a:latin typeface="+mn-lt"/>
                <a:cs typeface="Times New Roman" pitchFamily="18" charset="0"/>
              </a:rPr>
              <a:t>attoriale </a:t>
            </a:r>
            <a:r>
              <a:rPr lang="it-IT" sz="2400" dirty="0">
                <a:latin typeface="+mn-lt"/>
                <a:cs typeface="Times New Roman" pitchFamily="18" charset="0"/>
              </a:rPr>
              <a:t>di 0 è </a:t>
            </a:r>
            <a:r>
              <a:rPr lang="it-IT" sz="2400" dirty="0" smtClean="0">
                <a:latin typeface="+mn-lt"/>
                <a:cs typeface="Times New Roman" pitchFamily="18" charset="0"/>
              </a:rPr>
              <a:t>1</a:t>
            </a:r>
          </a:p>
          <a:p>
            <a:pPr algn="l"/>
            <a:r>
              <a:rPr lang="it-IT" sz="2400" dirty="0">
                <a:latin typeface="+mn-lt"/>
                <a:cs typeface="Times New Roman" pitchFamily="18" charset="0"/>
                <a:sym typeface="Wingdings"/>
              </a:rPr>
              <a:t>	</a:t>
            </a:r>
            <a:r>
              <a:rPr lang="it-IT" sz="2400" dirty="0" smtClean="0">
                <a:latin typeface="+mn-lt"/>
                <a:cs typeface="Times New Roman" pitchFamily="18" charset="0"/>
                <a:sym typeface="Wingdings"/>
              </a:rPr>
              <a:t>	</a:t>
            </a:r>
            <a:r>
              <a:rPr lang="it-IT" sz="2400" dirty="0" smtClean="0">
                <a:latin typeface="+mn-lt"/>
                <a:cs typeface="Times New Roman" pitchFamily="18" charset="0"/>
              </a:rPr>
              <a:t> </a:t>
            </a:r>
            <a:r>
              <a:rPr lang="it-IT" sz="2400" dirty="0">
                <a:latin typeface="+mn-lt"/>
                <a:cs typeface="Times New Roman" pitchFamily="18" charset="0"/>
              </a:rPr>
              <a:t>F</a:t>
            </a:r>
            <a:r>
              <a:rPr lang="it-IT" sz="2400" dirty="0" smtClean="0">
                <a:latin typeface="+mn-lt"/>
                <a:cs typeface="Times New Roman" pitchFamily="18" charset="0"/>
              </a:rPr>
              <a:t>attoriale </a:t>
            </a:r>
            <a:r>
              <a:rPr lang="it-IT" sz="2400" dirty="0">
                <a:latin typeface="+mn-lt"/>
                <a:cs typeface="Times New Roman" pitchFamily="18" charset="0"/>
              </a:rPr>
              <a:t>di 1 è 1 per fattoriale di 0, cioè </a:t>
            </a:r>
            <a:r>
              <a:rPr lang="it-IT" sz="2400" dirty="0" smtClean="0">
                <a:latin typeface="+mn-lt"/>
                <a:cs typeface="Times New Roman" pitchFamily="18" charset="0"/>
              </a:rPr>
              <a:t>1</a:t>
            </a:r>
            <a:r>
              <a:rPr lang="it-IT" sz="2400" dirty="0" smtClean="0">
                <a:latin typeface="+mn-lt"/>
                <a:cs typeface="Times New Roman" pitchFamily="18" charset="0"/>
                <a:sym typeface="Symbol" pitchFamily="18" charset="2"/>
              </a:rPr>
              <a:t></a:t>
            </a:r>
            <a:r>
              <a:rPr lang="it-IT" sz="2400" dirty="0" smtClean="0">
                <a:latin typeface="+mn-lt"/>
                <a:cs typeface="Times New Roman" pitchFamily="18" charset="0"/>
              </a:rPr>
              <a:t>1 </a:t>
            </a:r>
            <a:r>
              <a:rPr lang="it-IT" sz="2400" dirty="0">
                <a:latin typeface="+mn-lt"/>
                <a:cs typeface="Times New Roman" pitchFamily="18" charset="0"/>
              </a:rPr>
              <a:t>= 1</a:t>
            </a:r>
          </a:p>
          <a:p>
            <a:pPr algn="l"/>
            <a:r>
              <a:rPr lang="it-IT" sz="2400" dirty="0">
                <a:latin typeface="+mn-lt"/>
                <a:cs typeface="Times New Roman" pitchFamily="18" charset="0"/>
                <a:sym typeface="Symbol" pitchFamily="18" charset="2"/>
              </a:rPr>
              <a:t>	</a:t>
            </a:r>
            <a:r>
              <a:rPr lang="it-IT" sz="2400" dirty="0" smtClean="0">
                <a:latin typeface="+mn-lt"/>
                <a:cs typeface="Times New Roman" pitchFamily="18" charset="0"/>
                <a:sym typeface="Wingdings"/>
              </a:rPr>
              <a:t></a:t>
            </a:r>
            <a:r>
              <a:rPr lang="it-IT" sz="2400" dirty="0" smtClean="0">
                <a:latin typeface="+mn-lt"/>
                <a:cs typeface="Times New Roman" pitchFamily="18" charset="0"/>
              </a:rPr>
              <a:t> </a:t>
            </a:r>
            <a:r>
              <a:rPr lang="it-IT" sz="2400" dirty="0">
                <a:latin typeface="+mn-lt"/>
                <a:cs typeface="Times New Roman" pitchFamily="18" charset="0"/>
              </a:rPr>
              <a:t>F</a:t>
            </a:r>
            <a:r>
              <a:rPr lang="it-IT" sz="2400" dirty="0" smtClean="0">
                <a:latin typeface="+mn-lt"/>
                <a:cs typeface="Times New Roman" pitchFamily="18" charset="0"/>
              </a:rPr>
              <a:t>attoriale </a:t>
            </a:r>
            <a:r>
              <a:rPr lang="it-IT" sz="2400" dirty="0">
                <a:latin typeface="+mn-lt"/>
                <a:cs typeface="Times New Roman" pitchFamily="18" charset="0"/>
              </a:rPr>
              <a:t>di 2 è 2 per fattoriale di 1, cioè </a:t>
            </a:r>
            <a:r>
              <a:rPr lang="it-IT" sz="2400" dirty="0" smtClean="0">
                <a:latin typeface="+mn-lt"/>
                <a:cs typeface="Times New Roman" pitchFamily="18" charset="0"/>
              </a:rPr>
              <a:t>2</a:t>
            </a:r>
          </a:p>
          <a:p>
            <a:pPr algn="l"/>
            <a:r>
              <a:rPr lang="it-IT" sz="2400" dirty="0" smtClean="0">
                <a:latin typeface="+mn-lt"/>
                <a:cs typeface="Times New Roman" pitchFamily="18" charset="0"/>
                <a:sym typeface="Wingdings"/>
              </a:rPr>
              <a:t> </a:t>
            </a:r>
            <a:r>
              <a:rPr lang="it-IT" sz="2400" dirty="0" smtClean="0">
                <a:latin typeface="+mn-lt"/>
                <a:cs typeface="Times New Roman" pitchFamily="18" charset="0"/>
              </a:rPr>
              <a:t>Fattoriale </a:t>
            </a:r>
            <a:r>
              <a:rPr lang="it-IT" sz="2400" dirty="0">
                <a:latin typeface="+mn-lt"/>
                <a:cs typeface="Times New Roman" pitchFamily="18" charset="0"/>
              </a:rPr>
              <a:t>di 3 è 3 per fattoriale di 2, cioè 6 </a:t>
            </a:r>
            <a:endParaRPr lang="en-GB" sz="24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Ma… 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it-IT" dirty="0" smtClean="0"/>
              <a:t>… se ogni volta la funzione richiama se stessa… perché la catena di invocazioni non continua all'infinito?</a:t>
            </a:r>
          </a:p>
          <a:p>
            <a:endParaRPr lang="it-IT" dirty="0" smtClean="0"/>
          </a:p>
          <a:p>
            <a:r>
              <a:rPr lang="it-IT" dirty="0" smtClean="0"/>
              <a:t>Quando si può dire che una </a:t>
            </a:r>
            <a:r>
              <a:rPr lang="it-IT" dirty="0" err="1" smtClean="0"/>
              <a:t>ricorsione</a:t>
            </a:r>
            <a:r>
              <a:rPr lang="it-IT" dirty="0" smtClean="0"/>
              <a:t> è ben definita?</a:t>
            </a:r>
          </a:p>
          <a:p>
            <a:endParaRPr lang="it-IT" dirty="0" smtClean="0"/>
          </a:p>
          <a:p>
            <a:r>
              <a:rPr lang="it-IT" dirty="0" smtClean="0"/>
              <a:t>Informalmente</a:t>
            </a:r>
          </a:p>
          <a:p>
            <a:pPr lvl="1"/>
            <a:r>
              <a:rPr lang="it-IT" dirty="0" smtClean="0"/>
              <a:t>Se per ogni applicazione del passo induttivo ci si avvicina alla situazione riconosciuta come caso base, allora la definizione non è circolare, e la catena di invocazioni termina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621C9-5E27-4F53-BF13-253C95DB6737}" type="slidenum">
              <a:rPr lang="it-IT" smtClean="0"/>
              <a:pPr/>
              <a:t>12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smtClean="0"/>
              <a:t>Un altro esempio: la serie di Fibonacci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 smtClean="0"/>
              <a:t>Leonardo Pisano, figlio di Bonaccio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err="1" smtClean="0"/>
              <a:t>Fi’Bonacci</a:t>
            </a:r>
            <a:r>
              <a:rPr lang="it-IT" dirty="0" smtClean="0"/>
              <a:t>, 1202</a:t>
            </a:r>
          </a:p>
          <a:p>
            <a:endParaRPr lang="it-IT" dirty="0" smtClean="0"/>
          </a:p>
          <a:p>
            <a:r>
              <a:rPr lang="it-IT" dirty="0" smtClean="0"/>
              <a:t>Partì dallo studio sullo sviluppo di una                             colonia di conigli in circostanze ideali</a:t>
            </a:r>
          </a:p>
          <a:p>
            <a:pPr lvl="1"/>
            <a:r>
              <a:rPr lang="it-IT" dirty="0" smtClean="0"/>
              <a:t>Partiamo da una coppia di conigli appena nati</a:t>
            </a:r>
          </a:p>
          <a:p>
            <a:pPr lvl="1"/>
            <a:r>
              <a:rPr lang="it-IT" dirty="0" smtClean="0"/>
              <a:t>La coppia diventa fertile dopo 1 mese e genera una nuova coppia ogni mese dopo il primo</a:t>
            </a:r>
          </a:p>
          <a:p>
            <a:pPr lvl="1"/>
            <a:r>
              <a:rPr lang="it-IT" dirty="0" smtClean="0"/>
              <a:t>Le nuove coppie si comportano in modo analogo</a:t>
            </a:r>
          </a:p>
          <a:p>
            <a:pPr lvl="1"/>
            <a:r>
              <a:rPr lang="it-IT" dirty="0" smtClean="0"/>
              <a:t>I conigli non muoiono mai (!)</a:t>
            </a:r>
          </a:p>
          <a:p>
            <a:pPr lvl="1"/>
            <a:r>
              <a:rPr lang="it-IT" dirty="0" smtClean="0"/>
              <a:t>Quante coppie ci sono dopo </a:t>
            </a:r>
            <a:r>
              <a:rPr lang="it-IT" dirty="0" err="1" smtClean="0"/>
              <a:t>n</a:t>
            </a:r>
            <a:r>
              <a:rPr lang="it-IT" dirty="0" smtClean="0"/>
              <a:t> mesi?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6778-33B7-4F7B-891F-CAD2EAFC86C1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8370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smtClean="0"/>
              <a:t>Un altro esempio: la serie di Fibonacci</a:t>
            </a:r>
            <a:endParaRPr lang="it-IT" dirty="0" smtClean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altLang="it-IT" dirty="0" smtClean="0"/>
              <a:t>Dopo 1 mese una coppia di conigli sarà fertile </a:t>
            </a:r>
          </a:p>
          <a:p>
            <a:endParaRPr lang="it-IT" altLang="it-IT" dirty="0" smtClean="0"/>
          </a:p>
          <a:p>
            <a:r>
              <a:rPr lang="it-IT" altLang="it-IT" dirty="0" smtClean="0"/>
              <a:t>Dopo 2 mesi ci saranno due coppie di cui una sola fertile</a:t>
            </a:r>
          </a:p>
          <a:p>
            <a:endParaRPr lang="it-IT" altLang="it-IT" dirty="0" smtClean="0"/>
          </a:p>
          <a:p>
            <a:r>
              <a:rPr lang="it-IT" altLang="it-IT" dirty="0" smtClean="0"/>
              <a:t>Dopo 3 mesi ci saranno 2+1=3 coppie perché solo la coppia fertile avrà generato; di queste tre, due saranno le coppie fertili, quindi </a:t>
            </a:r>
          </a:p>
          <a:p>
            <a:endParaRPr lang="it-IT" altLang="it-IT" dirty="0" smtClean="0"/>
          </a:p>
          <a:p>
            <a:r>
              <a:rPr lang="it-IT" altLang="it-IT" dirty="0" smtClean="0"/>
              <a:t>Nel mese seguente (quarto mese dal momento iniziale) ci saranno 3+2=5 coppie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6778-33B7-4F7B-891F-CAD2EAFC86C1}" type="slidenum">
              <a:rPr lang="it-IT" smtClean="0"/>
              <a:pPr/>
              <a:t>14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Definizione ricorsiva della serie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6868260" cy="4525963"/>
          </a:xfrm>
        </p:spPr>
        <p:txBody>
          <a:bodyPr>
            <a:normAutofit fontScale="85000" lnSpcReduction="20000"/>
          </a:bodyPr>
          <a:lstStyle/>
          <a:p>
            <a:r>
              <a:rPr lang="it-IT" dirty="0" smtClean="0"/>
              <a:t>I numeri di Fibonacci </a:t>
            </a:r>
          </a:p>
          <a:p>
            <a:pPr lvl="1"/>
            <a:r>
              <a:rPr lang="it-IT" dirty="0" smtClean="0"/>
              <a:t>Modello alla base di molte dinamiche evolutive delle popolazioni</a:t>
            </a:r>
          </a:p>
          <a:p>
            <a:endParaRPr lang="it-IT" dirty="0" smtClean="0"/>
          </a:p>
          <a:p>
            <a:r>
              <a:rPr lang="it-IT" dirty="0" smtClean="0"/>
              <a:t>	</a:t>
            </a:r>
            <a:r>
              <a:rPr lang="it-IT" dirty="0" err="1" smtClean="0"/>
              <a:t>F</a:t>
            </a:r>
            <a:r>
              <a:rPr lang="it-IT" dirty="0" smtClean="0"/>
              <a:t> = { f</a:t>
            </a:r>
            <a:r>
              <a:rPr lang="it-IT" baseline="-25000" dirty="0" smtClean="0"/>
              <a:t>0</a:t>
            </a:r>
            <a:r>
              <a:rPr lang="it-IT" dirty="0" smtClean="0"/>
              <a:t>, ..., </a:t>
            </a:r>
            <a:r>
              <a:rPr lang="it-IT" dirty="0" err="1" smtClean="0"/>
              <a:t>f</a:t>
            </a:r>
            <a:r>
              <a:rPr lang="it-IT" baseline="-25000" dirty="0" err="1" smtClean="0"/>
              <a:t>n</a:t>
            </a:r>
            <a:r>
              <a:rPr lang="it-IT" dirty="0" smtClean="0"/>
              <a:t>, ... } </a:t>
            </a:r>
          </a:p>
          <a:p>
            <a:pPr lvl="1"/>
            <a:r>
              <a:rPr lang="it-IT" dirty="0" smtClean="0"/>
              <a:t>f</a:t>
            </a:r>
            <a:r>
              <a:rPr lang="it-IT" baseline="-25000" dirty="0" smtClean="0"/>
              <a:t>0</a:t>
            </a:r>
            <a:r>
              <a:rPr lang="it-IT" dirty="0" smtClean="0"/>
              <a:t> = 1</a:t>
            </a:r>
          </a:p>
          <a:p>
            <a:pPr lvl="1"/>
            <a:r>
              <a:rPr lang="it-IT" dirty="0" smtClean="0"/>
              <a:t>f</a:t>
            </a:r>
            <a:r>
              <a:rPr lang="it-IT" baseline="-25000" dirty="0" smtClean="0"/>
              <a:t>1</a:t>
            </a:r>
            <a:r>
              <a:rPr lang="it-IT" dirty="0" smtClean="0"/>
              <a:t> = 1</a:t>
            </a:r>
          </a:p>
          <a:p>
            <a:pPr lvl="1"/>
            <a:r>
              <a:rPr lang="it-IT" dirty="0" smtClean="0"/>
              <a:t>Per </a:t>
            </a:r>
            <a:r>
              <a:rPr lang="it-IT" dirty="0" err="1" smtClean="0"/>
              <a:t>n</a:t>
            </a:r>
            <a:r>
              <a:rPr lang="it-IT" dirty="0" smtClean="0"/>
              <a:t> &gt; 1, </a:t>
            </a:r>
            <a:r>
              <a:rPr lang="it-IT" dirty="0" err="1" smtClean="0"/>
              <a:t>f</a:t>
            </a:r>
            <a:r>
              <a:rPr lang="it-IT" baseline="-25000" dirty="0" err="1" smtClean="0"/>
              <a:t>n</a:t>
            </a:r>
            <a:r>
              <a:rPr lang="it-IT" dirty="0" smtClean="0"/>
              <a:t> = </a:t>
            </a:r>
            <a:r>
              <a:rPr lang="it-IT" dirty="0" err="1" smtClean="0"/>
              <a:t>f</a:t>
            </a:r>
            <a:r>
              <a:rPr lang="it-IT" baseline="-25000" dirty="0" err="1" smtClean="0"/>
              <a:t>n</a:t>
            </a:r>
            <a:r>
              <a:rPr lang="it-IT" dirty="0" smtClean="0"/>
              <a:t>–1 + </a:t>
            </a:r>
            <a:r>
              <a:rPr lang="it-IT" dirty="0" err="1" smtClean="0"/>
              <a:t>f</a:t>
            </a:r>
            <a:r>
              <a:rPr lang="it-IT" baseline="-25000" dirty="0" err="1" smtClean="0"/>
              <a:t>n</a:t>
            </a:r>
            <a:r>
              <a:rPr lang="it-IT" dirty="0" smtClean="0"/>
              <a:t>–2</a:t>
            </a:r>
          </a:p>
          <a:p>
            <a:endParaRPr lang="it-IT" dirty="0" smtClean="0"/>
          </a:p>
          <a:p>
            <a:r>
              <a:rPr lang="it-IT" dirty="0" smtClean="0"/>
              <a:t>Notazione "funzionale”</a:t>
            </a:r>
          </a:p>
          <a:p>
            <a:pPr lvl="1"/>
            <a:r>
              <a:rPr lang="it-IT" dirty="0" err="1" smtClean="0"/>
              <a:t>f</a:t>
            </a:r>
            <a:r>
              <a:rPr lang="it-IT" dirty="0" smtClean="0"/>
              <a:t>(i) invece di f</a:t>
            </a:r>
            <a:r>
              <a:rPr lang="it-IT" baseline="-25000" dirty="0" smtClean="0"/>
              <a:t>i</a:t>
            </a:r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A643C-78F5-4BF7-BB69-4F5EEA0D3CAA}" type="slidenum">
              <a:rPr lang="it-IT" smtClean="0"/>
              <a:pPr/>
              <a:t>15</a:t>
            </a:fld>
            <a:endParaRPr lang="it-IT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156133" y="3527649"/>
            <a:ext cx="1844675" cy="631825"/>
            <a:chOff x="1632" y="2166"/>
            <a:chExt cx="1162" cy="398"/>
          </a:xfrm>
        </p:grpSpPr>
        <p:sp>
          <p:nvSpPr>
            <p:cNvPr id="15391" name="Text Box 5"/>
            <p:cNvSpPr txBox="1">
              <a:spLocks noChangeArrowheads="1"/>
            </p:cNvSpPr>
            <p:nvPr/>
          </p:nvSpPr>
          <p:spPr bwMode="auto">
            <a:xfrm>
              <a:off x="1832" y="2219"/>
              <a:ext cx="96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2400" smtClean="0">
                  <a:latin typeface="+mn-lt"/>
                  <a:ea typeface="Courier" charset="0"/>
                  <a:cs typeface="Courier" charset="0"/>
                </a:rPr>
                <a:t>2 casi base</a:t>
              </a:r>
              <a:endParaRPr lang="en-GB" sz="2400" dirty="0">
                <a:latin typeface="+mn-lt"/>
                <a:ea typeface="Courier" charset="0"/>
                <a:cs typeface="Courier" charset="0"/>
              </a:endParaRPr>
            </a:p>
          </p:txBody>
        </p:sp>
        <p:sp>
          <p:nvSpPr>
            <p:cNvPr id="15392" name="AutoShape 6"/>
            <p:cNvSpPr>
              <a:spLocks/>
            </p:cNvSpPr>
            <p:nvPr/>
          </p:nvSpPr>
          <p:spPr bwMode="auto">
            <a:xfrm>
              <a:off x="1632" y="2166"/>
              <a:ext cx="144" cy="398"/>
            </a:xfrm>
            <a:prstGeom prst="rightBrace">
              <a:avLst>
                <a:gd name="adj1" fmla="val 33333"/>
                <a:gd name="adj2" fmla="val 50000"/>
              </a:avLst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GB" sz="4000">
                <a:solidFill>
                  <a:srgbClr val="FF0000"/>
                </a:solidFill>
              </a:endParaRPr>
            </a:p>
          </p:txBody>
        </p:sp>
      </p:grpSp>
      <p:sp>
        <p:nvSpPr>
          <p:cNvPr id="891916" name="Rectangle 12"/>
          <p:cNvSpPr>
            <a:spLocks noChangeArrowheads="1"/>
          </p:cNvSpPr>
          <p:nvPr/>
        </p:nvSpPr>
        <p:spPr bwMode="auto">
          <a:xfrm>
            <a:off x="7599782" y="1777775"/>
            <a:ext cx="650875" cy="3714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600" dirty="0">
                <a:solidFill>
                  <a:srgbClr val="001AFF"/>
                </a:solidFill>
              </a:rPr>
              <a:t>F(3)</a:t>
            </a:r>
            <a:endParaRPr lang="en-US" sz="4400" dirty="0">
              <a:solidFill>
                <a:srgbClr val="001AFF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6985419" y="2106388"/>
            <a:ext cx="1879600" cy="742950"/>
            <a:chOff x="4034" y="1920"/>
            <a:chExt cx="1184" cy="468"/>
          </a:xfrm>
        </p:grpSpPr>
        <p:sp>
          <p:nvSpPr>
            <p:cNvPr id="15384" name="Rectangle 13"/>
            <p:cNvSpPr>
              <a:spLocks noChangeArrowheads="1"/>
            </p:cNvSpPr>
            <p:nvPr/>
          </p:nvSpPr>
          <p:spPr bwMode="auto">
            <a:xfrm>
              <a:off x="4034" y="2146"/>
              <a:ext cx="411" cy="23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en-US" sz="1600"/>
                <a:t>F(2)</a:t>
              </a:r>
              <a:endParaRPr lang="en-US" sz="4400"/>
            </a:p>
          </p:txBody>
        </p:sp>
        <p:sp>
          <p:nvSpPr>
            <p:cNvPr id="15385" name="Rectangle 14"/>
            <p:cNvSpPr>
              <a:spLocks noChangeArrowheads="1"/>
            </p:cNvSpPr>
            <p:nvPr/>
          </p:nvSpPr>
          <p:spPr bwMode="auto">
            <a:xfrm>
              <a:off x="4807" y="2154"/>
              <a:ext cx="411" cy="23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en-US" sz="1600"/>
                <a:t>F(1)</a:t>
              </a:r>
              <a:endParaRPr lang="en-US" sz="4400"/>
            </a:p>
          </p:txBody>
        </p:sp>
        <p:sp>
          <p:nvSpPr>
            <p:cNvPr id="15386" name="Line 17"/>
            <p:cNvSpPr>
              <a:spLocks noChangeShapeType="1"/>
            </p:cNvSpPr>
            <p:nvPr/>
          </p:nvSpPr>
          <p:spPr bwMode="auto">
            <a:xfrm flipV="1">
              <a:off x="4322" y="1947"/>
              <a:ext cx="194" cy="199"/>
            </a:xfrm>
            <a:prstGeom prst="line">
              <a:avLst/>
            </a:prstGeom>
            <a:ln>
              <a:headEnd/>
              <a:tailEnd type="stealth" w="sm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387" name="Line 18"/>
            <p:cNvSpPr>
              <a:spLocks noChangeShapeType="1"/>
            </p:cNvSpPr>
            <p:nvPr/>
          </p:nvSpPr>
          <p:spPr bwMode="auto">
            <a:xfrm flipH="1" flipV="1">
              <a:off x="4711" y="1947"/>
              <a:ext cx="193" cy="199"/>
            </a:xfrm>
            <a:prstGeom prst="line">
              <a:avLst/>
            </a:prstGeom>
            <a:ln>
              <a:headEnd/>
              <a:tailEnd type="stealth" w="sm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388" name="Text Box 21"/>
            <p:cNvSpPr txBox="1">
              <a:spLocks noChangeArrowheads="1"/>
            </p:cNvSpPr>
            <p:nvPr/>
          </p:nvSpPr>
          <p:spPr bwMode="auto">
            <a:xfrm>
              <a:off x="4512" y="1920"/>
              <a:ext cx="290" cy="198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en-US" sz="1600"/>
                <a:t>+</a:t>
              </a:r>
              <a:endParaRPr lang="en-US" sz="4400"/>
            </a:p>
          </p:txBody>
        </p:sp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6486944" y="2779488"/>
            <a:ext cx="1611313" cy="744537"/>
            <a:chOff x="3720" y="2344"/>
            <a:chExt cx="1015" cy="469"/>
          </a:xfrm>
        </p:grpSpPr>
        <p:sp>
          <p:nvSpPr>
            <p:cNvPr id="15379" name="Rectangle 15"/>
            <p:cNvSpPr>
              <a:spLocks noChangeArrowheads="1"/>
            </p:cNvSpPr>
            <p:nvPr/>
          </p:nvSpPr>
          <p:spPr bwMode="auto">
            <a:xfrm>
              <a:off x="3720" y="2579"/>
              <a:ext cx="411" cy="23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en-US" sz="1600"/>
                <a:t>F(1)</a:t>
              </a:r>
              <a:endParaRPr lang="en-US" sz="4400"/>
            </a:p>
          </p:txBody>
        </p:sp>
        <p:sp>
          <p:nvSpPr>
            <p:cNvPr id="15380" name="Rectangle 16"/>
            <p:cNvSpPr>
              <a:spLocks noChangeArrowheads="1"/>
            </p:cNvSpPr>
            <p:nvPr/>
          </p:nvSpPr>
          <p:spPr bwMode="auto">
            <a:xfrm>
              <a:off x="4324" y="2579"/>
              <a:ext cx="411" cy="23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en-US" sz="1600"/>
                <a:t>F(0)</a:t>
              </a:r>
              <a:endParaRPr lang="en-US" sz="4400"/>
            </a:p>
          </p:txBody>
        </p:sp>
        <p:sp>
          <p:nvSpPr>
            <p:cNvPr id="15381" name="Line 19"/>
            <p:cNvSpPr>
              <a:spLocks noChangeShapeType="1"/>
            </p:cNvSpPr>
            <p:nvPr/>
          </p:nvSpPr>
          <p:spPr bwMode="auto">
            <a:xfrm flipV="1">
              <a:off x="3937" y="2377"/>
              <a:ext cx="194" cy="199"/>
            </a:xfrm>
            <a:prstGeom prst="line">
              <a:avLst/>
            </a:prstGeom>
            <a:ln>
              <a:headEnd/>
              <a:tailEnd type="stealth" w="sm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382" name="Line 20"/>
            <p:cNvSpPr>
              <a:spLocks noChangeShapeType="1"/>
            </p:cNvSpPr>
            <p:nvPr/>
          </p:nvSpPr>
          <p:spPr bwMode="auto">
            <a:xfrm flipH="1" flipV="1">
              <a:off x="4324" y="2377"/>
              <a:ext cx="193" cy="199"/>
            </a:xfrm>
            <a:prstGeom prst="line">
              <a:avLst/>
            </a:prstGeom>
            <a:ln>
              <a:headEnd/>
              <a:tailEnd type="stealth" w="sm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383" name="Text Box 22"/>
            <p:cNvSpPr txBox="1">
              <a:spLocks noChangeArrowheads="1"/>
            </p:cNvSpPr>
            <p:nvPr/>
          </p:nvSpPr>
          <p:spPr bwMode="auto">
            <a:xfrm>
              <a:off x="4081" y="2344"/>
              <a:ext cx="290" cy="199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en-US" sz="1600"/>
                <a:t>+</a:t>
              </a:r>
              <a:endParaRPr lang="en-US" sz="4400"/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6635817" y="3514297"/>
            <a:ext cx="307975" cy="560388"/>
            <a:chOff x="1207" y="12131"/>
            <a:chExt cx="360" cy="640"/>
          </a:xfrm>
        </p:grpSpPr>
        <p:sp>
          <p:nvSpPr>
            <p:cNvPr id="15377" name="Line 24"/>
            <p:cNvSpPr>
              <a:spLocks noChangeShapeType="1"/>
            </p:cNvSpPr>
            <p:nvPr/>
          </p:nvSpPr>
          <p:spPr bwMode="auto">
            <a:xfrm flipV="1">
              <a:off x="1387" y="12131"/>
              <a:ext cx="0" cy="360"/>
            </a:xfrm>
            <a:prstGeom prst="line">
              <a:avLst/>
            </a:prstGeom>
            <a:ln>
              <a:headEnd/>
              <a:tailEnd type="stealth" w="sm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378" name="Text Box 25"/>
            <p:cNvSpPr txBox="1">
              <a:spLocks noChangeArrowheads="1"/>
            </p:cNvSpPr>
            <p:nvPr/>
          </p:nvSpPr>
          <p:spPr bwMode="auto">
            <a:xfrm>
              <a:off x="1207" y="12411"/>
              <a:ext cx="360" cy="36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en-US" sz="1600" dirty="0"/>
                <a:t>1</a:t>
              </a:r>
              <a:endParaRPr lang="en-US" sz="4400" dirty="0"/>
            </a:p>
          </p:txBody>
        </p: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7616804" y="3506360"/>
            <a:ext cx="306387" cy="558800"/>
            <a:chOff x="1207" y="12131"/>
            <a:chExt cx="360" cy="640"/>
          </a:xfrm>
        </p:grpSpPr>
        <p:sp>
          <p:nvSpPr>
            <p:cNvPr id="15375" name="Line 27"/>
            <p:cNvSpPr>
              <a:spLocks noChangeShapeType="1"/>
            </p:cNvSpPr>
            <p:nvPr/>
          </p:nvSpPr>
          <p:spPr bwMode="auto">
            <a:xfrm flipV="1">
              <a:off x="1387" y="12131"/>
              <a:ext cx="0" cy="360"/>
            </a:xfrm>
            <a:prstGeom prst="line">
              <a:avLst/>
            </a:prstGeom>
            <a:ln>
              <a:headEnd/>
              <a:tailEnd type="stealth" w="sm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376" name="Text Box 28"/>
            <p:cNvSpPr txBox="1">
              <a:spLocks noChangeArrowheads="1"/>
            </p:cNvSpPr>
            <p:nvPr/>
          </p:nvSpPr>
          <p:spPr bwMode="auto">
            <a:xfrm>
              <a:off x="1207" y="12411"/>
              <a:ext cx="360" cy="36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en-US" sz="1600" dirty="0"/>
                <a:t>1</a:t>
              </a:r>
              <a:endParaRPr lang="en-US" sz="4400" dirty="0"/>
            </a:p>
          </p:txBody>
        </p:sp>
      </p:grpSp>
      <p:grpSp>
        <p:nvGrpSpPr>
          <p:cNvPr id="8" name="Group 29"/>
          <p:cNvGrpSpPr>
            <a:grpSpLocks/>
          </p:cNvGrpSpPr>
          <p:nvPr/>
        </p:nvGrpSpPr>
        <p:grpSpPr bwMode="auto">
          <a:xfrm>
            <a:off x="8357284" y="2841399"/>
            <a:ext cx="307975" cy="569144"/>
            <a:chOff x="1217" y="12131"/>
            <a:chExt cx="360" cy="650"/>
          </a:xfrm>
        </p:grpSpPr>
        <p:sp>
          <p:nvSpPr>
            <p:cNvPr id="15373" name="Line 30"/>
            <p:cNvSpPr>
              <a:spLocks noChangeShapeType="1"/>
            </p:cNvSpPr>
            <p:nvPr/>
          </p:nvSpPr>
          <p:spPr bwMode="auto">
            <a:xfrm flipV="1">
              <a:off x="1387" y="12131"/>
              <a:ext cx="0" cy="360"/>
            </a:xfrm>
            <a:prstGeom prst="line">
              <a:avLst/>
            </a:prstGeom>
            <a:ln>
              <a:headEnd/>
              <a:tailEnd type="stealth" w="sm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374" name="Text Box 31"/>
            <p:cNvSpPr txBox="1">
              <a:spLocks noChangeArrowheads="1"/>
            </p:cNvSpPr>
            <p:nvPr/>
          </p:nvSpPr>
          <p:spPr bwMode="auto">
            <a:xfrm>
              <a:off x="1217" y="12421"/>
              <a:ext cx="360" cy="36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en-US" sz="1600" dirty="0"/>
                <a:t>1</a:t>
              </a:r>
              <a:endParaRPr lang="en-US" sz="44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572000" y="4169459"/>
            <a:ext cx="2544619" cy="461665"/>
            <a:chOff x="4818941" y="4418197"/>
            <a:chExt cx="2544619" cy="461665"/>
          </a:xfrm>
        </p:grpSpPr>
        <p:sp>
          <p:nvSpPr>
            <p:cNvPr id="15389" name="Text Box 8"/>
            <p:cNvSpPr txBox="1">
              <a:spLocks noChangeArrowheads="1"/>
            </p:cNvSpPr>
            <p:nvPr/>
          </p:nvSpPr>
          <p:spPr bwMode="auto">
            <a:xfrm>
              <a:off x="5047541" y="4418197"/>
              <a:ext cx="231601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it-IT" sz="2400" smtClean="0">
                  <a:latin typeface="+mn-lt"/>
                  <a:cs typeface="Times New Roman" pitchFamily="18" charset="0"/>
                </a:rPr>
                <a:t>1 </a:t>
              </a:r>
              <a:r>
                <a:rPr lang="it-IT" sz="2400" dirty="0">
                  <a:latin typeface="+mn-lt"/>
                  <a:cs typeface="Times New Roman" pitchFamily="18" charset="0"/>
                </a:rPr>
                <a:t>passo induttivo</a:t>
              </a:r>
              <a:endParaRPr lang="en-GB" sz="2400" dirty="0">
                <a:latin typeface="+mn-lt"/>
                <a:cs typeface="Times New Roman" pitchFamily="18" charset="0"/>
              </a:endParaRPr>
            </a:p>
          </p:txBody>
        </p:sp>
        <p:sp>
          <p:nvSpPr>
            <p:cNvPr id="36" name="AutoShape 6"/>
            <p:cNvSpPr>
              <a:spLocks/>
            </p:cNvSpPr>
            <p:nvPr/>
          </p:nvSpPr>
          <p:spPr bwMode="auto">
            <a:xfrm>
              <a:off x="4818941" y="4451231"/>
              <a:ext cx="228600" cy="395598"/>
            </a:xfrm>
            <a:prstGeom prst="rightBrace">
              <a:avLst>
                <a:gd name="adj1" fmla="val 33333"/>
                <a:gd name="adj2" fmla="val 50000"/>
              </a:avLst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GB" sz="40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9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Numeri di Fibonacci in C</a:t>
            </a:r>
            <a:endParaRPr lang="it-IT" dirty="0" smtClean="0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519DD-4804-43FE-8BF9-7D62BBACA807}" type="slidenum">
              <a:rPr lang="it-IT" smtClean="0"/>
              <a:pPr/>
              <a:t>16</a:t>
            </a:fld>
            <a:endParaRPr lang="it-IT"/>
          </a:p>
        </p:txBody>
      </p:sp>
      <p:sp>
        <p:nvSpPr>
          <p:cNvPr id="16388" name="Text Box 3"/>
          <p:cNvSpPr txBox="1">
            <a:spLocks noChangeArrowheads="1"/>
          </p:cNvSpPr>
          <p:nvPr/>
        </p:nvSpPr>
        <p:spPr bwMode="auto">
          <a:xfrm>
            <a:off x="812590" y="1821389"/>
            <a:ext cx="7737894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fibo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) 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{</a:t>
            </a:r>
          </a:p>
          <a:p>
            <a:pPr algn="l"/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   if 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(n 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== 0 || n == 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1)</a:t>
            </a:r>
            <a:endParaRPr lang="en-GB" sz="24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      return 1;</a:t>
            </a:r>
          </a:p>
          <a:p>
            <a:pPr algn="l"/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else </a:t>
            </a:r>
          </a:p>
          <a:p>
            <a:pPr algn="l"/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      return 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fibo(n-1</a:t>
            </a: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) + 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fibo(n-2);</a:t>
            </a:r>
            <a:endParaRPr lang="en-GB" sz="24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} </a:t>
            </a:r>
            <a:endParaRPr lang="en-GB" sz="24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898052" name="Text Box 4"/>
          <p:cNvSpPr txBox="1">
            <a:spLocks noChangeArrowheads="1"/>
          </p:cNvSpPr>
          <p:nvPr/>
        </p:nvSpPr>
        <p:spPr bwMode="auto">
          <a:xfrm>
            <a:off x="485775" y="4533464"/>
            <a:ext cx="82010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800" dirty="0" smtClean="0">
                <a:latin typeface="+mn-lt"/>
              </a:rPr>
              <a:t>Ovviamente supponiamo </a:t>
            </a:r>
            <a:r>
              <a:rPr lang="it-IT" sz="2800" dirty="0" err="1" smtClean="0">
                <a:latin typeface="+mn-lt"/>
              </a:rPr>
              <a:t>n</a:t>
            </a:r>
            <a:r>
              <a:rPr lang="it-IT" sz="2800" dirty="0" smtClean="0">
                <a:latin typeface="+mn-lt"/>
              </a:rPr>
              <a:t>&gt;=0</a:t>
            </a:r>
            <a:endParaRPr lang="it-IT" sz="2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smtClean="0"/>
              <a:t>Un altro esempio: MCD à-la-Euclide</a:t>
            </a:r>
            <a:endParaRPr lang="it-IT" dirty="0" smtClean="0"/>
          </a:p>
        </p:txBody>
      </p:sp>
      <p:sp>
        <p:nvSpPr>
          <p:cNvPr id="17411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1873973"/>
          </a:xfrm>
        </p:spPr>
        <p:txBody>
          <a:bodyPr>
            <a:normAutofit fontScale="92500" lnSpcReduction="10000"/>
          </a:bodyPr>
          <a:lstStyle/>
          <a:p>
            <a:r>
              <a:rPr lang="it-IT" dirty="0" smtClean="0"/>
              <a:t>MCD tra M e </a:t>
            </a:r>
            <a:r>
              <a:rPr lang="it-IT" dirty="0" err="1" smtClean="0"/>
              <a:t>N</a:t>
            </a:r>
            <a:r>
              <a:rPr lang="it-IT" dirty="0" smtClean="0"/>
              <a:t> (M, </a:t>
            </a:r>
            <a:r>
              <a:rPr lang="it-IT" dirty="0" err="1" smtClean="0"/>
              <a:t>N</a:t>
            </a:r>
            <a:r>
              <a:rPr lang="it-IT" dirty="0" smtClean="0"/>
              <a:t> naturali positivi)</a:t>
            </a:r>
          </a:p>
          <a:p>
            <a:pPr lvl="1"/>
            <a:r>
              <a:rPr lang="it-IT" dirty="0" smtClean="0"/>
              <a:t>Se M=</a:t>
            </a:r>
            <a:r>
              <a:rPr lang="it-IT" dirty="0" err="1" smtClean="0"/>
              <a:t>N</a:t>
            </a:r>
            <a:r>
              <a:rPr lang="it-IT" dirty="0" smtClean="0"/>
              <a:t> allora MCD è </a:t>
            </a:r>
            <a:r>
              <a:rPr lang="it-IT" dirty="0" err="1" smtClean="0"/>
              <a:t>N</a:t>
            </a:r>
            <a:endParaRPr lang="it-IT" dirty="0" smtClean="0"/>
          </a:p>
          <a:p>
            <a:pPr lvl="1"/>
            <a:r>
              <a:rPr lang="it-IT" dirty="0"/>
              <a:t>S</a:t>
            </a:r>
            <a:r>
              <a:rPr lang="it-IT" dirty="0" smtClean="0"/>
              <a:t>e M&gt;</a:t>
            </a:r>
            <a:r>
              <a:rPr lang="it-IT" dirty="0" err="1" smtClean="0"/>
              <a:t>N</a:t>
            </a:r>
            <a:r>
              <a:rPr lang="it-IT" dirty="0" smtClean="0"/>
              <a:t> allora esso è il MCD tra </a:t>
            </a:r>
            <a:r>
              <a:rPr lang="it-IT" dirty="0" err="1" smtClean="0"/>
              <a:t>N</a:t>
            </a:r>
            <a:r>
              <a:rPr lang="it-IT" dirty="0" smtClean="0"/>
              <a:t> e M-N</a:t>
            </a:r>
          </a:p>
          <a:p>
            <a:pPr lvl="1"/>
            <a:r>
              <a:rPr lang="it-IT" dirty="0"/>
              <a:t>S</a:t>
            </a:r>
            <a:r>
              <a:rPr lang="it-IT" dirty="0" smtClean="0"/>
              <a:t>e </a:t>
            </a:r>
            <a:r>
              <a:rPr lang="it-IT" dirty="0" err="1" smtClean="0"/>
              <a:t>N</a:t>
            </a:r>
            <a:r>
              <a:rPr lang="it-IT" dirty="0" smtClean="0"/>
              <a:t>&gt;M allora esso è il MCD tra M e N-M</a:t>
            </a:r>
          </a:p>
        </p:txBody>
      </p:sp>
      <p:sp>
        <p:nvSpPr>
          <p:cNvPr id="2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D69DA-9FB5-40FF-B70C-A095E6004DAA}" type="slidenum">
              <a:rPr lang="it-IT" smtClean="0"/>
              <a:pPr/>
              <a:t>17</a:t>
            </a:fld>
            <a:endParaRPr lang="it-IT"/>
          </a:p>
        </p:txBody>
      </p:sp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3274580" y="4021014"/>
            <a:ext cx="460375" cy="396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/>
              <a:t>30</a:t>
            </a:r>
          </a:p>
        </p:txBody>
      </p:sp>
      <p:sp>
        <p:nvSpPr>
          <p:cNvPr id="17414" name="Text Box 7"/>
          <p:cNvSpPr txBox="1">
            <a:spLocks noChangeArrowheads="1"/>
          </p:cNvSpPr>
          <p:nvPr/>
        </p:nvSpPr>
        <p:spPr bwMode="auto">
          <a:xfrm>
            <a:off x="3847667" y="4627808"/>
            <a:ext cx="460375" cy="396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/>
              <a:t>12</a:t>
            </a:r>
          </a:p>
        </p:txBody>
      </p:sp>
      <p:sp>
        <p:nvSpPr>
          <p:cNvPr id="17415" name="Text Box 8"/>
          <p:cNvSpPr txBox="1">
            <a:spLocks noChangeArrowheads="1"/>
          </p:cNvSpPr>
          <p:nvPr/>
        </p:nvSpPr>
        <p:spPr bwMode="auto">
          <a:xfrm>
            <a:off x="3276167" y="5298103"/>
            <a:ext cx="460375" cy="396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/>
              <a:t>12</a:t>
            </a:r>
          </a:p>
        </p:txBody>
      </p:sp>
      <p:sp>
        <p:nvSpPr>
          <p:cNvPr id="17416" name="Text Box 9"/>
          <p:cNvSpPr txBox="1">
            <a:spLocks noChangeArrowheads="1"/>
          </p:cNvSpPr>
          <p:nvPr/>
        </p:nvSpPr>
        <p:spPr bwMode="auto">
          <a:xfrm>
            <a:off x="4990667" y="4627808"/>
            <a:ext cx="460375" cy="396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/>
              <a:t>18</a:t>
            </a:r>
          </a:p>
        </p:txBody>
      </p:sp>
      <p:sp>
        <p:nvSpPr>
          <p:cNvPr id="17417" name="Text Box 10"/>
          <p:cNvSpPr txBox="1">
            <a:spLocks noChangeArrowheads="1"/>
          </p:cNvSpPr>
          <p:nvPr/>
        </p:nvSpPr>
        <p:spPr bwMode="auto">
          <a:xfrm>
            <a:off x="4530292" y="5298103"/>
            <a:ext cx="322263" cy="396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/>
              <a:t>6</a:t>
            </a:r>
          </a:p>
        </p:txBody>
      </p:sp>
      <p:sp>
        <p:nvSpPr>
          <p:cNvPr id="17418" name="Text Box 11"/>
          <p:cNvSpPr txBox="1">
            <a:spLocks noChangeArrowheads="1"/>
          </p:cNvSpPr>
          <p:nvPr/>
        </p:nvSpPr>
        <p:spPr bwMode="auto">
          <a:xfrm>
            <a:off x="4462030" y="4021014"/>
            <a:ext cx="460375" cy="396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/>
              <a:t>18</a:t>
            </a:r>
          </a:p>
        </p:txBody>
      </p:sp>
      <p:sp>
        <p:nvSpPr>
          <p:cNvPr id="17419" name="Text Box 12"/>
          <p:cNvSpPr txBox="1">
            <a:spLocks noChangeArrowheads="1"/>
          </p:cNvSpPr>
          <p:nvPr/>
        </p:nvSpPr>
        <p:spPr bwMode="auto">
          <a:xfrm>
            <a:off x="3917517" y="5968397"/>
            <a:ext cx="322263" cy="396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/>
              <a:t>6</a:t>
            </a:r>
          </a:p>
        </p:txBody>
      </p:sp>
      <p:sp>
        <p:nvSpPr>
          <p:cNvPr id="17420" name="Text Box 13"/>
          <p:cNvSpPr txBox="1">
            <a:spLocks noChangeArrowheads="1"/>
          </p:cNvSpPr>
          <p:nvPr/>
        </p:nvSpPr>
        <p:spPr bwMode="auto">
          <a:xfrm>
            <a:off x="5058930" y="5968397"/>
            <a:ext cx="322262" cy="396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/>
              <a:t>6</a:t>
            </a:r>
          </a:p>
        </p:txBody>
      </p:sp>
      <p:cxnSp>
        <p:nvCxnSpPr>
          <p:cNvPr id="17421" name="AutoShape 14"/>
          <p:cNvCxnSpPr>
            <a:cxnSpLocks noChangeShapeType="1"/>
            <a:stCxn id="17413" idx="2"/>
            <a:endCxn id="17414" idx="0"/>
          </p:cNvCxnSpPr>
          <p:nvPr/>
        </p:nvCxnSpPr>
        <p:spPr bwMode="auto">
          <a:xfrm rot="16200000" flipH="1">
            <a:off x="3686352" y="4236304"/>
            <a:ext cx="209919" cy="573087"/>
          </a:xfrm>
          <a:prstGeom prst="straightConnector1">
            <a:avLst/>
          </a:prstGeom>
          <a:ln>
            <a:headEnd/>
            <a:tailEnd type="triangle" w="med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422" name="AutoShape 15"/>
          <p:cNvCxnSpPr>
            <a:cxnSpLocks noChangeShapeType="1"/>
            <a:stCxn id="17414" idx="2"/>
            <a:endCxn id="17417" idx="0"/>
          </p:cNvCxnSpPr>
          <p:nvPr/>
        </p:nvCxnSpPr>
        <p:spPr bwMode="auto">
          <a:xfrm rot="16200000" flipH="1">
            <a:off x="4247929" y="4854608"/>
            <a:ext cx="273420" cy="613569"/>
          </a:xfrm>
          <a:prstGeom prst="straightConnector1">
            <a:avLst/>
          </a:prstGeom>
          <a:ln>
            <a:headEnd/>
            <a:tailEnd type="triangle" w="med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423" name="AutoShape 16"/>
          <p:cNvCxnSpPr>
            <a:cxnSpLocks noChangeShapeType="1"/>
            <a:stCxn id="17414" idx="2"/>
            <a:endCxn id="17415" idx="0"/>
          </p:cNvCxnSpPr>
          <p:nvPr/>
        </p:nvCxnSpPr>
        <p:spPr bwMode="auto">
          <a:xfrm rot="5400000">
            <a:off x="3655395" y="4875643"/>
            <a:ext cx="273420" cy="571500"/>
          </a:xfrm>
          <a:prstGeom prst="straightConnector1">
            <a:avLst/>
          </a:prstGeom>
          <a:ln>
            <a:headEnd/>
            <a:tailEnd type="triangle" w="med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424" name="AutoShape 17"/>
          <p:cNvCxnSpPr>
            <a:cxnSpLocks noChangeShapeType="1"/>
            <a:stCxn id="17416" idx="2"/>
            <a:endCxn id="17417" idx="0"/>
          </p:cNvCxnSpPr>
          <p:nvPr/>
        </p:nvCxnSpPr>
        <p:spPr bwMode="auto">
          <a:xfrm rot="5400000">
            <a:off x="4819430" y="4896678"/>
            <a:ext cx="273420" cy="529431"/>
          </a:xfrm>
          <a:prstGeom prst="straightConnector1">
            <a:avLst/>
          </a:prstGeom>
          <a:ln>
            <a:headEnd/>
            <a:tailEnd type="triangle" w="med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425" name="AutoShape 18"/>
          <p:cNvCxnSpPr>
            <a:cxnSpLocks noChangeShapeType="1"/>
            <a:stCxn id="17417" idx="2"/>
            <a:endCxn id="17420" idx="0"/>
          </p:cNvCxnSpPr>
          <p:nvPr/>
        </p:nvCxnSpPr>
        <p:spPr bwMode="auto">
          <a:xfrm rot="16200000" flipH="1">
            <a:off x="4819033" y="5567368"/>
            <a:ext cx="273419" cy="528637"/>
          </a:xfrm>
          <a:prstGeom prst="straightConnector1">
            <a:avLst/>
          </a:prstGeom>
          <a:ln>
            <a:headEnd/>
            <a:tailEnd type="triangle" w="med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426" name="AutoShape 19"/>
          <p:cNvCxnSpPr>
            <a:cxnSpLocks noChangeShapeType="1"/>
            <a:stCxn id="17417" idx="2"/>
            <a:endCxn id="17419" idx="0"/>
          </p:cNvCxnSpPr>
          <p:nvPr/>
        </p:nvCxnSpPr>
        <p:spPr bwMode="auto">
          <a:xfrm rot="5400000">
            <a:off x="4248328" y="5525300"/>
            <a:ext cx="273419" cy="612775"/>
          </a:xfrm>
          <a:prstGeom prst="straightConnector1">
            <a:avLst/>
          </a:prstGeom>
          <a:ln>
            <a:headEnd/>
            <a:tailEnd type="triangle" w="med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427" name="AutoShape 20"/>
          <p:cNvCxnSpPr>
            <a:cxnSpLocks noChangeShapeType="1"/>
            <a:stCxn id="17415" idx="2"/>
            <a:endCxn id="17419" idx="0"/>
          </p:cNvCxnSpPr>
          <p:nvPr/>
        </p:nvCxnSpPr>
        <p:spPr bwMode="auto">
          <a:xfrm rot="16200000" flipH="1">
            <a:off x="3655793" y="5545540"/>
            <a:ext cx="273419" cy="572294"/>
          </a:xfrm>
          <a:prstGeom prst="straightConnector1">
            <a:avLst/>
          </a:prstGeom>
          <a:ln>
            <a:headEnd/>
            <a:tailEnd type="triangle" w="med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428" name="AutoShape 21"/>
          <p:cNvCxnSpPr>
            <a:cxnSpLocks noChangeShapeType="1"/>
            <a:stCxn id="17418" idx="2"/>
            <a:endCxn id="17414" idx="0"/>
          </p:cNvCxnSpPr>
          <p:nvPr/>
        </p:nvCxnSpPr>
        <p:spPr bwMode="auto">
          <a:xfrm rot="5400000">
            <a:off x="4280078" y="4215667"/>
            <a:ext cx="209919" cy="614363"/>
          </a:xfrm>
          <a:prstGeom prst="straightConnector1">
            <a:avLst/>
          </a:prstGeom>
          <a:ln>
            <a:headEnd/>
            <a:tailEnd type="triangle" w="med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429" name="AutoShape 22"/>
          <p:cNvCxnSpPr>
            <a:cxnSpLocks noChangeShapeType="1"/>
            <a:stCxn id="17418" idx="2"/>
            <a:endCxn id="17416" idx="0"/>
          </p:cNvCxnSpPr>
          <p:nvPr/>
        </p:nvCxnSpPr>
        <p:spPr bwMode="auto">
          <a:xfrm rot="16200000" flipH="1">
            <a:off x="4851577" y="4258529"/>
            <a:ext cx="209919" cy="528637"/>
          </a:xfrm>
          <a:prstGeom prst="straightConnector1">
            <a:avLst/>
          </a:prstGeom>
          <a:ln>
            <a:headEnd/>
            <a:tailEnd type="triangle" w="med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916507" name="Text Box 27"/>
          <p:cNvSpPr txBox="1">
            <a:spLocks noChangeArrowheads="1"/>
          </p:cNvSpPr>
          <p:nvPr/>
        </p:nvSpPr>
        <p:spPr bwMode="auto">
          <a:xfrm>
            <a:off x="4691423" y="2043244"/>
            <a:ext cx="1618521" cy="4616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it-IT" sz="2400" dirty="0">
                <a:solidFill>
                  <a:schemeClr val="tx1"/>
                </a:solidFill>
                <a:cs typeface="Times New Roman" pitchFamily="18" charset="0"/>
              </a:rPr>
              <a:t>1 caso base</a:t>
            </a:r>
            <a:endParaRPr lang="en-GB" sz="2400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916510" name="Text Box 30"/>
          <p:cNvSpPr txBox="1">
            <a:spLocks noChangeArrowheads="1"/>
          </p:cNvSpPr>
          <p:nvPr/>
        </p:nvSpPr>
        <p:spPr bwMode="auto">
          <a:xfrm>
            <a:off x="6828663" y="2703100"/>
            <a:ext cx="2136034" cy="4616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it-IT" sz="2400" dirty="0" smtClean="0">
                <a:solidFill>
                  <a:schemeClr val="tx1"/>
                </a:solidFill>
                <a:cs typeface="Times New Roman" pitchFamily="18" charset="0"/>
              </a:rPr>
              <a:t>2 </a:t>
            </a:r>
            <a:r>
              <a:rPr lang="it-IT" sz="2400" dirty="0">
                <a:solidFill>
                  <a:schemeClr val="tx1"/>
                </a:solidFill>
                <a:cs typeface="Times New Roman" pitchFamily="18" charset="0"/>
              </a:rPr>
              <a:t>passi induttivi</a:t>
            </a:r>
            <a:endParaRPr lang="en-GB" sz="2400" dirty="0">
              <a:solidFill>
                <a:schemeClr val="tx1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6507" grpId="0" animBg="1"/>
      <p:bldP spid="9165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MCD versione ricorsiva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41816-87BF-4AA9-A7F1-4AE414AEBB28}" type="slidenum">
              <a:rPr lang="it-IT" smtClean="0"/>
              <a:pPr/>
              <a:t>18</a:t>
            </a:fld>
            <a:endParaRPr lang="it-IT"/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904970" y="1667591"/>
            <a:ext cx="7334059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GB" sz="2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2800" dirty="0" err="1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EuclideRic</a:t>
            </a:r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en-GB" sz="2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 m, </a:t>
            </a:r>
            <a:r>
              <a:rPr lang="en-GB" sz="2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 n) {</a:t>
            </a:r>
          </a:p>
          <a:p>
            <a:pPr algn="l"/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   if </a:t>
            </a:r>
            <a:r>
              <a:rPr lang="en-GB" sz="2800" dirty="0" smtClean="0">
                <a:latin typeface="Courier" charset="0"/>
                <a:ea typeface="Courier" charset="0"/>
                <a:cs typeface="Courier" charset="0"/>
              </a:rPr>
              <a:t>(m </a:t>
            </a:r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== </a:t>
            </a:r>
            <a:r>
              <a:rPr lang="en-GB" sz="2800" dirty="0" smtClean="0">
                <a:latin typeface="Courier" charset="0"/>
                <a:ea typeface="Courier" charset="0"/>
                <a:cs typeface="Courier" charset="0"/>
              </a:rPr>
              <a:t>n) </a:t>
            </a:r>
            <a:endParaRPr lang="en-GB" sz="28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      return m;</a:t>
            </a:r>
          </a:p>
          <a:p>
            <a:pPr algn="l"/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   if </a:t>
            </a:r>
            <a:r>
              <a:rPr lang="en-GB" sz="2800" dirty="0" smtClean="0">
                <a:latin typeface="Courier" charset="0"/>
                <a:ea typeface="Courier" charset="0"/>
                <a:cs typeface="Courier" charset="0"/>
              </a:rPr>
              <a:t>(m </a:t>
            </a:r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&gt; </a:t>
            </a:r>
            <a:r>
              <a:rPr lang="en-GB" sz="2800" dirty="0" smtClean="0">
                <a:latin typeface="Courier" charset="0"/>
                <a:ea typeface="Courier" charset="0"/>
                <a:cs typeface="Courier" charset="0"/>
              </a:rPr>
              <a:t>n) </a:t>
            </a:r>
            <a:endParaRPr lang="en-GB" sz="28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      return </a:t>
            </a:r>
            <a:r>
              <a:rPr lang="en-GB" sz="2800" dirty="0" err="1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EuclideRic</a:t>
            </a:r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(m</a:t>
            </a:r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–</a:t>
            </a:r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n, n);</a:t>
            </a:r>
          </a:p>
          <a:p>
            <a:pPr algn="l"/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   else</a:t>
            </a:r>
          </a:p>
          <a:p>
            <a:pPr algn="l"/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      return </a:t>
            </a:r>
            <a:r>
              <a:rPr lang="en-GB" sz="2800" dirty="0" err="1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EuclideRic</a:t>
            </a:r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(m, n</a:t>
            </a:r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–</a:t>
            </a:r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m);</a:t>
            </a:r>
          </a:p>
          <a:p>
            <a:pPr algn="l"/>
            <a:r>
              <a:rPr lang="it-IT" sz="2800" dirty="0">
                <a:latin typeface="Courier" charset="0"/>
                <a:ea typeface="Courier" charset="0"/>
                <a:cs typeface="Courier" charset="0"/>
              </a:rPr>
              <a:t>} </a:t>
            </a:r>
            <a:endParaRPr lang="en-GB" sz="2800" dirty="0"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MCD versione iterativa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EDDBA-B084-4021-B202-BD0A7680DB51}" type="slidenum">
              <a:rPr lang="it-IT" smtClean="0"/>
              <a:pPr/>
              <a:t>19</a:t>
            </a:fld>
            <a:endParaRPr lang="it-IT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822655" y="1686142"/>
            <a:ext cx="6083717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GB" sz="24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2400" dirty="0" err="1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EuclideIter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en-GB" sz="24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 m, </a:t>
            </a:r>
            <a:r>
              <a:rPr lang="en-GB" sz="24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 n) {</a:t>
            </a:r>
          </a:p>
          <a:p>
            <a:pPr algn="l"/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while 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(m 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!= 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n) 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{</a:t>
            </a:r>
            <a:endParaRPr lang="en-GB" sz="24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(m 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&gt; 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n) 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{</a:t>
            </a:r>
            <a:endParaRPr lang="en-GB" sz="24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m 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= m – n;	</a:t>
            </a:r>
          </a:p>
          <a:p>
            <a:pPr algn="l"/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} else {</a:t>
            </a:r>
            <a:endParaRPr lang="en-GB" sz="24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n </a:t>
            </a:r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= n – m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pPr algn="l"/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2400" dirty="0" smtClean="0">
                <a:latin typeface="Courier" charset="0"/>
                <a:ea typeface="Courier" charset="0"/>
                <a:cs typeface="Courier" charset="0"/>
              </a:rPr>
              <a:t>	}</a:t>
            </a:r>
            <a:endParaRPr lang="en-GB" sz="24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m;</a:t>
            </a:r>
            <a:endParaRPr lang="en-GB" sz="24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}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Funzione esponenziale (intera)</a:t>
            </a:r>
          </a:p>
        </p:txBody>
      </p:sp>
      <p:sp>
        <p:nvSpPr>
          <p:cNvPr id="20484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4149306" cy="4525963"/>
          </a:xfrm>
        </p:spPr>
        <p:txBody>
          <a:bodyPr>
            <a:normAutofit/>
          </a:bodyPr>
          <a:lstStyle/>
          <a:p>
            <a:r>
              <a:rPr lang="it-IT" sz="2800" dirty="0" smtClean="0"/>
              <a:t>Definizione iterativa</a:t>
            </a:r>
          </a:p>
          <a:p>
            <a:pPr marL="971550" lvl="1" indent="-514350">
              <a:buFont typeface="+mj-lt"/>
              <a:buAutoNum type="arabicPeriod"/>
            </a:pPr>
            <a:r>
              <a:rPr lang="it-IT" sz="2400" dirty="0" smtClean="0"/>
              <a:t>b</a:t>
            </a:r>
            <a:r>
              <a:rPr lang="it-IT" sz="2400" baseline="30000" dirty="0" smtClean="0"/>
              <a:t>e</a:t>
            </a:r>
            <a:r>
              <a:rPr lang="it-IT" sz="2400" dirty="0" smtClean="0"/>
              <a:t> = 1		</a:t>
            </a:r>
            <a:r>
              <a:rPr lang="it-IT" sz="2400" dirty="0"/>
              <a:t>	</a:t>
            </a:r>
            <a:r>
              <a:rPr lang="it-IT" sz="2400" dirty="0" smtClean="0"/>
              <a:t>se e = 0</a:t>
            </a:r>
            <a:endParaRPr lang="it-IT" sz="2400" dirty="0"/>
          </a:p>
          <a:p>
            <a:pPr marL="971550" lvl="1" indent="-514350">
              <a:buFont typeface="+mj-lt"/>
              <a:buAutoNum type="arabicPeriod"/>
            </a:pPr>
            <a:r>
              <a:rPr lang="it-IT" sz="2400" dirty="0" smtClean="0"/>
              <a:t>b</a:t>
            </a:r>
            <a:r>
              <a:rPr lang="it-IT" sz="2400" baseline="30000" dirty="0" smtClean="0"/>
              <a:t>e</a:t>
            </a:r>
            <a:r>
              <a:rPr lang="it-IT" sz="2400" dirty="0" smtClean="0"/>
              <a:t> = b * b * … b</a:t>
            </a:r>
          </a:p>
          <a:p>
            <a:pPr marL="457200" lvl="1" indent="0">
              <a:buNone/>
            </a:pPr>
            <a:r>
              <a:rPr lang="it-IT" sz="2400" dirty="0" smtClean="0"/>
              <a:t>	(e volte)	</a:t>
            </a:r>
            <a:r>
              <a:rPr lang="it-IT" sz="2400" dirty="0"/>
              <a:t>	</a:t>
            </a:r>
            <a:r>
              <a:rPr lang="it-IT" sz="2400" dirty="0" smtClean="0"/>
              <a:t>se e &gt; 0</a:t>
            </a:r>
          </a:p>
          <a:p>
            <a:pPr lvl="1"/>
            <a:endParaRPr lang="it-IT" sz="2400" dirty="0" smtClean="0"/>
          </a:p>
          <a:p>
            <a:pPr lvl="1"/>
            <a:endParaRPr lang="it-IT" sz="2400" dirty="0" smtClean="0"/>
          </a:p>
          <a:p>
            <a:r>
              <a:rPr lang="it-IT" sz="2800" dirty="0" smtClean="0"/>
              <a:t>Definizione induttiva</a:t>
            </a:r>
            <a:endParaRPr lang="it-IT" sz="2800" dirty="0"/>
          </a:p>
          <a:p>
            <a:pPr marL="971550" lvl="1" indent="-514350">
              <a:buFont typeface="+mj-lt"/>
              <a:buAutoNum type="arabicPeriod"/>
            </a:pPr>
            <a:r>
              <a:rPr lang="it-IT" sz="2400" dirty="0" smtClean="0"/>
              <a:t>b</a:t>
            </a:r>
            <a:r>
              <a:rPr lang="it-IT" sz="2400" baseline="30000" dirty="0" smtClean="0"/>
              <a:t>e</a:t>
            </a:r>
            <a:r>
              <a:rPr lang="it-IT" sz="2400" dirty="0" smtClean="0"/>
              <a:t> = 1			se e = 0</a:t>
            </a:r>
            <a:endParaRPr lang="it-IT" sz="2400" dirty="0"/>
          </a:p>
          <a:p>
            <a:pPr marL="971550" lvl="1" indent="-514350">
              <a:buFont typeface="+mj-lt"/>
              <a:buAutoNum type="arabicPeriod"/>
            </a:pPr>
            <a:r>
              <a:rPr lang="it-IT" sz="2400" dirty="0" smtClean="0"/>
              <a:t>b</a:t>
            </a:r>
            <a:r>
              <a:rPr lang="it-IT" sz="2400" baseline="30000" dirty="0" smtClean="0"/>
              <a:t>e</a:t>
            </a:r>
            <a:r>
              <a:rPr lang="it-IT" sz="2400" dirty="0" smtClean="0"/>
              <a:t> = b * b</a:t>
            </a:r>
            <a:r>
              <a:rPr lang="it-IT" sz="2400" baseline="30000" dirty="0" smtClean="0"/>
              <a:t>(e-1)</a:t>
            </a:r>
            <a:r>
              <a:rPr lang="it-IT" sz="2400" dirty="0"/>
              <a:t>	</a:t>
            </a:r>
            <a:r>
              <a:rPr lang="it-IT" sz="2400" dirty="0" smtClean="0"/>
              <a:t>se e &gt; 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B34CB-9559-4BA9-89AD-6219F7E51748}" type="slidenum">
              <a:rPr lang="it-IT" smtClean="0"/>
              <a:pPr/>
              <a:t>20</a:t>
            </a:fld>
            <a:endParaRPr lang="it-IT"/>
          </a:p>
        </p:txBody>
      </p:sp>
      <p:sp>
        <p:nvSpPr>
          <p:cNvPr id="2" name="Rectangle 1"/>
          <p:cNvSpPr/>
          <p:nvPr/>
        </p:nvSpPr>
        <p:spPr>
          <a:xfrm>
            <a:off x="4572000" y="1661746"/>
            <a:ext cx="4484740" cy="196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2400" dirty="0">
                <a:latin typeface="+mn-lt"/>
              </a:rPr>
              <a:t>Codice iterativo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it-IT" sz="2000" dirty="0">
              <a:latin typeface="Courier" charset="0"/>
              <a:ea typeface="Courier" charset="0"/>
              <a:cs typeface="Courier" charset="0"/>
            </a:endParaRPr>
          </a:p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1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 err="1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esp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sz="1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b, </a:t>
            </a:r>
            <a:r>
              <a:rPr lang="it-IT" sz="1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e) {</a:t>
            </a:r>
          </a:p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i, </a:t>
            </a:r>
            <a:r>
              <a:rPr lang="it-IT" sz="1800" dirty="0" err="1">
                <a:latin typeface="Courier" charset="0"/>
                <a:ea typeface="Courier" charset="0"/>
                <a:cs typeface="Courier" charset="0"/>
              </a:rPr>
              <a:t>r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= 1;</a:t>
            </a:r>
          </a:p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  for 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(i = 1; i &lt;= e; i++)</a:t>
            </a:r>
          </a:p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     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r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= </a:t>
            </a:r>
            <a:r>
              <a:rPr lang="it-IT" sz="1800" dirty="0" err="1">
                <a:latin typeface="Courier" charset="0"/>
                <a:ea typeface="Courier" charset="0"/>
                <a:cs typeface="Courier" charset="0"/>
              </a:rPr>
              <a:t>r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* b;</a:t>
            </a:r>
          </a:p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 err="1">
                <a:latin typeface="Courier" charset="0"/>
                <a:ea typeface="Courier" charset="0"/>
                <a:cs typeface="Courier" charset="0"/>
              </a:rPr>
              <a:t>r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4528370" y="3945969"/>
            <a:ext cx="4572000" cy="21605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2400" dirty="0">
                <a:latin typeface="+mn-lt"/>
              </a:rPr>
              <a:t>Codice ricorsivo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it-IT" b="1" dirty="0"/>
          </a:p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1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 err="1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esp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sz="1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b, </a:t>
            </a:r>
            <a:r>
              <a:rPr lang="it-IT" sz="1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e) {</a:t>
            </a:r>
          </a:p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(e == 0)</a:t>
            </a:r>
          </a:p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     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1;</a:t>
            </a:r>
          </a:p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 else</a:t>
            </a:r>
            <a:endParaRPr lang="it-IT" sz="1800" dirty="0">
              <a:latin typeface="Courier" charset="0"/>
              <a:ea typeface="Courier" charset="0"/>
              <a:cs typeface="Courier" charset="0"/>
            </a:endParaRPr>
          </a:p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     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b * </a:t>
            </a:r>
            <a:r>
              <a:rPr lang="it-IT" sz="1800" dirty="0" err="1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esp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(b, e-1);</a:t>
            </a:r>
          </a:p>
          <a:p>
            <a:pPr algn="l" eaLnBrk="1" hangingPunct="1">
              <a:lnSpc>
                <a:spcPct val="80000"/>
              </a:lnSpc>
              <a:buFontTx/>
              <a:buNone/>
            </a:pP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Esecuzione di funzioni ricorsive</a:t>
            </a:r>
            <a:endParaRPr lang="en-US" dirty="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t-IT" dirty="0" smtClean="0"/>
              <a:t>In un certo istante possono essere in corso diverse attivazioni dello stesso sottoprogramma</a:t>
            </a:r>
          </a:p>
          <a:p>
            <a:pPr lvl="1"/>
            <a:r>
              <a:rPr lang="it-IT" dirty="0" smtClean="0"/>
              <a:t>Ovviamente sono tutte sospese tranne una, l'ultima invocata, all'interno della quale si sta svolgendo il flusso di esecuzione</a:t>
            </a:r>
          </a:p>
          <a:p>
            <a:endParaRPr lang="it-IT" dirty="0" smtClean="0"/>
          </a:p>
          <a:p>
            <a:r>
              <a:rPr lang="it-IT" dirty="0" smtClean="0"/>
              <a:t>Ogni attivazione esegue lo stesso codice ma opera su copie distinte dei parametri e delle variabili locali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C9BB-15D7-44FC-A17D-03BE41211B7C}" type="slidenum">
              <a:rPr lang="it-IT" smtClean="0"/>
              <a:pPr/>
              <a:t>21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dirty="0" smtClean="0"/>
              <a:t>Il modello a runtime: esempio</a:t>
            </a:r>
          </a:p>
        </p:txBody>
      </p:sp>
      <p:sp>
        <p:nvSpPr>
          <p:cNvPr id="2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39BDBE-91D7-4FE9-8D6F-A6A112AEFAAE}" type="slidenum">
              <a:rPr lang="it-IT"/>
              <a:pPr>
                <a:defRPr/>
              </a:pPr>
              <a:t>22</a:t>
            </a:fld>
            <a:endParaRPr lang="it-IT"/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313167" y="1414744"/>
            <a:ext cx="462819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FattRic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pPr algn="l"/>
            <a:endParaRPr lang="en-GB" sz="1600" dirty="0" smtClean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16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main</a:t>
            </a:r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() {</a:t>
            </a:r>
            <a:endParaRPr lang="en-GB" sz="16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GB" sz="16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1600" dirty="0" err="1" smtClean="0">
                <a:latin typeface="Courier" charset="0"/>
                <a:ea typeface="Courier" charset="0"/>
                <a:cs typeface="Courier" charset="0"/>
              </a:rPr>
              <a:t>val</a:t>
            </a:r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GB" sz="1600" dirty="0" err="1" smtClean="0">
                <a:latin typeface="Courier" charset="0"/>
                <a:ea typeface="Courier" charset="0"/>
                <a:cs typeface="Courier" charset="0"/>
              </a:rPr>
              <a:t>ris</a:t>
            </a:r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;</a:t>
            </a:r>
            <a:endParaRPr lang="en-GB" sz="16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GB" sz="1600" dirty="0" err="1" smtClean="0">
                <a:latin typeface="Courier" charset="0"/>
                <a:ea typeface="Courier" charset="0"/>
                <a:cs typeface="Courier" charset="0"/>
              </a:rPr>
              <a:t>printf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("</a:t>
            </a:r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dammi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 un </a:t>
            </a:r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naturale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   ");</a:t>
            </a: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GB" sz="1600" dirty="0" err="1" smtClean="0">
                <a:latin typeface="Courier" charset="0"/>
                <a:ea typeface="Courier" charset="0"/>
                <a:cs typeface="Courier" charset="0"/>
              </a:rPr>
              <a:t>scanf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("%d", &amp;</a:t>
            </a:r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val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GB" sz="1600" dirty="0" err="1" smtClean="0">
                <a:latin typeface="Courier" charset="0"/>
                <a:ea typeface="Courier" charset="0"/>
                <a:cs typeface="Courier" charset="0"/>
              </a:rPr>
              <a:t>ris</a:t>
            </a:r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GB" sz="1600" dirty="0" err="1" smtClean="0">
                <a:latin typeface="Courier" charset="0"/>
                <a:ea typeface="Courier" charset="0"/>
                <a:cs typeface="Courier" charset="0"/>
              </a:rPr>
              <a:t>FattRic</a:t>
            </a:r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GB" sz="1600" dirty="0" err="1" smtClean="0">
                <a:latin typeface="Courier" charset="0"/>
                <a:ea typeface="Courier" charset="0"/>
                <a:cs typeface="Courier" charset="0"/>
              </a:rPr>
              <a:t>val</a:t>
            </a:r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GB" sz="1600" dirty="0" err="1" smtClean="0">
                <a:latin typeface="Courier" charset="0"/>
                <a:ea typeface="Courier" charset="0"/>
                <a:cs typeface="Courier" charset="0"/>
              </a:rPr>
              <a:t>printf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("\</a:t>
            </a:r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nfattoriale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= %d", </a:t>
            </a:r>
            <a:r>
              <a:rPr lang="en-GB" sz="1600" dirty="0" err="1" smtClean="0">
                <a:latin typeface="Courier" charset="0"/>
                <a:ea typeface="Courier" charset="0"/>
                <a:cs typeface="Courier" charset="0"/>
              </a:rPr>
              <a:t>ris</a:t>
            </a:r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);</a:t>
            </a:r>
            <a:endParaRPr lang="en-GB" sz="16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   return 0;</a:t>
            </a: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  <a:p>
            <a:pPr algn="l"/>
            <a:endParaRPr lang="en-GB" sz="16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FattRic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en-GB" sz="16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  n) {</a:t>
            </a: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GB" sz="16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temp;</a:t>
            </a:r>
            <a:endParaRPr lang="en-GB" sz="16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   if (n == 0)</a:t>
            </a:r>
            <a:endParaRPr lang="en-GB" sz="16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        return 1;</a:t>
            </a: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   else {</a:t>
            </a: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        temp = n * </a:t>
            </a:r>
            <a:r>
              <a:rPr lang="en-GB" sz="1600" dirty="0" err="1" smtClean="0">
                <a:latin typeface="Courier" charset="0"/>
                <a:ea typeface="Courier" charset="0"/>
                <a:cs typeface="Courier" charset="0"/>
              </a:rPr>
              <a:t>FattRic</a:t>
            </a:r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(n-1);</a:t>
            </a: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        </a:t>
            </a:r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return temp;</a:t>
            </a:r>
          </a:p>
          <a:p>
            <a:pPr algn="l"/>
            <a:r>
              <a:rPr lang="en-GB" sz="1600" dirty="0" smtClean="0">
                <a:latin typeface="Courier" charset="0"/>
                <a:ea typeface="Courier" charset="0"/>
                <a:cs typeface="Courier" charset="0"/>
              </a:rPr>
              <a:t>    }</a:t>
            </a:r>
            <a:endParaRPr lang="en-GB" sz="16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GB" sz="1600" dirty="0">
                <a:latin typeface="Courier" charset="0"/>
                <a:ea typeface="Courier" charset="0"/>
                <a:cs typeface="Courier" charset="0"/>
              </a:rPr>
              <a:t>} </a:t>
            </a:r>
          </a:p>
        </p:txBody>
      </p:sp>
      <p:sp>
        <p:nvSpPr>
          <p:cNvPr id="901129" name="Text Box 9"/>
          <p:cNvSpPr txBox="1">
            <a:spLocks noChangeArrowheads="1"/>
          </p:cNvSpPr>
          <p:nvPr/>
        </p:nvSpPr>
        <p:spPr bwMode="auto">
          <a:xfrm>
            <a:off x="5241234" y="4978322"/>
            <a:ext cx="299629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temp</a:t>
            </a:r>
            <a:endParaRPr lang="it-IT" sz="1800" dirty="0" smtClean="0">
              <a:latin typeface="Courier" charset="0"/>
              <a:ea typeface="Courier" charset="0"/>
              <a:cs typeface="Courier" charset="0"/>
            </a:endParaRPr>
          </a:p>
          <a:p>
            <a:pPr marL="285750" indent="-285750" algn="l">
              <a:buFont typeface="Arial" charset="0"/>
              <a:buChar char="•"/>
            </a:pPr>
            <a:r>
              <a:rPr lang="it-IT" sz="1800" dirty="0" smtClean="0"/>
              <a:t>Cella temporanea per memorizzare il risultato della funzione chiamata</a:t>
            </a:r>
            <a:endParaRPr lang="it-IT" sz="1800" dirty="0"/>
          </a:p>
        </p:txBody>
      </p:sp>
      <p:sp>
        <p:nvSpPr>
          <p:cNvPr id="901130" name="Text Box 10"/>
          <p:cNvSpPr txBox="1">
            <a:spLocks noChangeArrowheads="1"/>
          </p:cNvSpPr>
          <p:nvPr/>
        </p:nvSpPr>
        <p:spPr bwMode="auto">
          <a:xfrm>
            <a:off x="2002593" y="6075585"/>
            <a:ext cx="2504725" cy="4616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i="1" dirty="0" err="1">
                <a:solidFill>
                  <a:srgbClr val="001AFF"/>
                </a:solidFill>
              </a:rPr>
              <a:t>A</a:t>
            </a:r>
            <a:r>
              <a:rPr lang="en-US" sz="2400" i="1" dirty="0" err="1" smtClean="0">
                <a:solidFill>
                  <a:srgbClr val="001AFF"/>
                </a:solidFill>
              </a:rPr>
              <a:t>ssumiamo</a:t>
            </a:r>
            <a:r>
              <a:rPr lang="en-US" sz="2400" i="1" dirty="0" smtClean="0">
                <a:solidFill>
                  <a:srgbClr val="001AFF"/>
                </a:solidFill>
              </a:rPr>
              <a:t> </a:t>
            </a:r>
            <a:r>
              <a:rPr lang="en-US" sz="2400" i="1" dirty="0" err="1">
                <a:solidFill>
                  <a:srgbClr val="001AFF"/>
                </a:solidFill>
              </a:rPr>
              <a:t>val</a:t>
            </a:r>
            <a:r>
              <a:rPr lang="en-US" sz="2400" i="1" dirty="0">
                <a:solidFill>
                  <a:srgbClr val="001AFF"/>
                </a:solidFill>
              </a:rPr>
              <a:t> = 3</a:t>
            </a:r>
            <a:endParaRPr lang="it-IT" sz="2400" i="1" dirty="0">
              <a:solidFill>
                <a:srgbClr val="001AFF"/>
              </a:solidFill>
            </a:endParaRPr>
          </a:p>
        </p:txBody>
      </p:sp>
      <p:sp>
        <p:nvSpPr>
          <p:cNvPr id="901143" name="Rectangle 23"/>
          <p:cNvSpPr>
            <a:spLocks noChangeArrowheads="1"/>
          </p:cNvSpPr>
          <p:nvPr/>
        </p:nvSpPr>
        <p:spPr bwMode="auto">
          <a:xfrm>
            <a:off x="5836093" y="4055389"/>
            <a:ext cx="1806575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sz="2000">
                <a:latin typeface="Courier" charset="0"/>
                <a:ea typeface="Courier" charset="0"/>
                <a:cs typeface="Courier" charset="0"/>
              </a:rPr>
              <a:t>val = 3</a:t>
            </a:r>
          </a:p>
          <a:p>
            <a:r>
              <a:rPr lang="en-US" sz="2000">
                <a:latin typeface="Courier" charset="0"/>
                <a:ea typeface="Courier" charset="0"/>
                <a:cs typeface="Courier" charset="0"/>
              </a:rPr>
              <a:t>ris =  </a:t>
            </a:r>
            <a:endParaRPr lang="it-IT" sz="200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44" name="Rectangle 24"/>
          <p:cNvSpPr>
            <a:spLocks noChangeArrowheads="1"/>
          </p:cNvSpPr>
          <p:nvPr/>
        </p:nvSpPr>
        <p:spPr bwMode="auto">
          <a:xfrm>
            <a:off x="5836093" y="3441027"/>
            <a:ext cx="1806575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n = 3</a:t>
            </a:r>
          </a:p>
          <a:p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temp = </a:t>
            </a:r>
            <a:r>
              <a:rPr lang="en-US" sz="2000" dirty="0" smtClean="0">
                <a:latin typeface="Courier" charset="0"/>
                <a:ea typeface="Courier" charset="0"/>
                <a:cs typeface="Courier" charset="0"/>
              </a:rPr>
              <a:t>3* </a:t>
            </a:r>
            <a:endParaRPr lang="it-IT" sz="20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45" name="Rectangle 25"/>
          <p:cNvSpPr>
            <a:spLocks noChangeArrowheads="1"/>
          </p:cNvSpPr>
          <p:nvPr/>
        </p:nvSpPr>
        <p:spPr bwMode="auto">
          <a:xfrm>
            <a:off x="5836093" y="2223414"/>
            <a:ext cx="1806575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n = 1</a:t>
            </a:r>
          </a:p>
          <a:p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temp = 1* </a:t>
            </a:r>
            <a:endParaRPr lang="it-IT" sz="20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46" name="Rectangle 26"/>
          <p:cNvSpPr>
            <a:spLocks noChangeArrowheads="1"/>
          </p:cNvSpPr>
          <p:nvPr/>
        </p:nvSpPr>
        <p:spPr bwMode="auto">
          <a:xfrm>
            <a:off x="5836093" y="2831427"/>
            <a:ext cx="1806575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sz="2000">
                <a:latin typeface="Courier" charset="0"/>
                <a:ea typeface="Courier" charset="0"/>
                <a:cs typeface="Courier" charset="0"/>
              </a:rPr>
              <a:t>n = 2</a:t>
            </a:r>
          </a:p>
          <a:p>
            <a:r>
              <a:rPr lang="en-US" sz="2000">
                <a:latin typeface="Courier" charset="0"/>
                <a:ea typeface="Courier" charset="0"/>
                <a:cs typeface="Courier" charset="0"/>
              </a:rPr>
              <a:t>temp = 2* </a:t>
            </a:r>
            <a:endParaRPr lang="it-IT" sz="200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47" name="Rectangle 27"/>
          <p:cNvSpPr>
            <a:spLocks noChangeArrowheads="1"/>
          </p:cNvSpPr>
          <p:nvPr/>
        </p:nvSpPr>
        <p:spPr bwMode="auto">
          <a:xfrm>
            <a:off x="5836093" y="1613814"/>
            <a:ext cx="1806575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sz="2000">
                <a:latin typeface="Courier" charset="0"/>
                <a:ea typeface="Courier" charset="0"/>
                <a:cs typeface="Courier" charset="0"/>
              </a:rPr>
              <a:t>n = 0</a:t>
            </a:r>
          </a:p>
          <a:p>
            <a:r>
              <a:rPr lang="en-US" sz="2000">
                <a:latin typeface="Courier" charset="0"/>
                <a:ea typeface="Courier" charset="0"/>
                <a:cs typeface="Courier" charset="0"/>
              </a:rPr>
              <a:t>temp = ? </a:t>
            </a:r>
            <a:endParaRPr lang="it-IT" sz="200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48" name="Text Box 28"/>
          <p:cNvSpPr txBox="1">
            <a:spLocks noChangeArrowheads="1"/>
          </p:cNvSpPr>
          <p:nvPr/>
        </p:nvSpPr>
        <p:spPr bwMode="auto">
          <a:xfrm>
            <a:off x="7254185" y="2486854"/>
            <a:ext cx="3774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1</a:t>
            </a:r>
            <a:endParaRPr lang="it-IT" sz="20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49" name="Text Box 29"/>
          <p:cNvSpPr txBox="1">
            <a:spLocks noChangeArrowheads="1"/>
          </p:cNvSpPr>
          <p:nvPr/>
        </p:nvSpPr>
        <p:spPr bwMode="auto">
          <a:xfrm>
            <a:off x="7257013" y="3095264"/>
            <a:ext cx="3108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2000" smtClean="0">
                <a:latin typeface="Courier" charset="0"/>
                <a:ea typeface="Courier" charset="0"/>
                <a:cs typeface="Courier" charset="0"/>
              </a:rPr>
              <a:t>1</a:t>
            </a:r>
            <a:endParaRPr lang="it-IT" sz="20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50" name="Text Box 30"/>
          <p:cNvSpPr txBox="1">
            <a:spLocks noChangeArrowheads="1"/>
          </p:cNvSpPr>
          <p:nvPr/>
        </p:nvSpPr>
        <p:spPr bwMode="auto">
          <a:xfrm>
            <a:off x="7254185" y="3691508"/>
            <a:ext cx="3774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2000">
                <a:latin typeface="Courier" charset="0"/>
                <a:ea typeface="Courier" charset="0"/>
                <a:cs typeface="Courier" charset="0"/>
              </a:rPr>
              <a:t>2</a:t>
            </a:r>
            <a:endParaRPr lang="it-IT" sz="20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51" name="Text Box 31"/>
          <p:cNvSpPr txBox="1">
            <a:spLocks noChangeArrowheads="1"/>
          </p:cNvSpPr>
          <p:nvPr/>
        </p:nvSpPr>
        <p:spPr bwMode="auto">
          <a:xfrm>
            <a:off x="7015789" y="4308753"/>
            <a:ext cx="36591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2000">
                <a:latin typeface="Courier" charset="0"/>
                <a:ea typeface="Courier" charset="0"/>
                <a:cs typeface="Courier" charset="0"/>
              </a:rPr>
              <a:t>6</a:t>
            </a:r>
            <a:endParaRPr lang="it-IT" sz="20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52" name="Freeform 32"/>
          <p:cNvSpPr>
            <a:spLocks/>
          </p:cNvSpPr>
          <p:nvPr/>
        </p:nvSpPr>
        <p:spPr bwMode="auto">
          <a:xfrm flipV="1">
            <a:off x="7475980" y="2123402"/>
            <a:ext cx="458788" cy="565150"/>
          </a:xfrm>
          <a:custGeom>
            <a:avLst/>
            <a:gdLst>
              <a:gd name="T0" fmla="*/ 2147483647 w 289"/>
              <a:gd name="T1" fmla="*/ 2147483647 h 356"/>
              <a:gd name="T2" fmla="*/ 2147483647 w 289"/>
              <a:gd name="T3" fmla="*/ 2147483647 h 356"/>
              <a:gd name="T4" fmla="*/ 0 w 289"/>
              <a:gd name="T5" fmla="*/ 2147483647 h 356"/>
              <a:gd name="T6" fmla="*/ 0 60000 65536"/>
              <a:gd name="T7" fmla="*/ 0 60000 65536"/>
              <a:gd name="T8" fmla="*/ 0 60000 65536"/>
              <a:gd name="T9" fmla="*/ 0 w 289"/>
              <a:gd name="T10" fmla="*/ 0 h 356"/>
              <a:gd name="T11" fmla="*/ 289 w 289"/>
              <a:gd name="T12" fmla="*/ 356 h 3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56">
                <a:moveTo>
                  <a:pt x="113" y="356"/>
                </a:moveTo>
                <a:cubicBezTo>
                  <a:pt x="139" y="305"/>
                  <a:pt x="289" y="102"/>
                  <a:pt x="270" y="51"/>
                </a:cubicBezTo>
                <a:cubicBezTo>
                  <a:pt x="251" y="0"/>
                  <a:pt x="56" y="51"/>
                  <a:pt x="0" y="51"/>
                </a:cubicBezTo>
              </a:path>
            </a:pathLst>
          </a:custGeom>
          <a:ln>
            <a:headE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200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53" name="Freeform 33"/>
          <p:cNvSpPr>
            <a:spLocks/>
          </p:cNvSpPr>
          <p:nvPr/>
        </p:nvSpPr>
        <p:spPr bwMode="auto">
          <a:xfrm flipV="1">
            <a:off x="7475980" y="2752052"/>
            <a:ext cx="458788" cy="565150"/>
          </a:xfrm>
          <a:custGeom>
            <a:avLst/>
            <a:gdLst>
              <a:gd name="T0" fmla="*/ 2147483647 w 289"/>
              <a:gd name="T1" fmla="*/ 2147483647 h 356"/>
              <a:gd name="T2" fmla="*/ 2147483647 w 289"/>
              <a:gd name="T3" fmla="*/ 2147483647 h 356"/>
              <a:gd name="T4" fmla="*/ 0 w 289"/>
              <a:gd name="T5" fmla="*/ 2147483647 h 356"/>
              <a:gd name="T6" fmla="*/ 0 60000 65536"/>
              <a:gd name="T7" fmla="*/ 0 60000 65536"/>
              <a:gd name="T8" fmla="*/ 0 60000 65536"/>
              <a:gd name="T9" fmla="*/ 0 w 289"/>
              <a:gd name="T10" fmla="*/ 0 h 356"/>
              <a:gd name="T11" fmla="*/ 289 w 289"/>
              <a:gd name="T12" fmla="*/ 356 h 3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56">
                <a:moveTo>
                  <a:pt x="113" y="356"/>
                </a:moveTo>
                <a:cubicBezTo>
                  <a:pt x="139" y="305"/>
                  <a:pt x="289" y="102"/>
                  <a:pt x="270" y="51"/>
                </a:cubicBezTo>
                <a:cubicBezTo>
                  <a:pt x="251" y="0"/>
                  <a:pt x="56" y="51"/>
                  <a:pt x="0" y="51"/>
                </a:cubicBezTo>
              </a:path>
            </a:pathLst>
          </a:custGeom>
          <a:ln>
            <a:headE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200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54" name="Freeform 34"/>
          <p:cNvSpPr>
            <a:spLocks/>
          </p:cNvSpPr>
          <p:nvPr/>
        </p:nvSpPr>
        <p:spPr bwMode="auto">
          <a:xfrm flipV="1">
            <a:off x="7475980" y="3380702"/>
            <a:ext cx="458788" cy="565150"/>
          </a:xfrm>
          <a:custGeom>
            <a:avLst/>
            <a:gdLst>
              <a:gd name="T0" fmla="*/ 2147483647 w 289"/>
              <a:gd name="T1" fmla="*/ 2147483647 h 356"/>
              <a:gd name="T2" fmla="*/ 2147483647 w 289"/>
              <a:gd name="T3" fmla="*/ 2147483647 h 356"/>
              <a:gd name="T4" fmla="*/ 0 w 289"/>
              <a:gd name="T5" fmla="*/ 2147483647 h 356"/>
              <a:gd name="T6" fmla="*/ 0 60000 65536"/>
              <a:gd name="T7" fmla="*/ 0 60000 65536"/>
              <a:gd name="T8" fmla="*/ 0 60000 65536"/>
              <a:gd name="T9" fmla="*/ 0 w 289"/>
              <a:gd name="T10" fmla="*/ 0 h 356"/>
              <a:gd name="T11" fmla="*/ 289 w 289"/>
              <a:gd name="T12" fmla="*/ 356 h 3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56">
                <a:moveTo>
                  <a:pt x="113" y="356"/>
                </a:moveTo>
                <a:cubicBezTo>
                  <a:pt x="139" y="305"/>
                  <a:pt x="289" y="102"/>
                  <a:pt x="270" y="51"/>
                </a:cubicBezTo>
                <a:cubicBezTo>
                  <a:pt x="251" y="0"/>
                  <a:pt x="56" y="51"/>
                  <a:pt x="0" y="51"/>
                </a:cubicBezTo>
              </a:path>
            </a:pathLst>
          </a:custGeom>
          <a:ln>
            <a:headE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200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55" name="Freeform 35"/>
          <p:cNvSpPr>
            <a:spLocks/>
          </p:cNvSpPr>
          <p:nvPr/>
        </p:nvSpPr>
        <p:spPr bwMode="auto">
          <a:xfrm flipV="1">
            <a:off x="7475980" y="3966489"/>
            <a:ext cx="458788" cy="565150"/>
          </a:xfrm>
          <a:custGeom>
            <a:avLst/>
            <a:gdLst>
              <a:gd name="T0" fmla="*/ 2147483647 w 289"/>
              <a:gd name="T1" fmla="*/ 2147483647 h 356"/>
              <a:gd name="T2" fmla="*/ 2147483647 w 289"/>
              <a:gd name="T3" fmla="*/ 2147483647 h 356"/>
              <a:gd name="T4" fmla="*/ 0 w 289"/>
              <a:gd name="T5" fmla="*/ 2147483647 h 356"/>
              <a:gd name="T6" fmla="*/ 0 60000 65536"/>
              <a:gd name="T7" fmla="*/ 0 60000 65536"/>
              <a:gd name="T8" fmla="*/ 0 60000 65536"/>
              <a:gd name="T9" fmla="*/ 0 w 289"/>
              <a:gd name="T10" fmla="*/ 0 h 356"/>
              <a:gd name="T11" fmla="*/ 289 w 289"/>
              <a:gd name="T12" fmla="*/ 356 h 3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56">
                <a:moveTo>
                  <a:pt x="113" y="356"/>
                </a:moveTo>
                <a:cubicBezTo>
                  <a:pt x="139" y="305"/>
                  <a:pt x="289" y="102"/>
                  <a:pt x="270" y="51"/>
                </a:cubicBezTo>
                <a:cubicBezTo>
                  <a:pt x="251" y="0"/>
                  <a:pt x="56" y="51"/>
                  <a:pt x="0" y="51"/>
                </a:cubicBezTo>
              </a:path>
            </a:pathLst>
          </a:custGeom>
          <a:ln>
            <a:headE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200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56" name="Line 36"/>
          <p:cNvSpPr>
            <a:spLocks noChangeShapeType="1"/>
          </p:cNvSpPr>
          <p:nvPr/>
        </p:nvSpPr>
        <p:spPr bwMode="auto">
          <a:xfrm flipV="1">
            <a:off x="5618605" y="1709064"/>
            <a:ext cx="2246313" cy="4175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200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57" name="Line 37"/>
          <p:cNvSpPr>
            <a:spLocks noChangeShapeType="1"/>
          </p:cNvSpPr>
          <p:nvPr/>
        </p:nvSpPr>
        <p:spPr bwMode="auto">
          <a:xfrm flipV="1">
            <a:off x="5618605" y="3525164"/>
            <a:ext cx="2246313" cy="4175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200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58" name="Line 38"/>
          <p:cNvSpPr>
            <a:spLocks noChangeShapeType="1"/>
          </p:cNvSpPr>
          <p:nvPr/>
        </p:nvSpPr>
        <p:spPr bwMode="auto">
          <a:xfrm flipV="1">
            <a:off x="5618605" y="2309139"/>
            <a:ext cx="2246313" cy="4175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200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01159" name="Line 39"/>
          <p:cNvSpPr>
            <a:spLocks noChangeShapeType="1"/>
          </p:cNvSpPr>
          <p:nvPr/>
        </p:nvSpPr>
        <p:spPr bwMode="auto">
          <a:xfrm flipV="1">
            <a:off x="5618605" y="2933027"/>
            <a:ext cx="2246313" cy="41751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sz="2000"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0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0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0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0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0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0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0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01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01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90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01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01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90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01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01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90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01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01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90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29" grpId="0" autoUpdateAnimBg="0"/>
      <p:bldP spid="901130" grpId="0" animBg="1"/>
      <p:bldP spid="901143" grpId="0" animBg="1" autoUpdateAnimBg="0"/>
      <p:bldP spid="901144" grpId="0" animBg="1" autoUpdateAnimBg="0"/>
      <p:bldP spid="901145" grpId="0" animBg="1" autoUpdateAnimBg="0"/>
      <p:bldP spid="901146" grpId="0" animBg="1" autoUpdateAnimBg="0"/>
      <p:bldP spid="901147" grpId="0" animBg="1" autoUpdateAnimBg="0"/>
      <p:bldP spid="901148" grpId="0" autoUpdateAnimBg="0"/>
      <p:bldP spid="901149" grpId="0" autoUpdateAnimBg="0"/>
      <p:bldP spid="901150" grpId="0" autoUpdateAnimBg="0"/>
      <p:bldP spid="901151" grpId="0" autoUpdateAnimBg="0"/>
      <p:bldP spid="901152" grpId="0" animBg="1"/>
      <p:bldP spid="901153" grpId="0" animBg="1"/>
      <p:bldP spid="901154" grpId="0" animBg="1"/>
      <p:bldP spid="901155" grpId="0" animBg="1"/>
      <p:bldP spid="901156" grpId="0" animBg="1"/>
      <p:bldP spid="901157" grpId="0" animBg="1"/>
      <p:bldP spid="901158" grpId="0" animBg="1"/>
      <p:bldP spid="90115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Terminazione (ancora!)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 smtClean="0"/>
              <a:t>Attenzione al rischio di catene infinite di chiamate</a:t>
            </a:r>
          </a:p>
          <a:p>
            <a:endParaRPr lang="it-IT" dirty="0" smtClean="0"/>
          </a:p>
          <a:p>
            <a:r>
              <a:rPr lang="it-IT" dirty="0" smtClean="0"/>
              <a:t>Occorre che le chiamate siano soggette a una condizione che assicura che prima o poi la catena termini</a:t>
            </a:r>
          </a:p>
          <a:p>
            <a:endParaRPr lang="it-IT" dirty="0" smtClean="0"/>
          </a:p>
          <a:p>
            <a:r>
              <a:rPr lang="it-IT" dirty="0" smtClean="0"/>
              <a:t>Occorre anche che l'argomento sia “progressivamente ridotto” dal passo induttivo</a:t>
            </a:r>
          </a:p>
          <a:p>
            <a:pPr lvl="1"/>
            <a:r>
              <a:rPr lang="it-IT" dirty="0"/>
              <a:t>I</a:t>
            </a:r>
            <a:r>
              <a:rPr lang="it-IT" dirty="0" smtClean="0"/>
              <a:t>n modo da tendere prima o poi al caso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7DB7-5B88-4CAF-8B8B-A6061C188EDB}" type="slidenum">
              <a:rPr lang="it-IT" smtClean="0"/>
              <a:pPr/>
              <a:t>23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Esempio: lunghezza stringhe</a:t>
            </a:r>
            <a:endParaRPr lang="it-IT" dirty="0" smtClean="0"/>
          </a:p>
        </p:txBody>
      </p:sp>
      <p:sp>
        <p:nvSpPr>
          <p:cNvPr id="935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 smtClean="0"/>
              <a:t>Soluzione iterativa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lunghezzaI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s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[]) {</a:t>
            </a:r>
          </a:p>
          <a:p>
            <a:pPr marL="0" indent="0">
              <a:buNone/>
            </a:pPr>
            <a:r>
              <a:rPr lang="it-IT" sz="29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 i = 0;</a:t>
            </a:r>
          </a:p>
          <a:p>
            <a:pPr marL="0" indent="0">
              <a:buNone/>
            </a:pPr>
            <a:r>
              <a:rPr lang="it-IT" sz="29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while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 ( 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s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[ i ] != '\0' )</a:t>
            </a:r>
          </a:p>
          <a:p>
            <a:pPr marL="0" indent="0">
              <a:buNone/>
            </a:pPr>
            <a:r>
              <a:rPr lang="it-IT" sz="29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		i++;</a:t>
            </a:r>
          </a:p>
          <a:p>
            <a:pPr marL="0" indent="0">
              <a:buNone/>
            </a:pP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 i;</a:t>
            </a:r>
          </a:p>
          <a:p>
            <a:pPr marL="0" indent="0">
              <a:buNone/>
            </a:pPr>
            <a:r>
              <a:rPr lang="it-IT" sz="29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  <a:p>
            <a:pPr marL="0" indent="0">
              <a:buNone/>
            </a:pPr>
            <a:endParaRPr lang="it-IT" dirty="0" smtClean="0"/>
          </a:p>
          <a:p>
            <a:pPr marL="0" indent="0">
              <a:buNone/>
            </a:pPr>
            <a:r>
              <a:rPr lang="it-IT" dirty="0" smtClean="0"/>
              <a:t>Soluzione ricorsiva</a:t>
            </a:r>
          </a:p>
          <a:p>
            <a:pPr marL="0" indent="0">
              <a:buNone/>
            </a:pPr>
            <a:r>
              <a:rPr lang="it-IT" dirty="0" smtClean="0"/>
              <a:t> </a:t>
            </a:r>
            <a:r>
              <a:rPr lang="it-IT" dirty="0"/>
              <a:t>	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9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lunghezzaR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s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) {</a:t>
            </a:r>
          </a:p>
          <a:p>
            <a:pPr marL="0" indent="0">
              <a:buNone/>
            </a:pPr>
            <a:r>
              <a:rPr lang="it-IT" sz="29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 (*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s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 == '\0') 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 0;</a:t>
            </a:r>
          </a:p>
          <a:p>
            <a:pPr marL="0" indent="0">
              <a:buNone/>
            </a:pP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		else 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 1 + </a:t>
            </a:r>
            <a:r>
              <a:rPr lang="it-IT" sz="2900" dirty="0" err="1" smtClean="0">
                <a:latin typeface="Courier" charset="0"/>
                <a:ea typeface="Courier" charset="0"/>
                <a:cs typeface="Courier" charset="0"/>
              </a:rPr>
              <a:t>lunghezzaR</a:t>
            </a: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(s+1);</a:t>
            </a:r>
          </a:p>
          <a:p>
            <a:pPr marL="0" indent="0">
              <a:buNone/>
            </a:pPr>
            <a:r>
              <a:rPr lang="it-IT" sz="2900" dirty="0" smtClean="0">
                <a:latin typeface="Courier" charset="0"/>
                <a:ea typeface="Courier" charset="0"/>
                <a:cs typeface="Courier" charset="0"/>
              </a:rPr>
              <a:t>	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70B1D-056B-4E60-A1FD-F9C888F412CD}" type="slidenum">
              <a:rPr lang="it-IT" smtClean="0"/>
              <a:pPr/>
              <a:t>24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Le parole palindrome</a:t>
            </a:r>
            <a:endParaRPr lang="it-IT" dirty="0" smtClean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 smtClean="0"/>
              <a:t>Palindromo è una parola che si può leggere indifferentemente da destra a sinistra e viceversa</a:t>
            </a:r>
          </a:p>
          <a:p>
            <a:endParaRPr lang="it-IT" dirty="0" smtClean="0"/>
          </a:p>
          <a:p>
            <a:r>
              <a:rPr lang="it-IT" dirty="0" smtClean="0"/>
              <a:t>Tutte le parole di un solo carattere sono considerate palindrome </a:t>
            </a:r>
          </a:p>
          <a:p>
            <a:pPr lvl="1"/>
            <a:r>
              <a:rPr lang="it-IT" dirty="0" smtClean="0"/>
              <a:t>"a" -&gt; sì</a:t>
            </a:r>
          </a:p>
          <a:p>
            <a:pPr lvl="1"/>
            <a:r>
              <a:rPr lang="it-IT" dirty="0" smtClean="0"/>
              <a:t>"</a:t>
            </a:r>
            <a:r>
              <a:rPr lang="it-IT" dirty="0" err="1" smtClean="0"/>
              <a:t>db</a:t>
            </a:r>
            <a:r>
              <a:rPr lang="it-IT" dirty="0" smtClean="0"/>
              <a:t>" -&gt; no </a:t>
            </a:r>
          </a:p>
          <a:p>
            <a:pPr lvl="1"/>
            <a:r>
              <a:rPr lang="it-IT" dirty="0" smtClean="0"/>
              <a:t>"Anna" -&gt; no			(Se l'analisi è case insensitive)</a:t>
            </a:r>
          </a:p>
          <a:p>
            <a:pPr lvl="1"/>
            <a:r>
              <a:rPr lang="it-IT" dirty="0" smtClean="0"/>
              <a:t>"anno" -&gt; no</a:t>
            </a:r>
          </a:p>
          <a:p>
            <a:pPr lvl="1"/>
            <a:r>
              <a:rPr lang="it-IT" dirty="0" smtClean="0"/>
              <a:t>"anilina" -&gt; sì</a:t>
            </a:r>
          </a:p>
          <a:p>
            <a:pPr lvl="1"/>
            <a:r>
              <a:rPr lang="it-IT" dirty="0" smtClean="0"/>
              <a:t>“restereste” -&gt; no		(Anche se composta di due metà “uguali”)</a:t>
            </a:r>
          </a:p>
          <a:p>
            <a:pPr lvl="1"/>
            <a:r>
              <a:rPr lang="it-IT" dirty="0" smtClean="0"/>
              <a:t>"onorarono" -&gt; sì</a:t>
            </a:r>
          </a:p>
          <a:p>
            <a:pPr lvl="1"/>
            <a:r>
              <a:rPr lang="it-IT" dirty="0" smtClean="0"/>
              <a:t>"</a:t>
            </a:r>
            <a:r>
              <a:rPr lang="it-IT" dirty="0" err="1" smtClean="0"/>
              <a:t>lagerregal</a:t>
            </a:r>
            <a:r>
              <a:rPr lang="it-IT" dirty="0" smtClean="0"/>
              <a:t>" -&gt; sì			(Scaffale del magazzino, in tedesco)</a:t>
            </a:r>
          </a:p>
          <a:p>
            <a:pPr lvl="1"/>
            <a:r>
              <a:rPr lang="it-IT" dirty="0" smtClean="0"/>
              <a:t>"</a:t>
            </a:r>
            <a:r>
              <a:rPr lang="en-US" dirty="0" err="1" smtClean="0"/>
              <a:t>saippuakivikauppias</a:t>
            </a:r>
            <a:r>
              <a:rPr lang="it-IT" dirty="0" smtClean="0"/>
              <a:t>" -&gt; sì 	(</a:t>
            </a:r>
            <a:r>
              <a:rPr lang="it-IT" dirty="0"/>
              <a:t>M</a:t>
            </a:r>
            <a:r>
              <a:rPr lang="it-IT" dirty="0" smtClean="0"/>
              <a:t>ercante di steatite, in finlandese)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6522A-F3DC-4806-8351-ED3E3FA54A20}" type="slidenum">
              <a:rPr lang="it-IT" smtClean="0"/>
              <a:pPr/>
              <a:t>25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Esercizio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 smtClean="0"/>
              <a:t>Si scriva un programma che memorizza in un array di caratteri una parola letta da </a:t>
            </a:r>
            <a:r>
              <a:rPr lang="it-IT" dirty="0" err="1" smtClean="0"/>
              <a:t>stdin</a:t>
            </a:r>
            <a:r>
              <a:rPr lang="it-IT" dirty="0" smtClean="0"/>
              <a:t> e verifica se la parola è o non è palindroma</a:t>
            </a:r>
          </a:p>
          <a:p>
            <a:endParaRPr lang="it-IT" dirty="0" smtClean="0"/>
          </a:p>
          <a:p>
            <a:r>
              <a:rPr lang="it-IT" sz="31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3100" dirty="0" smtClean="0">
                <a:latin typeface="Courier" charset="0"/>
                <a:ea typeface="Courier" charset="0"/>
                <a:cs typeface="Courier" charset="0"/>
              </a:rPr>
              <a:t> palindromo(</a:t>
            </a:r>
            <a:r>
              <a:rPr lang="it-IT" sz="3100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sz="3100" dirty="0" smtClean="0">
                <a:latin typeface="Courier" charset="0"/>
                <a:ea typeface="Courier" charset="0"/>
                <a:cs typeface="Courier" charset="0"/>
              </a:rPr>
              <a:t> parola[], ...)</a:t>
            </a:r>
          </a:p>
          <a:p>
            <a:pPr lvl="1"/>
            <a:r>
              <a:rPr lang="it-IT" dirty="0" smtClean="0"/>
              <a:t>Restituisce 1 o 0</a:t>
            </a:r>
          </a:p>
          <a:p>
            <a:pPr lvl="1"/>
            <a:r>
              <a:rPr lang="it-IT" dirty="0" smtClean="0"/>
              <a:t>Si chiede, in particolare, di farne una versione iterativa e una versione ricorsiva</a:t>
            </a:r>
          </a:p>
          <a:p>
            <a:endParaRPr lang="it-IT" dirty="0" smtClean="0"/>
          </a:p>
          <a:p>
            <a:r>
              <a:rPr lang="it-IT" dirty="0" smtClean="0"/>
              <a:t>Versione iterativa: confronto tra tutte le coppie di lettere simmetriche rispetto al "centro"</a:t>
            </a:r>
          </a:p>
          <a:p>
            <a:pPr lvl="1"/>
            <a:r>
              <a:rPr lang="it-IT" dirty="0"/>
              <a:t>A</a:t>
            </a:r>
            <a:r>
              <a:rPr lang="it-IT" dirty="0" smtClean="0"/>
              <a:t>ttenzione, la parola può avere un numero pari o dispari di caratteri </a:t>
            </a:r>
          </a:p>
          <a:p>
            <a:endParaRPr lang="it-IT" dirty="0" smtClean="0"/>
          </a:p>
          <a:p>
            <a:r>
              <a:rPr lang="it-IT" dirty="0" smtClean="0"/>
              <a:t>Versione ricorsiva: un palindromo è tale se </a:t>
            </a:r>
            <a:r>
              <a:rPr lang="is-IS" dirty="0" smtClean="0"/>
              <a:t>…</a:t>
            </a:r>
            <a:endParaRPr lang="it-IT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3F823-AFAD-4F33-B1B8-523009F19F49}" type="slidenum">
              <a:rPr lang="it-IT" smtClean="0"/>
              <a:pPr/>
              <a:t>26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Palindromi in versione ricorsiva</a:t>
            </a:r>
            <a:endParaRPr lang="it-IT" dirty="0" smtClean="0"/>
          </a:p>
        </p:txBody>
      </p:sp>
      <p:sp>
        <p:nvSpPr>
          <p:cNvPr id="919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Un palindromo è tale se:</a:t>
            </a:r>
          </a:p>
          <a:p>
            <a:pPr lvl="1"/>
            <a:r>
              <a:rPr lang="it-IT" dirty="0"/>
              <a:t>L</a:t>
            </a:r>
            <a:r>
              <a:rPr lang="it-IT" dirty="0" smtClean="0"/>
              <a:t>a parola è di lunghezza 0 o 1, oppure</a:t>
            </a:r>
          </a:p>
          <a:p>
            <a:pPr lvl="1"/>
            <a:r>
              <a:rPr lang="it-IT" dirty="0"/>
              <a:t>I</a:t>
            </a:r>
            <a:r>
              <a:rPr lang="it-IT" dirty="0" smtClean="0"/>
              <a:t>l primo e l'ultimo carattere della parola sono uguali e inoltre la sotto-parola che si ottiene ignorando i caratteri estremi è a sua volta un palindromo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83A3-EE54-44D1-B5BB-B09EC2336872}" type="slidenum">
              <a:rPr lang="it-IT" smtClean="0"/>
              <a:pPr/>
              <a:t>27</a:t>
            </a:fld>
            <a:endParaRPr lang="it-IT"/>
          </a:p>
        </p:txBody>
      </p:sp>
      <p:sp>
        <p:nvSpPr>
          <p:cNvPr id="919556" name="Text Box 4"/>
          <p:cNvSpPr txBox="1">
            <a:spLocks noChangeArrowheads="1"/>
          </p:cNvSpPr>
          <p:nvPr/>
        </p:nvSpPr>
        <p:spPr bwMode="auto">
          <a:xfrm>
            <a:off x="1421149" y="5080130"/>
            <a:ext cx="3815086" cy="83099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2400" i="1" dirty="0">
                <a:solidFill>
                  <a:srgbClr val="001AFF"/>
                </a:solidFill>
                <a:latin typeface="+mn-lt"/>
                <a:ea typeface="Courier" charset="0"/>
                <a:cs typeface="Courier" charset="0"/>
              </a:rPr>
              <a:t>Il passo induttivo riduce la dimensione del </a:t>
            </a:r>
            <a:r>
              <a:rPr lang="it-IT" sz="2400" i="1" dirty="0" smtClean="0">
                <a:solidFill>
                  <a:srgbClr val="001AFF"/>
                </a:solidFill>
                <a:latin typeface="+mn-lt"/>
                <a:ea typeface="Courier" charset="0"/>
                <a:cs typeface="Courier" charset="0"/>
              </a:rPr>
              <a:t>problema!</a:t>
            </a:r>
            <a:endParaRPr lang="it-IT" sz="2400" i="1" dirty="0">
              <a:solidFill>
                <a:srgbClr val="001AFF"/>
              </a:solidFill>
              <a:latin typeface="+mn-lt"/>
              <a:ea typeface="Courier" charset="0"/>
              <a:cs typeface="Courier" charset="0"/>
            </a:endParaRPr>
          </a:p>
        </p:txBody>
      </p:sp>
      <p:sp>
        <p:nvSpPr>
          <p:cNvPr id="29702" name="Text Box 5"/>
          <p:cNvSpPr txBox="1">
            <a:spLocks noChangeArrowheads="1"/>
          </p:cNvSpPr>
          <p:nvPr/>
        </p:nvSpPr>
        <p:spPr bwMode="auto">
          <a:xfrm>
            <a:off x="6967267" y="2073921"/>
            <a:ext cx="1571625" cy="457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2400" i="1" dirty="0">
                <a:solidFill>
                  <a:srgbClr val="001AFF"/>
                </a:solidFill>
                <a:latin typeface="+mn-lt"/>
              </a:rPr>
              <a:t>Caso base</a:t>
            </a:r>
          </a:p>
        </p:txBody>
      </p:sp>
      <p:sp>
        <p:nvSpPr>
          <p:cNvPr id="919558" name="Text Box 6"/>
          <p:cNvSpPr txBox="1">
            <a:spLocks noChangeArrowheads="1"/>
          </p:cNvSpPr>
          <p:nvPr/>
        </p:nvSpPr>
        <p:spPr bwMode="auto">
          <a:xfrm>
            <a:off x="5786167" y="4100042"/>
            <a:ext cx="2752725" cy="457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it-IT" sz="2400" i="1" dirty="0">
                <a:solidFill>
                  <a:srgbClr val="001AFF"/>
                </a:solidFill>
              </a:rPr>
              <a:t>Passo induttivo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9556" grpId="0" animBg="1"/>
      <p:bldP spid="91955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Palindromi in versione ricorsiva</a:t>
            </a:r>
            <a:endParaRPr lang="it-IT" dirty="0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palindromoR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 par[], </a:t>
            </a: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 da, </a:t>
            </a: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 a) {</a:t>
            </a:r>
          </a:p>
          <a:p>
            <a:pPr marL="0" indent="0">
              <a:buNone/>
            </a:pP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 (da &gt;= a)</a:t>
            </a:r>
          </a:p>
          <a:p>
            <a:pPr marL="0" indent="0">
              <a:buNone/>
            </a:pPr>
            <a:r>
              <a:rPr lang="it-IT" sz="22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 1;</a:t>
            </a:r>
          </a:p>
          <a:p>
            <a:pPr marL="0" indent="0">
              <a:buNone/>
            </a:pP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	else</a:t>
            </a:r>
          </a:p>
          <a:p>
            <a:pPr marL="0" indent="0">
              <a:buNone/>
            </a:pPr>
            <a:r>
              <a:rPr lang="it-IT" sz="22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 (par[da] == par[a] &amp;&amp; </a:t>
            </a:r>
          </a:p>
          <a:p>
            <a:pPr marL="0" indent="0">
              <a:buNone/>
            </a:pP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	       		</a:t>
            </a: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palindromoR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(par, da+1, a-1));</a:t>
            </a:r>
          </a:p>
          <a:p>
            <a:pPr marL="0" indent="0">
              <a:buNone/>
            </a:pP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5F7EB-1190-49D5-8428-4C9AA6C2F657}" type="slidenum">
              <a:rPr lang="it-IT" smtClean="0"/>
              <a:pPr/>
              <a:t>28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Palindromi ricorsivi: variante</a:t>
            </a:r>
          </a:p>
        </p:txBody>
      </p:sp>
      <p:sp>
        <p:nvSpPr>
          <p:cNvPr id="32771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palindromoR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par[], 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da, 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a)</a:t>
            </a: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{</a:t>
            </a:r>
          </a:p>
          <a:p>
            <a:pPr marL="0" indent="0">
              <a:buNone/>
            </a:pP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(da &gt;= a)</a:t>
            </a:r>
          </a:p>
          <a:p>
            <a:pPr marL="0" indent="0">
              <a:buNone/>
            </a:pP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1;</a:t>
            </a:r>
          </a:p>
          <a:p>
            <a:pPr marL="0" indent="0">
              <a:buNone/>
            </a:pP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	else</a:t>
            </a:r>
          </a:p>
          <a:p>
            <a:pPr marL="0" indent="0">
              <a:buNone/>
            </a:pP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palindromoR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(par, da+1, a-1) </a:t>
            </a:r>
          </a:p>
          <a:p>
            <a:pPr marL="0" indent="0">
              <a:buNone/>
            </a:pP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				&amp;&amp; par[da] == par[a]);</a:t>
            </a:r>
          </a:p>
          <a:p>
            <a:pPr marL="0" indent="0">
              <a:buNone/>
            </a:pP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  <a:p>
            <a:endParaRPr lang="it-IT" dirty="0" smtClean="0"/>
          </a:p>
          <a:p>
            <a:r>
              <a:rPr lang="it-IT" dirty="0" smtClean="0"/>
              <a:t>Qual è la differenza?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138D-73E9-48FC-8C42-2B0EA19178DE}" type="slidenum">
              <a:rPr lang="it-IT" smtClean="0"/>
              <a:pPr/>
              <a:t>29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Attenzione</a:t>
            </a:r>
            <a:endParaRPr lang="it-IT" dirty="0" smtClean="0"/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2937293"/>
          </a:xfrm>
        </p:spPr>
        <p:txBody>
          <a:bodyPr>
            <a:normAutofit fontScale="92500" lnSpcReduction="20000"/>
          </a:bodyPr>
          <a:lstStyle/>
          <a:p>
            <a:r>
              <a:rPr lang="it-IT" dirty="0" smtClean="0"/>
              <a:t>Come si fa la prima chiamata?</a:t>
            </a:r>
          </a:p>
          <a:p>
            <a:endParaRPr lang="it-IT" dirty="0" smtClean="0"/>
          </a:p>
          <a:p>
            <a:r>
              <a:rPr lang="it-IT" dirty="0" smtClean="0"/>
              <a:t>Si suppone che il chiamante conosca (o calcoli) la lunghezza della stringa.</a:t>
            </a:r>
          </a:p>
          <a:p>
            <a:pPr lvl="1"/>
            <a:r>
              <a:rPr lang="it-IT" dirty="0" smtClean="0"/>
              <a:t>Esempio: </a:t>
            </a:r>
            <a:r>
              <a:rPr lang="it-IT" dirty="0" err="1" smtClean="0"/>
              <a:t>palindromoR</a:t>
            </a:r>
            <a:r>
              <a:rPr lang="it-IT" dirty="0" smtClean="0"/>
              <a:t>("oro", 0, 2)</a:t>
            </a:r>
          </a:p>
          <a:p>
            <a:pPr lvl="1"/>
            <a:r>
              <a:rPr lang="it-IT" dirty="0"/>
              <a:t>O</a:t>
            </a:r>
            <a:r>
              <a:rPr lang="it-IT" dirty="0" smtClean="0"/>
              <a:t>ppure: </a:t>
            </a:r>
            <a:r>
              <a:rPr lang="it-IT" dirty="0" err="1" smtClean="0"/>
              <a:t>palindromoR</a:t>
            </a:r>
            <a:r>
              <a:rPr lang="it-IT" dirty="0" smtClean="0"/>
              <a:t>(</a:t>
            </a:r>
            <a:r>
              <a:rPr lang="it-IT" dirty="0" err="1" smtClean="0"/>
              <a:t>str</a:t>
            </a:r>
            <a:r>
              <a:rPr lang="it-IT" dirty="0" smtClean="0"/>
              <a:t>, 0, </a:t>
            </a:r>
            <a:r>
              <a:rPr lang="it-IT" dirty="0" err="1" smtClean="0"/>
              <a:t>strlen</a:t>
            </a:r>
            <a:r>
              <a:rPr lang="it-IT" dirty="0" smtClean="0"/>
              <a:t>(</a:t>
            </a:r>
            <a:r>
              <a:rPr lang="it-IT" dirty="0" err="1" smtClean="0"/>
              <a:t>str</a:t>
            </a:r>
            <a:r>
              <a:rPr lang="it-IT" dirty="0" smtClean="0"/>
              <a:t>)-1)</a:t>
            </a:r>
          </a:p>
          <a:p>
            <a:pPr lvl="1"/>
            <a:r>
              <a:rPr lang="it-IT" dirty="0"/>
              <a:t>O</a:t>
            </a:r>
            <a:r>
              <a:rPr lang="it-IT" dirty="0" smtClean="0"/>
              <a:t>ppure ancora…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9E37F-AB9F-4B81-81A2-AB63531FB96A}" type="slidenum">
              <a:rPr lang="it-IT" smtClean="0"/>
              <a:pPr/>
              <a:t>30</a:t>
            </a:fld>
            <a:endParaRPr lang="it-IT"/>
          </a:p>
        </p:txBody>
      </p:sp>
      <p:sp>
        <p:nvSpPr>
          <p:cNvPr id="954372" name="Text Box 4"/>
          <p:cNvSpPr txBox="1">
            <a:spLocks noChangeArrowheads="1"/>
          </p:cNvSpPr>
          <p:nvPr/>
        </p:nvSpPr>
        <p:spPr bwMode="auto">
          <a:xfrm>
            <a:off x="590909" y="4617412"/>
            <a:ext cx="7962181" cy="17389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it-IT" sz="2400" dirty="0" smtClean="0">
                <a:latin typeface="+mn-lt"/>
                <a:ea typeface="Courier" charset="0"/>
                <a:cs typeface="Courier" charset="0"/>
              </a:rPr>
              <a:t>Introduciamo un'altra funzione:</a:t>
            </a:r>
          </a:p>
          <a:p>
            <a:pPr algn="l"/>
            <a:endParaRPr lang="pt-BR" sz="1100" dirty="0"/>
          </a:p>
          <a:p>
            <a:pPr algn="l"/>
            <a:r>
              <a:rPr lang="pt-BR" sz="2400" dirty="0">
                <a:latin typeface="Courier" charset="0"/>
                <a:ea typeface="Courier" charset="0"/>
                <a:cs typeface="Courier" charset="0"/>
              </a:rPr>
              <a:t>int palindromo(char *s) {</a:t>
            </a:r>
          </a:p>
          <a:p>
            <a:pPr algn="l"/>
            <a:r>
              <a:rPr lang="pt-BR" sz="2400" dirty="0">
                <a:latin typeface="Courier" charset="0"/>
                <a:ea typeface="Courier" charset="0"/>
                <a:cs typeface="Courier" charset="0"/>
              </a:rPr>
              <a:t>    return palindromoR(s, </a:t>
            </a:r>
            <a:r>
              <a:rPr lang="pt-BR" sz="2400" dirty="0" smtClean="0">
                <a:latin typeface="Courier" charset="0"/>
                <a:ea typeface="Courier" charset="0"/>
                <a:cs typeface="Courier" charset="0"/>
              </a:rPr>
              <a:t>0, </a:t>
            </a:r>
            <a:r>
              <a:rPr lang="pt-BR" sz="2400" dirty="0" err="1" smtClean="0">
                <a:latin typeface="Courier" charset="0"/>
                <a:ea typeface="Courier" charset="0"/>
                <a:cs typeface="Courier" charset="0"/>
              </a:rPr>
              <a:t>strlen</a:t>
            </a:r>
            <a:r>
              <a:rPr lang="pt-BR" sz="2400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pt-BR" sz="2400" dirty="0" err="1" smtClean="0">
                <a:latin typeface="Courier" charset="0"/>
                <a:ea typeface="Courier" charset="0"/>
                <a:cs typeface="Courier" charset="0"/>
              </a:rPr>
              <a:t>s</a:t>
            </a:r>
            <a:r>
              <a:rPr lang="pt-BR" sz="2400" dirty="0">
                <a:latin typeface="Courier" charset="0"/>
                <a:ea typeface="Courier" charset="0"/>
                <a:cs typeface="Courier" charset="0"/>
              </a:rPr>
              <a:t>)-1);</a:t>
            </a:r>
          </a:p>
          <a:p>
            <a:pPr algn="l"/>
            <a:r>
              <a:rPr lang="pt-BR" sz="2400" dirty="0">
                <a:latin typeface="Courier" charset="0"/>
                <a:ea typeface="Courier" charset="0"/>
                <a:cs typeface="Courier" charset="0"/>
              </a:rPr>
              <a:t>}</a:t>
            </a:r>
            <a:endParaRPr lang="en-US" sz="2400" dirty="0"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437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Palindromi in versione iterativa</a:t>
            </a:r>
            <a:endParaRPr lang="it-IT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6E748-D054-4EA7-BED7-31030FDB52F4}" type="slidenum">
              <a:rPr lang="it-IT" smtClean="0"/>
              <a:pPr/>
              <a:t>31</a:t>
            </a:fld>
            <a:endParaRPr lang="it-IT"/>
          </a:p>
        </p:txBody>
      </p:sp>
      <p:sp>
        <p:nvSpPr>
          <p:cNvPr id="33795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int palindromoI( char par[] ) {</a:t>
            </a:r>
          </a:p>
          <a:p>
            <a:pPr>
              <a:lnSpc>
                <a:spcPct val="80000"/>
              </a:lnSpc>
              <a:buNone/>
            </a:pPr>
            <a:r>
              <a:rPr lang="it-IT" sz="16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	</a:t>
            </a:r>
            <a:r>
              <a:rPr lang="it-IT" sz="16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// Assegna </a:t>
            </a:r>
            <a:r>
              <a:rPr lang="it-IT" sz="16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gli indici del primo </a:t>
            </a:r>
            <a:r>
              <a:rPr lang="it-IT" sz="16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e</a:t>
            </a:r>
          </a:p>
          <a:p>
            <a:pPr>
              <a:lnSpc>
                <a:spcPct val="80000"/>
              </a:lnSpc>
              <a:buNone/>
            </a:pPr>
            <a:r>
              <a:rPr lang="it-IT" sz="16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6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 // </a:t>
            </a:r>
            <a:r>
              <a:rPr lang="it-IT" sz="16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ultimo carattere della parola</a:t>
            </a:r>
            <a:endParaRPr lang="it-IT" sz="1600" dirty="0" smtClean="0">
              <a:latin typeface="Courier" charset="0"/>
              <a:ea typeface="Courier" charset="0"/>
              <a:cs typeface="Courier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sz="16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16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da = 0;</a:t>
            </a:r>
            <a:endParaRPr lang="it-IT" sz="1600" dirty="0" smtClean="0">
              <a:solidFill>
                <a:srgbClr val="33CC33"/>
              </a:solidFill>
              <a:latin typeface="Courier" charset="0"/>
              <a:ea typeface="Courier" charset="0"/>
              <a:cs typeface="Courier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sz="16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t-IT" sz="16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a  = strlen( par ) - 1;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sz="16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t-IT" sz="1600" dirty="0" err="1" smtClean="0">
                <a:latin typeface="Courier" charset="0"/>
                <a:ea typeface="Courier" charset="0"/>
                <a:cs typeface="Courier" charset="0"/>
              </a:rPr>
              <a:t>while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(da &lt; a)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sz="16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6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    // </a:t>
            </a:r>
            <a:r>
              <a:rPr lang="it-IT" sz="16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S</a:t>
            </a:r>
            <a:r>
              <a:rPr lang="it-IT" sz="16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candisce la parola facendo muovere</a:t>
            </a:r>
          </a:p>
          <a:p>
            <a:pPr>
              <a:lnSpc>
                <a:spcPct val="80000"/>
              </a:lnSpc>
              <a:buNone/>
            </a:pPr>
            <a:r>
              <a:rPr lang="it-IT" sz="16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6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    // </a:t>
            </a:r>
            <a:r>
              <a:rPr lang="it-IT" sz="16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gli indici verso il centro </a:t>
            </a:r>
            <a:r>
              <a:rPr lang="it-IT" sz="16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di par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sz="16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it-IT" sz="1600" dirty="0" err="1" smtClean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(par[da] != par[a])</a:t>
            </a:r>
          </a:p>
          <a:p>
            <a:pPr>
              <a:lnSpc>
                <a:spcPct val="80000"/>
              </a:lnSpc>
              <a:buNone/>
            </a:pPr>
            <a:r>
              <a:rPr lang="it-IT" sz="16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it-IT" sz="16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// </a:t>
            </a:r>
            <a:r>
              <a:rPr lang="it-IT" sz="16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D</a:t>
            </a:r>
            <a:r>
              <a:rPr lang="it-IT" sz="16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ice </a:t>
            </a:r>
            <a:r>
              <a:rPr lang="it-IT" sz="16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FALSE alla prima </a:t>
            </a:r>
            <a:r>
              <a:rPr lang="it-IT" sz="16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differenza</a:t>
            </a:r>
            <a:endParaRPr lang="it-IT" sz="1600" dirty="0" smtClean="0">
              <a:latin typeface="Courier" charset="0"/>
              <a:ea typeface="Courier" charset="0"/>
              <a:cs typeface="Courier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        </a:t>
            </a:r>
            <a:r>
              <a:rPr lang="it-IT" sz="16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sz="16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  ++da;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     ––a;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t-IT" sz="16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  <a:p>
            <a:pPr>
              <a:lnSpc>
                <a:spcPct val="80000"/>
              </a:lnSpc>
              <a:buNone/>
            </a:pPr>
            <a:r>
              <a:rPr lang="it-IT" sz="16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t-IT" sz="16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// </a:t>
            </a:r>
            <a:r>
              <a:rPr lang="it-IT" sz="16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Se arriva alla fine senza differenze, </a:t>
            </a:r>
            <a:r>
              <a:rPr lang="it-IT" sz="16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endParaRPr lang="it-IT" sz="1600" dirty="0" smtClean="0">
              <a:latin typeface="Courier" charset="0"/>
              <a:ea typeface="Courier" charset="0"/>
              <a:cs typeface="Courier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it-IT" sz="16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 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sz="16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Parametri passati per indirizzo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9AF5-A9BA-43F2-8AB1-48A83871B48A}" type="slidenum">
              <a:rPr lang="it-IT" smtClean="0"/>
              <a:pPr/>
              <a:t>32</a:t>
            </a:fld>
            <a:endParaRPr lang="it-IT"/>
          </a:p>
        </p:txBody>
      </p:sp>
      <p:sp>
        <p:nvSpPr>
          <p:cNvPr id="34820" name="Text Box 3"/>
          <p:cNvSpPr txBox="1">
            <a:spLocks noChangeArrowheads="1"/>
          </p:cNvSpPr>
          <p:nvPr/>
        </p:nvSpPr>
        <p:spPr bwMode="auto">
          <a:xfrm>
            <a:off x="217756" y="1396218"/>
            <a:ext cx="5225511" cy="323165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it-IT" sz="20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/* </a:t>
            </a:r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Incrementa </a:t>
            </a:r>
            <a:r>
              <a:rPr lang="it-IT" sz="20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il primo parametro </a:t>
            </a:r>
          </a:p>
          <a:p>
            <a:pPr algn="l"/>
            <a:r>
              <a:rPr lang="it-IT" sz="20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 del </a:t>
            </a:r>
            <a:r>
              <a:rPr lang="it-IT" sz="20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valore del secondo </a:t>
            </a:r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*/</a:t>
            </a:r>
            <a:endParaRPr lang="it-IT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void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incrementa(</a:t>
            </a:r>
            <a:r>
              <a:rPr lang="it-IT" sz="20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*n, </a:t>
            </a:r>
            <a:r>
              <a:rPr lang="it-IT" sz="20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m) {</a:t>
            </a: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(m 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!=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0) 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{</a:t>
            </a:r>
            <a:endParaRPr lang="en-GB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    (*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++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; </a:t>
            </a:r>
            <a:endParaRPr lang="en-GB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    incrementa(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, m–1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 }</a:t>
            </a:r>
            <a:endParaRPr lang="it-IT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;</a:t>
            </a:r>
            <a:endParaRPr lang="en-GB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}</a:t>
            </a:r>
            <a:endParaRPr lang="en-GB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endParaRPr lang="en-GB" sz="2400" dirty="0"/>
          </a:p>
        </p:txBody>
      </p:sp>
      <p:sp>
        <p:nvSpPr>
          <p:cNvPr id="34821" name="Text Box 4"/>
          <p:cNvSpPr txBox="1">
            <a:spLocks noChangeArrowheads="1"/>
          </p:cNvSpPr>
          <p:nvPr/>
        </p:nvSpPr>
        <p:spPr bwMode="auto">
          <a:xfrm>
            <a:off x="4572000" y="3196711"/>
            <a:ext cx="4339650" cy="286232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GB" sz="20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x, y; </a:t>
            </a:r>
          </a:p>
          <a:p>
            <a:pPr algn="l"/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...</a:t>
            </a:r>
          </a:p>
          <a:p>
            <a:pPr algn="l"/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x = 2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 </a:t>
            </a:r>
          </a:p>
          <a:p>
            <a:pPr algn="l"/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y = 3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;</a:t>
            </a:r>
            <a:endParaRPr lang="en-GB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incrementa(&amp;x, y);</a:t>
            </a:r>
          </a:p>
          <a:p>
            <a:pPr algn="l"/>
            <a:endParaRPr lang="it-IT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/* NB la chiamata iniziale</a:t>
            </a:r>
          </a:p>
          <a:p>
            <a:pPr algn="l"/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  ha </a:t>
            </a:r>
            <a:r>
              <a:rPr lang="it-IT" sz="20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forma diversa dalla </a:t>
            </a:r>
          </a:p>
          <a:p>
            <a:pPr algn="l"/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  chiamata </a:t>
            </a:r>
            <a:r>
              <a:rPr lang="it-IT" sz="20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ricorsiva */</a:t>
            </a:r>
            <a:r>
              <a:rPr lang="en-GB" sz="20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0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dirty="0" smtClean="0"/>
              <a:t>Modello a run-time</a:t>
            </a:r>
          </a:p>
        </p:txBody>
      </p:sp>
      <p:sp>
        <p:nvSpPr>
          <p:cNvPr id="1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BCD97A-A5BA-4B4F-9AEF-08A80018374D}" type="slidenum">
              <a:rPr lang="it-IT"/>
              <a:pPr>
                <a:defRPr/>
              </a:pPr>
              <a:t>33</a:t>
            </a:fld>
            <a:endParaRPr lang="it-IT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6190233" y="4705299"/>
            <a:ext cx="1655763" cy="752475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r>
              <a:rPr lang="en-US" sz="2400" dirty="0" smtClean="0"/>
              <a:t> x  </a:t>
            </a:r>
            <a:r>
              <a:rPr lang="en-US" sz="2400" dirty="0"/>
              <a:t>2</a:t>
            </a:r>
          </a:p>
          <a:p>
            <a:pPr algn="l"/>
            <a:r>
              <a:rPr lang="en-US" sz="2400" dirty="0" smtClean="0"/>
              <a:t> y  </a:t>
            </a:r>
            <a:r>
              <a:rPr lang="en-US" sz="2400" dirty="0"/>
              <a:t>3</a:t>
            </a:r>
            <a:endParaRPr lang="it-IT" sz="2400" dirty="0"/>
          </a:p>
        </p:txBody>
      </p:sp>
      <p:grpSp>
        <p:nvGrpSpPr>
          <p:cNvPr id="18" name="Group 5"/>
          <p:cNvGrpSpPr>
            <a:grpSpLocks/>
          </p:cNvGrpSpPr>
          <p:nvPr/>
        </p:nvGrpSpPr>
        <p:grpSpPr bwMode="auto">
          <a:xfrm>
            <a:off x="6191822" y="3954819"/>
            <a:ext cx="2041526" cy="879476"/>
            <a:chOff x="1663" y="1722"/>
            <a:chExt cx="1286" cy="554"/>
          </a:xfrm>
          <a:noFill/>
        </p:grpSpPr>
        <p:sp>
          <p:nvSpPr>
            <p:cNvPr id="19" name="Rectangle 6"/>
            <p:cNvSpPr>
              <a:spLocks noChangeArrowheads="1"/>
            </p:cNvSpPr>
            <p:nvPr/>
          </p:nvSpPr>
          <p:spPr bwMode="auto">
            <a:xfrm>
              <a:off x="1663" y="1722"/>
              <a:ext cx="1043" cy="474"/>
            </a:xfrm>
            <a:prstGeom prst="rect">
              <a:avLst/>
            </a:prstGeom>
            <a:grpFill/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sz="2400" dirty="0"/>
                <a:t>n    </a:t>
              </a:r>
            </a:p>
            <a:p>
              <a:r>
                <a:rPr lang="en-US" sz="2400" dirty="0"/>
                <a:t>m  </a:t>
              </a:r>
              <a:r>
                <a:rPr lang="en-US" sz="2400" dirty="0" smtClean="0"/>
                <a:t>3</a:t>
              </a:r>
              <a:endParaRPr lang="it-IT" sz="2400" dirty="0"/>
            </a:p>
          </p:txBody>
        </p:sp>
        <p:sp>
          <p:nvSpPr>
            <p:cNvPr id="20" name="Freeform 7"/>
            <p:cNvSpPr>
              <a:spLocks/>
            </p:cNvSpPr>
            <p:nvPr/>
          </p:nvSpPr>
          <p:spPr bwMode="auto">
            <a:xfrm flipV="1">
              <a:off x="2497" y="1861"/>
              <a:ext cx="452" cy="415"/>
            </a:xfrm>
            <a:custGeom>
              <a:avLst/>
              <a:gdLst>
                <a:gd name="T0" fmla="*/ 0 w 452"/>
                <a:gd name="T1" fmla="*/ 496 h 496"/>
                <a:gd name="T2" fmla="*/ 452 w 452"/>
                <a:gd name="T3" fmla="*/ 496 h 496"/>
                <a:gd name="T4" fmla="*/ 452 w 452"/>
                <a:gd name="T5" fmla="*/ 0 h 496"/>
                <a:gd name="T6" fmla="*/ 37 w 452"/>
                <a:gd name="T7" fmla="*/ 0 h 4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2"/>
                <a:gd name="T13" fmla="*/ 0 h 496"/>
                <a:gd name="T14" fmla="*/ 452 w 452"/>
                <a:gd name="T15" fmla="*/ 496 h 4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2" h="496">
                  <a:moveTo>
                    <a:pt x="0" y="496"/>
                  </a:moveTo>
                  <a:lnTo>
                    <a:pt x="452" y="496"/>
                  </a:lnTo>
                  <a:lnTo>
                    <a:pt x="452" y="0"/>
                  </a:lnTo>
                  <a:lnTo>
                    <a:pt x="37" y="0"/>
                  </a:lnTo>
                </a:path>
              </a:pathLst>
            </a:custGeom>
            <a:grpFill/>
            <a:ln>
              <a:headEnd/>
              <a:tailEnd type="arrow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" name="Group 8"/>
          <p:cNvGrpSpPr>
            <a:grpSpLocks/>
          </p:cNvGrpSpPr>
          <p:nvPr/>
        </p:nvGrpSpPr>
        <p:grpSpPr bwMode="auto">
          <a:xfrm>
            <a:off x="6191820" y="3202351"/>
            <a:ext cx="2206625" cy="1700215"/>
            <a:chOff x="1663" y="1248"/>
            <a:chExt cx="1390" cy="1071"/>
          </a:xfrm>
          <a:noFill/>
        </p:grpSpPr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1663" y="1248"/>
              <a:ext cx="1043" cy="474"/>
            </a:xfrm>
            <a:prstGeom prst="rect">
              <a:avLst/>
            </a:prstGeom>
            <a:grpFill/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sz="2400" dirty="0"/>
                <a:t>n    </a:t>
              </a:r>
            </a:p>
            <a:p>
              <a:r>
                <a:rPr lang="en-US" sz="2400" dirty="0"/>
                <a:t>m  </a:t>
              </a:r>
              <a:r>
                <a:rPr lang="en-US" sz="2400" dirty="0" smtClean="0"/>
                <a:t>2</a:t>
              </a:r>
              <a:endParaRPr lang="it-IT" sz="2400" dirty="0"/>
            </a:p>
          </p:txBody>
        </p:sp>
        <p:sp>
          <p:nvSpPr>
            <p:cNvPr id="23" name="Freeform 10"/>
            <p:cNvSpPr>
              <a:spLocks/>
            </p:cNvSpPr>
            <p:nvPr/>
          </p:nvSpPr>
          <p:spPr bwMode="auto">
            <a:xfrm flipV="1">
              <a:off x="2524" y="1383"/>
              <a:ext cx="529" cy="936"/>
            </a:xfrm>
            <a:custGeom>
              <a:avLst/>
              <a:gdLst>
                <a:gd name="T0" fmla="*/ 0 w 452"/>
                <a:gd name="T1" fmla="*/ 3073 h 496"/>
                <a:gd name="T2" fmla="*/ 1127 w 452"/>
                <a:gd name="T3" fmla="*/ 3073 h 496"/>
                <a:gd name="T4" fmla="*/ 1127 w 452"/>
                <a:gd name="T5" fmla="*/ 0 h 496"/>
                <a:gd name="T6" fmla="*/ 92 w 452"/>
                <a:gd name="T7" fmla="*/ 0 h 4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2"/>
                <a:gd name="T13" fmla="*/ 0 h 496"/>
                <a:gd name="T14" fmla="*/ 452 w 452"/>
                <a:gd name="T15" fmla="*/ 496 h 4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2" h="496">
                  <a:moveTo>
                    <a:pt x="0" y="496"/>
                  </a:moveTo>
                  <a:lnTo>
                    <a:pt x="452" y="496"/>
                  </a:lnTo>
                  <a:lnTo>
                    <a:pt x="452" y="0"/>
                  </a:lnTo>
                  <a:lnTo>
                    <a:pt x="37" y="0"/>
                  </a:lnTo>
                </a:path>
              </a:pathLst>
            </a:custGeom>
            <a:grpFill/>
            <a:ln>
              <a:headEnd/>
              <a:tailEnd type="arrow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4" name="Group 11"/>
          <p:cNvGrpSpPr>
            <a:grpSpLocks/>
          </p:cNvGrpSpPr>
          <p:nvPr/>
        </p:nvGrpSpPr>
        <p:grpSpPr bwMode="auto">
          <a:xfrm>
            <a:off x="6190232" y="2448280"/>
            <a:ext cx="2393949" cy="2538413"/>
            <a:chOff x="1662" y="773"/>
            <a:chExt cx="1508" cy="1599"/>
          </a:xfrm>
          <a:noFill/>
        </p:grpSpPr>
        <p:sp>
          <p:nvSpPr>
            <p:cNvPr id="25" name="Rectangle 12"/>
            <p:cNvSpPr>
              <a:spLocks noChangeArrowheads="1"/>
            </p:cNvSpPr>
            <p:nvPr/>
          </p:nvSpPr>
          <p:spPr bwMode="auto">
            <a:xfrm>
              <a:off x="1662" y="773"/>
              <a:ext cx="1043" cy="474"/>
            </a:xfrm>
            <a:prstGeom prst="rect">
              <a:avLst/>
            </a:prstGeom>
            <a:grpFill/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sz="2400" dirty="0"/>
                <a:t>n    </a:t>
              </a:r>
            </a:p>
            <a:p>
              <a:r>
                <a:rPr lang="en-US" sz="2400" dirty="0"/>
                <a:t>m  </a:t>
              </a:r>
              <a:r>
                <a:rPr lang="en-US" sz="2400" dirty="0" smtClean="0"/>
                <a:t>1</a:t>
              </a:r>
              <a:endParaRPr lang="it-IT" sz="2400" dirty="0"/>
            </a:p>
          </p:txBody>
        </p:sp>
        <p:sp>
          <p:nvSpPr>
            <p:cNvPr id="26" name="Freeform 13"/>
            <p:cNvSpPr>
              <a:spLocks/>
            </p:cNvSpPr>
            <p:nvPr/>
          </p:nvSpPr>
          <p:spPr bwMode="auto">
            <a:xfrm flipV="1">
              <a:off x="2549" y="917"/>
              <a:ext cx="621" cy="1455"/>
            </a:xfrm>
            <a:custGeom>
              <a:avLst/>
              <a:gdLst>
                <a:gd name="T0" fmla="*/ 0 w 452"/>
                <a:gd name="T1" fmla="*/ 9958 h 496"/>
                <a:gd name="T2" fmla="*/ 2469 w 452"/>
                <a:gd name="T3" fmla="*/ 9958 h 496"/>
                <a:gd name="T4" fmla="*/ 2469 w 452"/>
                <a:gd name="T5" fmla="*/ 0 h 496"/>
                <a:gd name="T6" fmla="*/ 201 w 452"/>
                <a:gd name="T7" fmla="*/ 0 h 4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2"/>
                <a:gd name="T13" fmla="*/ 0 h 496"/>
                <a:gd name="T14" fmla="*/ 452 w 452"/>
                <a:gd name="T15" fmla="*/ 496 h 4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2" h="496">
                  <a:moveTo>
                    <a:pt x="0" y="496"/>
                  </a:moveTo>
                  <a:lnTo>
                    <a:pt x="452" y="496"/>
                  </a:lnTo>
                  <a:lnTo>
                    <a:pt x="452" y="0"/>
                  </a:lnTo>
                  <a:lnTo>
                    <a:pt x="37" y="0"/>
                  </a:lnTo>
                </a:path>
              </a:pathLst>
            </a:custGeom>
            <a:grpFill/>
            <a:ln>
              <a:headEnd/>
              <a:tailEnd type="arrow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6551392" y="4672741"/>
            <a:ext cx="561975" cy="45720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/ 3</a:t>
            </a:r>
            <a:endParaRPr lang="it-IT" sz="2400" dirty="0">
              <a:solidFill>
                <a:srgbClr val="FF0000"/>
              </a:solidFill>
            </a:endParaRPr>
          </a:p>
        </p:txBody>
      </p:sp>
      <p:sp>
        <p:nvSpPr>
          <p:cNvPr id="28" name="Text Box 15"/>
          <p:cNvSpPr txBox="1">
            <a:spLocks noChangeArrowheads="1"/>
          </p:cNvSpPr>
          <p:nvPr/>
        </p:nvSpPr>
        <p:spPr bwMode="auto">
          <a:xfrm>
            <a:off x="6768088" y="4672741"/>
            <a:ext cx="561975" cy="45720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US" sz="2400" dirty="0">
                <a:solidFill>
                  <a:srgbClr val="FF0000"/>
                </a:solidFill>
              </a:rPr>
              <a:t>/ 4</a:t>
            </a:r>
            <a:endParaRPr lang="it-IT" sz="2400" dirty="0">
              <a:solidFill>
                <a:srgbClr val="FF0000"/>
              </a:solidFill>
            </a:endParaRPr>
          </a:p>
        </p:txBody>
      </p:sp>
      <p:sp>
        <p:nvSpPr>
          <p:cNvPr id="29" name="Text Box 16"/>
          <p:cNvSpPr txBox="1">
            <a:spLocks noChangeArrowheads="1"/>
          </p:cNvSpPr>
          <p:nvPr/>
        </p:nvSpPr>
        <p:spPr bwMode="auto">
          <a:xfrm>
            <a:off x="6977292" y="4656638"/>
            <a:ext cx="561975" cy="45720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en-US" sz="2400" dirty="0">
                <a:solidFill>
                  <a:srgbClr val="FF0000"/>
                </a:solidFill>
              </a:rPr>
              <a:t>/ 5</a:t>
            </a:r>
            <a:endParaRPr lang="it-IT" sz="2400" dirty="0">
              <a:solidFill>
                <a:srgbClr val="FF0000"/>
              </a:solidFill>
            </a:endParaRPr>
          </a:p>
        </p:txBody>
      </p:sp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457200" y="1553495"/>
            <a:ext cx="5262561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void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incrementa(</a:t>
            </a:r>
            <a:r>
              <a:rPr lang="it-IT" sz="20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*n, </a:t>
            </a:r>
            <a:r>
              <a:rPr lang="it-IT" sz="20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 m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) { </a:t>
            </a:r>
            <a:endParaRPr lang="it-IT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(m 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!=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0) 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{</a:t>
            </a:r>
            <a:endParaRPr lang="en-GB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    (*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++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; </a:t>
            </a:r>
            <a:endParaRPr lang="en-GB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    incrementa(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m-1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); 	</a:t>
            </a:r>
            <a:endParaRPr lang="it-IT" sz="2000" dirty="0" smtClean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 }</a:t>
            </a:r>
            <a:endParaRPr lang="it-IT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;</a:t>
            </a:r>
            <a:endParaRPr lang="en-GB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}</a:t>
            </a:r>
            <a:endParaRPr lang="en-GB" sz="20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457200" y="4298230"/>
            <a:ext cx="2954655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GB" sz="20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x, y; </a:t>
            </a:r>
          </a:p>
          <a:p>
            <a:pPr algn="l"/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...</a:t>
            </a:r>
          </a:p>
          <a:p>
            <a:pPr algn="l"/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x = 2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 </a:t>
            </a:r>
          </a:p>
          <a:p>
            <a:pPr algn="l"/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y = 3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;</a:t>
            </a:r>
            <a:endParaRPr lang="en-GB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incrementa(&amp;x, y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);</a:t>
            </a:r>
            <a:endParaRPr lang="en-GB" sz="2000" dirty="0">
              <a:solidFill>
                <a:srgbClr val="33CC33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utoUpdateAnimBg="0"/>
      <p:bldP spid="28" grpId="0" autoUpdateAnimBg="0"/>
      <p:bldP spid="29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Ancora stringhe palindrome</a:t>
            </a:r>
            <a:endParaRPr lang="en-US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Stringa palindroma se:</a:t>
            </a:r>
          </a:p>
          <a:p>
            <a:pPr lvl="1"/>
            <a:r>
              <a:rPr lang="it-IT" dirty="0"/>
              <a:t>S</a:t>
            </a:r>
            <a:r>
              <a:rPr lang="it-IT" dirty="0" smtClean="0"/>
              <a:t>tringa vuota, oppure </a:t>
            </a:r>
          </a:p>
          <a:p>
            <a:pPr lvl="1"/>
            <a:r>
              <a:rPr lang="it-IT" dirty="0"/>
              <a:t>H</a:t>
            </a:r>
            <a:r>
              <a:rPr lang="it-IT" dirty="0" smtClean="0"/>
              <a:t>a un solo carattere, oppure </a:t>
            </a:r>
          </a:p>
          <a:p>
            <a:pPr lvl="1"/>
            <a:r>
              <a:rPr lang="it-IT" dirty="0" smtClean="0"/>
              <a:t>Il suo cuore è una stringa palindroma, racchiusa tra caratteri uguali (primo e ultimo)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B983A-6124-4F41-901D-F9EBD05DC5C8}" type="slidenum">
              <a:rPr lang="it-IT" smtClean="0"/>
              <a:pPr/>
              <a:t>34</a:t>
            </a:fld>
            <a:endParaRPr lang="it-IT"/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803892" y="4772179"/>
            <a:ext cx="77027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GB" sz="2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2800" dirty="0">
                <a:latin typeface="Courier" charset="0"/>
                <a:ea typeface="Courier" charset="0"/>
                <a:cs typeface="Courier" charset="0"/>
              </a:rPr>
              <a:t> Palindrome(char *PC, char *UC);</a:t>
            </a:r>
            <a:endParaRPr lang="it-IT" sz="4400" dirty="0"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37E15D-DF40-4EE3-9A35-FAB5A7E90854}" type="slidenum">
              <a:rPr lang="it-IT"/>
              <a:pPr>
                <a:defRPr/>
              </a:pPr>
              <a:t>35</a:t>
            </a:fld>
            <a:endParaRPr lang="it-IT"/>
          </a:p>
        </p:txBody>
      </p:sp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243247" y="792672"/>
            <a:ext cx="8598828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defTabSz="539750"/>
            <a:r>
              <a:rPr lang="it-IT" sz="1800" dirty="0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#define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LunghMaxStringa  100</a:t>
            </a:r>
            <a:endParaRPr lang="en-GB" sz="1800" dirty="0">
              <a:latin typeface="Courier" charset="0"/>
              <a:ea typeface="Courier" charset="0"/>
              <a:cs typeface="Courier" charset="0"/>
            </a:endParaRPr>
          </a:p>
          <a:p>
            <a:pPr algn="l" defTabSz="539750"/>
            <a:endParaRPr lang="it-IT" sz="1800" dirty="0">
              <a:latin typeface="Courier" charset="0"/>
              <a:ea typeface="Courier" charset="0"/>
              <a:cs typeface="Courier" charset="0"/>
            </a:endParaRPr>
          </a:p>
          <a:p>
            <a:pPr algn="l" defTabSz="539750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int  Palindrome(char </a:t>
            </a:r>
            <a:r>
              <a:rPr lang="it-IT" sz="1800" b="1" dirty="0">
                <a:latin typeface="Courier" charset="0"/>
                <a:ea typeface="Courier" charset="0"/>
                <a:cs typeface="Courier" charset="0"/>
              </a:rPr>
              <a:t>*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PC, char </a:t>
            </a:r>
            <a:r>
              <a:rPr lang="it-IT" sz="1800" b="1" dirty="0">
                <a:latin typeface="Courier" charset="0"/>
                <a:ea typeface="Courier" charset="0"/>
                <a:cs typeface="Courier" charset="0"/>
              </a:rPr>
              <a:t>*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UC);</a:t>
            </a:r>
            <a:endParaRPr lang="en-GB" sz="1800" dirty="0">
              <a:latin typeface="Courier" charset="0"/>
              <a:ea typeface="Courier" charset="0"/>
              <a:cs typeface="Courier" charset="0"/>
            </a:endParaRPr>
          </a:p>
          <a:p>
            <a:pPr algn="l" defTabSz="539750"/>
            <a:endParaRPr lang="it-IT" sz="1800" dirty="0">
              <a:latin typeface="Courier" charset="0"/>
              <a:ea typeface="Courier" charset="0"/>
              <a:cs typeface="Courier" charset="0"/>
            </a:endParaRPr>
          </a:p>
          <a:p>
            <a:pPr algn="l" defTabSz="539750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int main()</a:t>
            </a:r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{</a:t>
            </a:r>
            <a:endParaRPr lang="it-IT" sz="1800" dirty="0">
              <a:latin typeface="Courier" charset="0"/>
              <a:ea typeface="Courier" charset="0"/>
              <a:cs typeface="Courier" charset="0"/>
            </a:endParaRPr>
          </a:p>
          <a:p>
            <a:pPr algn="l" defTabSz="539750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char  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str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[LunghMaxStringa+1];</a:t>
            </a:r>
          </a:p>
          <a:p>
            <a:pPr algn="l" defTabSz="539750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8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en-GB" sz="1800" dirty="0" err="1" smtClean="0">
                <a:latin typeface="Courier" charset="0"/>
                <a:ea typeface="Courier" charset="0"/>
                <a:cs typeface="Courier" charset="0"/>
              </a:rPr>
              <a:t>LunghStr</a:t>
            </a:r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pPr algn="l" defTabSz="539750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	scanf("%s", </a:t>
            </a:r>
            <a:r>
              <a:rPr lang="it-IT" sz="1800" dirty="0" err="1">
                <a:latin typeface="Courier" charset="0"/>
                <a:ea typeface="Courier" charset="0"/>
                <a:cs typeface="Courier" charset="0"/>
              </a:rPr>
              <a:t>str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); </a:t>
            </a:r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/* </a:t>
            </a:r>
            <a:r>
              <a:rPr lang="it-IT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NB assumiamo non ci siano spazi */</a:t>
            </a:r>
            <a:endParaRPr lang="en-GB" sz="1800" dirty="0">
              <a:solidFill>
                <a:srgbClr val="33CC33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l" defTabSz="539750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	LunghStr = strlen(str); </a:t>
            </a:r>
            <a:endParaRPr lang="en-GB" sz="1800" dirty="0">
              <a:latin typeface="Courier" charset="0"/>
              <a:ea typeface="Courier" charset="0"/>
              <a:cs typeface="Courier" charset="0"/>
            </a:endParaRPr>
          </a:p>
          <a:p>
            <a:pPr algn="l" defTabSz="539750"/>
            <a:r>
              <a:rPr lang="it-IT" sz="1800" b="1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1800" i="1" dirty="0" err="1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i="1" dirty="0" smtClean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sz="1800" i="1" dirty="0" err="1" smtClean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LunghStr</a:t>
            </a:r>
            <a:r>
              <a:rPr lang="it-IT" sz="1800" i="1" dirty="0" smtClean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== </a:t>
            </a:r>
            <a:r>
              <a:rPr lang="it-IT" sz="1800" i="1" dirty="0" smtClean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0)</a:t>
            </a:r>
            <a:endParaRPr lang="en-GB" sz="1800" i="1" dirty="0">
              <a:solidFill>
                <a:srgbClr val="001AFF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l" defTabSz="539750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printf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("La stringa è palindroma");</a:t>
            </a:r>
            <a:endParaRPr lang="en-GB" sz="1800" dirty="0">
              <a:latin typeface="Courier" charset="0"/>
              <a:ea typeface="Courier" charset="0"/>
              <a:cs typeface="Courier" charset="0"/>
            </a:endParaRPr>
          </a:p>
          <a:p>
            <a:pPr algn="l" defTabSz="539750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	else</a:t>
            </a:r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{	</a:t>
            </a:r>
          </a:p>
          <a:p>
            <a:pPr algn="l" defTabSz="539750"/>
            <a:r>
              <a:rPr lang="en-GB" sz="1800" dirty="0" smtClean="0"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printf("La stringa");</a:t>
            </a:r>
            <a:endParaRPr lang="en-GB" sz="1800" dirty="0" smtClean="0">
              <a:latin typeface="Courier" charset="0"/>
              <a:ea typeface="Courier" charset="0"/>
              <a:cs typeface="Courier" charset="0"/>
            </a:endParaRPr>
          </a:p>
          <a:p>
            <a:pPr algn="l" defTabSz="539750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	     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1800" dirty="0" smtClean="0"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lang="en-GB" sz="1800" i="1" dirty="0" smtClean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(! </a:t>
            </a:r>
            <a:r>
              <a:rPr lang="it-IT" sz="1800" i="1" dirty="0" smtClean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Palindrome(</a:t>
            </a:r>
            <a:r>
              <a:rPr lang="it-IT" sz="1800" i="1" dirty="0" err="1" smtClean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str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, str + LunghStr – </a:t>
            </a:r>
            <a:r>
              <a:rPr lang="it-IT" sz="1800" i="1" dirty="0" smtClean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1)</a:t>
            </a:r>
            <a:r>
              <a:rPr lang="en-GB" sz="1800" i="1" dirty="0" smtClean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GB" sz="1800" i="1" dirty="0">
              <a:solidFill>
                <a:srgbClr val="001AFF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l" defTabSz="539750"/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				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printf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(" NON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");</a:t>
            </a:r>
            <a:endParaRPr lang="en-GB" sz="1800" dirty="0" smtClean="0">
              <a:latin typeface="Courier" charset="0"/>
              <a:ea typeface="Courier" charset="0"/>
              <a:cs typeface="Courier" charset="0"/>
            </a:endParaRPr>
          </a:p>
          <a:p>
            <a:pPr algn="l" defTabSz="539750"/>
            <a:r>
              <a:rPr lang="en-GB" sz="1800" dirty="0" smtClean="0"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printf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(" è palindroma\n");</a:t>
            </a:r>
            <a:endParaRPr lang="en-GB" sz="1800" dirty="0">
              <a:latin typeface="Courier" charset="0"/>
              <a:ea typeface="Courier" charset="0"/>
              <a:cs typeface="Courier" charset="0"/>
            </a:endParaRPr>
          </a:p>
          <a:p>
            <a:pPr algn="l" defTabSz="539750"/>
            <a:r>
              <a:rPr lang="en-GB" sz="1800" dirty="0" smtClean="0">
                <a:latin typeface="Courier" charset="0"/>
                <a:ea typeface="Courier" charset="0"/>
                <a:cs typeface="Courier" charset="0"/>
              </a:rPr>
              <a:t>	}</a:t>
            </a:r>
          </a:p>
          <a:p>
            <a:pPr algn="l" defTabSz="539750"/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1800" dirty="0" smtClean="0"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0</a:t>
            </a:r>
            <a:r>
              <a:rPr lang="en-GB" sz="1800" dirty="0" smtClean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pPr algn="l" defTabSz="539750"/>
            <a:r>
              <a:rPr lang="en-GB" sz="1800" dirty="0" smtClean="0">
                <a:latin typeface="Courier" charset="0"/>
                <a:ea typeface="Courier" charset="0"/>
                <a:cs typeface="Courier" charset="0"/>
              </a:rPr>
              <a:t>}</a:t>
            </a:r>
            <a:endParaRPr lang="en-GB" sz="1800" dirty="0"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572619-0016-47E7-B42A-B28DC7759737}" type="slidenum">
              <a:rPr lang="it-IT"/>
              <a:pPr>
                <a:defRPr/>
              </a:pPr>
              <a:t>36</a:t>
            </a:fld>
            <a:endParaRPr lang="it-IT"/>
          </a:p>
        </p:txBody>
      </p:sp>
      <p:sp>
        <p:nvSpPr>
          <p:cNvPr id="38915" name="Text Box 2"/>
          <p:cNvSpPr txBox="1">
            <a:spLocks noChangeArrowheads="1"/>
          </p:cNvSpPr>
          <p:nvPr/>
        </p:nvSpPr>
        <p:spPr bwMode="auto">
          <a:xfrm>
            <a:off x="755179" y="789255"/>
            <a:ext cx="7491153" cy="349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GB" sz="1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 Palindrome(char *PC, char *UC</a:t>
            </a:r>
            <a:r>
              <a:rPr lang="en-GB" sz="1800" dirty="0" smtClean="0">
                <a:latin typeface="Courier" charset="0"/>
                <a:ea typeface="Courier" charset="0"/>
                <a:cs typeface="Courier" charset="0"/>
              </a:rPr>
              <a:t>) {</a:t>
            </a:r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	</a:t>
            </a:r>
          </a:p>
          <a:p>
            <a:pPr algn="l">
              <a:spcBef>
                <a:spcPts val="600"/>
              </a:spcBef>
              <a:defRPr/>
            </a:pP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it-IT" sz="1800" dirty="0" err="1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(PC 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&gt;= 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UC) </a:t>
            </a:r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/* </a:t>
            </a:r>
            <a:r>
              <a:rPr lang="it-IT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S</a:t>
            </a:r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tringa </a:t>
            </a:r>
            <a:r>
              <a:rPr lang="it-IT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vuota o di 1 carattere */</a:t>
            </a:r>
            <a:endParaRPr lang="en-GB" sz="1800" dirty="0">
              <a:solidFill>
                <a:srgbClr val="33CC33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l">
              <a:defRPr/>
            </a:pP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     </a:t>
            </a:r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return 1;</a:t>
            </a:r>
          </a:p>
          <a:p>
            <a:pPr algn="l">
              <a:defRPr/>
            </a:pPr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   if </a:t>
            </a:r>
            <a:r>
              <a:rPr lang="en-GB" sz="1800" dirty="0" smtClean="0">
                <a:latin typeface="Courier" charset="0"/>
                <a:ea typeface="Courier" charset="0"/>
                <a:cs typeface="Courier" charset="0"/>
              </a:rPr>
              <a:t>(*</a:t>
            </a:r>
            <a:r>
              <a:rPr lang="en-GB" sz="1800" dirty="0">
                <a:latin typeface="Courier" charset="0"/>
                <a:ea typeface="Courier" charset="0"/>
                <a:cs typeface="Courier" charset="0"/>
              </a:rPr>
              <a:t>PC != 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*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UC) </a:t>
            </a:r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/* </a:t>
            </a:r>
            <a:r>
              <a:rPr lang="it-IT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rimo </a:t>
            </a:r>
            <a:r>
              <a:rPr lang="it-IT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e ultimo car. diversi */</a:t>
            </a:r>
            <a:endParaRPr lang="en-GB" sz="1800" dirty="0">
              <a:solidFill>
                <a:srgbClr val="33CC33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l">
              <a:defRPr/>
            </a:pP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     return 0;</a:t>
            </a:r>
            <a:endParaRPr lang="en-GB" sz="1800" dirty="0">
              <a:latin typeface="Courier" charset="0"/>
              <a:ea typeface="Courier" charset="0"/>
              <a:cs typeface="Courier" charset="0"/>
            </a:endParaRPr>
          </a:p>
          <a:p>
            <a:pPr algn="l">
              <a:defRPr/>
            </a:pP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  else</a:t>
            </a:r>
          </a:p>
          <a:p>
            <a:pPr algn="l">
              <a:defRPr/>
            </a:pP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/* Chiamata </a:t>
            </a:r>
            <a:r>
              <a:rPr lang="it-IT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ricorsiva </a:t>
            </a:r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escludendo</a:t>
            </a:r>
          </a:p>
          <a:p>
            <a:pPr algn="l">
              <a:defRPr/>
            </a:pPr>
            <a:r>
              <a:rPr lang="it-IT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	 </a:t>
            </a:r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 primo </a:t>
            </a:r>
            <a:r>
              <a:rPr lang="it-IT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e ultimo carattere </a:t>
            </a:r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*/</a:t>
            </a:r>
            <a:endParaRPr lang="it-IT" sz="1800" dirty="0" smtClean="0">
              <a:latin typeface="Courier" charset="0"/>
              <a:ea typeface="Courier" charset="0"/>
              <a:cs typeface="Courier" charset="0"/>
            </a:endParaRPr>
          </a:p>
          <a:p>
            <a:pPr algn="l">
              <a:defRPr/>
            </a:pP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Palindrome(PC+1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UC–1);</a:t>
            </a:r>
            <a:endParaRPr lang="en-GB" sz="1800" dirty="0">
              <a:latin typeface="Courier" charset="0"/>
              <a:ea typeface="Courier" charset="0"/>
              <a:cs typeface="Courier" charset="0"/>
            </a:endParaRPr>
          </a:p>
          <a:p>
            <a:pPr algn="l">
              <a:defRPr/>
            </a:pP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}</a:t>
            </a:r>
            <a:endParaRPr lang="it-IT" sz="1800" dirty="0">
              <a:latin typeface="Courier" charset="0"/>
              <a:ea typeface="Courier" charset="0"/>
              <a:cs typeface="Courier" charset="0"/>
            </a:endParaRPr>
          </a:p>
          <a:p>
            <a:pPr lvl="5">
              <a:defRPr/>
            </a:pPr>
            <a:endParaRPr lang="it-IT" sz="1800" i="1" dirty="0">
              <a:latin typeface="Courier" charset="0"/>
              <a:ea typeface="Courier" charset="0"/>
              <a:cs typeface="Courier" charset="0"/>
            </a:endParaRPr>
          </a:p>
          <a:p>
            <a:pPr lvl="5">
              <a:defRPr/>
            </a:pPr>
            <a:r>
              <a:rPr lang="it-IT" sz="1800" i="1" dirty="0" smtClean="0">
                <a:latin typeface="Courier" charset="0"/>
                <a:ea typeface="Courier" charset="0"/>
                <a:cs typeface="Courier" charset="0"/>
              </a:rPr>
              <a:t>	</a:t>
            </a:r>
            <a:endParaRPr lang="it-IT" sz="1800" i="1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5179" y="4200436"/>
            <a:ext cx="69292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5">
              <a:defRPr/>
            </a:pPr>
            <a:r>
              <a:rPr lang="it-IT" sz="1800" i="1" dirty="0" err="1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i="1" dirty="0" err="1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f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sz="1800" i="1" dirty="0" err="1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it-IT" sz="1800" i="1" dirty="0" err="1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it-IT" sz="1800" i="1" dirty="0" err="1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 *u) {</a:t>
            </a:r>
          </a:p>
          <a:p>
            <a:pPr marL="0" lvl="5">
              <a:defRPr/>
            </a:pP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1800" i="1" dirty="0" err="1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i="1" dirty="0" err="1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&gt;u || *</a:t>
            </a:r>
            <a:r>
              <a:rPr lang="it-IT" sz="1800" i="1" dirty="0" err="1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==*u &amp;&amp; </a:t>
            </a:r>
            <a:r>
              <a:rPr lang="it-IT" sz="1800" i="1" dirty="0" err="1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f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(p+1,u-1);</a:t>
            </a:r>
          </a:p>
          <a:p>
            <a:pPr marL="0" lvl="5">
              <a:defRPr/>
            </a:pP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it-IT" sz="1800" i="1" dirty="0">
              <a:solidFill>
                <a:srgbClr val="001AFF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Osservazioni sul programma</a:t>
            </a:r>
          </a:p>
        </p:txBody>
      </p:sp>
      <p:sp>
        <p:nvSpPr>
          <p:cNvPr id="39940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 smtClean="0"/>
              <a:t>Legge una stringa (termina con '\0')</a:t>
            </a:r>
          </a:p>
          <a:p>
            <a:endParaRPr lang="it-IT" dirty="0" smtClean="0"/>
          </a:p>
          <a:p>
            <a:r>
              <a:rPr lang="it-IT" dirty="0" smtClean="0"/>
              <a:t>Ne calcola la lunghezza con </a:t>
            </a:r>
            <a:r>
              <a:rPr lang="it-IT" dirty="0" err="1" smtClean="0"/>
              <a:t>strlen</a:t>
            </a:r>
            <a:r>
              <a:rPr lang="it-IT" dirty="0" smtClean="0"/>
              <a:t>()</a:t>
            </a:r>
          </a:p>
          <a:p>
            <a:endParaRPr lang="it-IT" dirty="0" smtClean="0"/>
          </a:p>
          <a:p>
            <a:r>
              <a:rPr lang="it-IT" dirty="0" smtClean="0"/>
              <a:t>Se stringa vuota o di un carattere </a:t>
            </a:r>
            <a:r>
              <a:rPr lang="it-IT" dirty="0" smtClean="0">
                <a:sym typeface="Wingdings"/>
              </a:rPr>
              <a:t></a:t>
            </a:r>
            <a:r>
              <a:rPr lang="it-IT" dirty="0" smtClean="0"/>
              <a:t> palindroma</a:t>
            </a:r>
          </a:p>
          <a:p>
            <a:endParaRPr lang="it-IT" dirty="0" smtClean="0"/>
          </a:p>
          <a:p>
            <a:r>
              <a:rPr lang="it-IT" dirty="0" smtClean="0"/>
              <a:t>Se caratteri agli estremi diversi </a:t>
            </a:r>
            <a:r>
              <a:rPr lang="it-IT" dirty="0" smtClean="0">
                <a:sym typeface="Wingdings"/>
              </a:rPr>
              <a:t></a:t>
            </a:r>
            <a:r>
              <a:rPr lang="it-IT" dirty="0" smtClean="0"/>
              <a:t> </a:t>
            </a:r>
            <a:r>
              <a:rPr lang="it-IT" i="1" dirty="0" smtClean="0">
                <a:solidFill>
                  <a:srgbClr val="001AFF"/>
                </a:solidFill>
              </a:rPr>
              <a:t>non</a:t>
            </a:r>
            <a:r>
              <a:rPr lang="it-IT" dirty="0" smtClean="0">
                <a:solidFill>
                  <a:srgbClr val="001AFF"/>
                </a:solidFill>
              </a:rPr>
              <a:t> </a:t>
            </a:r>
            <a:r>
              <a:rPr lang="it-IT" dirty="0" smtClean="0"/>
              <a:t>lo è</a:t>
            </a:r>
          </a:p>
          <a:p>
            <a:endParaRPr lang="it-IT" dirty="0" smtClean="0"/>
          </a:p>
          <a:p>
            <a:r>
              <a:rPr lang="it-IT" dirty="0" smtClean="0"/>
              <a:t>Altrimenti applica la funzione Palindrome alla stringa privata degli estremi</a:t>
            </a:r>
          </a:p>
          <a:p>
            <a:pPr lvl="1"/>
            <a:r>
              <a:rPr lang="it-IT" dirty="0"/>
              <a:t>E</a:t>
            </a:r>
            <a:r>
              <a:rPr lang="it-IT" dirty="0" smtClean="0"/>
              <a:t>legante uso di due puntatori </a:t>
            </a:r>
            <a:r>
              <a:rPr lang="is-IS" dirty="0" smtClean="0"/>
              <a:t>…</a:t>
            </a:r>
            <a:endParaRPr lang="it-IT" dirty="0" smtClean="0"/>
          </a:p>
          <a:p>
            <a:pPr lvl="2"/>
            <a:r>
              <a:rPr lang="it-IT" dirty="0"/>
              <a:t>I</a:t>
            </a:r>
            <a:r>
              <a:rPr lang="it-IT" dirty="0" smtClean="0"/>
              <a:t>ndirizzi del primo e ultimo carattere della parte non ancora esaminata</a:t>
            </a:r>
          </a:p>
          <a:p>
            <a:pPr lvl="1"/>
            <a:r>
              <a:rPr lang="is-IS" dirty="0" smtClean="0"/>
              <a:t>… </a:t>
            </a:r>
            <a:r>
              <a:rPr lang="it-IT" dirty="0"/>
              <a:t>s</a:t>
            </a:r>
            <a:r>
              <a:rPr lang="it-IT" dirty="0" smtClean="0"/>
              <a:t>postati avanti e indietro a ogni chiamata ricorsiva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F277-6ED5-4AE4-A40B-3C93FA5B7769}" type="slidenum">
              <a:rPr lang="it-IT" smtClean="0"/>
              <a:pPr/>
              <a:t>37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Altri tipi di palindromi</a:t>
            </a:r>
          </a:p>
        </p:txBody>
      </p:sp>
      <p:sp>
        <p:nvSpPr>
          <p:cNvPr id="40964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it-IT" dirty="0" smtClean="0"/>
              <a:t>Palindromi a parola</a:t>
            </a:r>
          </a:p>
          <a:p>
            <a:pPr lvl="1"/>
            <a:r>
              <a:rPr lang="it-IT" dirty="0" smtClean="0"/>
              <a:t>"Fall </a:t>
            </a:r>
            <a:r>
              <a:rPr lang="it-IT" dirty="0" err="1" smtClean="0"/>
              <a:t>leaves</a:t>
            </a:r>
            <a:r>
              <a:rPr lang="it-IT" dirty="0" smtClean="0"/>
              <a:t> </a:t>
            </a:r>
            <a:r>
              <a:rPr lang="it-IT" dirty="0" err="1" smtClean="0"/>
              <a:t>after</a:t>
            </a:r>
            <a:r>
              <a:rPr lang="it-IT" dirty="0" smtClean="0"/>
              <a:t> </a:t>
            </a:r>
            <a:r>
              <a:rPr lang="it-IT" dirty="0" err="1" smtClean="0"/>
              <a:t>leaves</a:t>
            </a:r>
            <a:r>
              <a:rPr lang="it-IT" dirty="0" smtClean="0"/>
              <a:t> </a:t>
            </a:r>
            <a:r>
              <a:rPr lang="it-IT" dirty="0" err="1" smtClean="0"/>
              <a:t>fall</a:t>
            </a:r>
            <a:r>
              <a:rPr lang="it-IT" dirty="0" smtClean="0"/>
              <a:t>"</a:t>
            </a:r>
          </a:p>
          <a:p>
            <a:endParaRPr lang="it-IT" dirty="0" smtClean="0"/>
          </a:p>
          <a:p>
            <a:r>
              <a:rPr lang="it-IT" dirty="0" smtClean="0"/>
              <a:t>Palindromi a frase (ignorando spazi e punteggiatura)</a:t>
            </a:r>
          </a:p>
          <a:p>
            <a:pPr lvl="1"/>
            <a:r>
              <a:rPr lang="it-IT" dirty="0" smtClean="0"/>
              <a:t>"I topi non avevano nipoti”</a:t>
            </a:r>
          </a:p>
          <a:p>
            <a:pPr lvl="1"/>
            <a:r>
              <a:rPr lang="it-IT" dirty="0" smtClean="0"/>
              <a:t>"A</a:t>
            </a:r>
            <a:r>
              <a:rPr lang="en-US" dirty="0" err="1" smtClean="0"/>
              <a:t>vida</a:t>
            </a:r>
            <a:r>
              <a:rPr lang="en-US" dirty="0" smtClean="0"/>
              <a:t> di vita, </a:t>
            </a:r>
            <a:r>
              <a:rPr lang="en-US" dirty="0" err="1" smtClean="0"/>
              <a:t>desiai</a:t>
            </a:r>
            <a:r>
              <a:rPr lang="en-US" dirty="0" smtClean="0"/>
              <a:t> </a:t>
            </a:r>
            <a:r>
              <a:rPr lang="en-US" dirty="0" err="1" smtClean="0"/>
              <a:t>ogni</a:t>
            </a:r>
            <a:r>
              <a:rPr lang="en-US" dirty="0" smtClean="0"/>
              <a:t> amore </a:t>
            </a:r>
            <a:r>
              <a:rPr lang="en-US" dirty="0" err="1" smtClean="0"/>
              <a:t>vero</a:t>
            </a:r>
            <a:r>
              <a:rPr lang="en-US" dirty="0" smtClean="0"/>
              <a:t>, ma </a:t>
            </a:r>
            <a:r>
              <a:rPr lang="en-US" dirty="0" err="1" smtClean="0"/>
              <a:t>ingoiai</a:t>
            </a:r>
            <a:r>
              <a:rPr lang="en-US" dirty="0" smtClean="0"/>
              <a:t> </a:t>
            </a:r>
            <a:r>
              <a:rPr lang="en-US" dirty="0" err="1" smtClean="0"/>
              <a:t>sedativi</a:t>
            </a:r>
            <a:r>
              <a:rPr lang="en-US" dirty="0" smtClean="0"/>
              <a:t>, da diva</a:t>
            </a:r>
            <a:r>
              <a:rPr lang="it-IT" dirty="0" smtClean="0"/>
              <a:t>”</a:t>
            </a:r>
          </a:p>
          <a:p>
            <a:pPr lvl="1"/>
            <a:r>
              <a:rPr lang="it-IT" dirty="0" smtClean="0"/>
              <a:t>"</a:t>
            </a:r>
            <a:r>
              <a:rPr lang="it-IT" dirty="0" err="1" smtClean="0"/>
              <a:t>Sun</a:t>
            </a:r>
            <a:r>
              <a:rPr lang="it-IT" dirty="0" smtClean="0"/>
              <a:t> </a:t>
            </a:r>
            <a:r>
              <a:rPr lang="it-IT" dirty="0" err="1" smtClean="0"/>
              <a:t>at</a:t>
            </a:r>
            <a:r>
              <a:rPr lang="it-IT" dirty="0" smtClean="0"/>
              <a:t> </a:t>
            </a:r>
            <a:r>
              <a:rPr lang="it-IT" dirty="0" err="1" smtClean="0"/>
              <a:t>noon</a:t>
            </a:r>
            <a:r>
              <a:rPr lang="it-IT" dirty="0" smtClean="0"/>
              <a:t>, tan </a:t>
            </a:r>
            <a:r>
              <a:rPr lang="it-IT" dirty="0" err="1" smtClean="0"/>
              <a:t>us</a:t>
            </a:r>
            <a:r>
              <a:rPr lang="it-IT" dirty="0" smtClean="0"/>
              <a:t>!”</a:t>
            </a:r>
          </a:p>
          <a:p>
            <a:pPr lvl="1"/>
            <a:r>
              <a:rPr lang="it-IT" dirty="0" smtClean="0"/>
              <a:t>"</a:t>
            </a:r>
            <a:r>
              <a:rPr lang="it-IT" dirty="0" err="1" smtClean="0"/>
              <a:t>Was</a:t>
            </a:r>
            <a:r>
              <a:rPr lang="it-IT" dirty="0" smtClean="0"/>
              <a:t> </a:t>
            </a:r>
            <a:r>
              <a:rPr lang="it-IT" dirty="0" err="1" smtClean="0"/>
              <a:t>it</a:t>
            </a:r>
            <a:r>
              <a:rPr lang="it-IT" dirty="0" smtClean="0"/>
              <a:t> a (</a:t>
            </a:r>
            <a:r>
              <a:rPr lang="it-IT" dirty="0" err="1" smtClean="0"/>
              <a:t>b|c|r</a:t>
            </a:r>
            <a:r>
              <a:rPr lang="it-IT" dirty="0" smtClean="0"/>
              <a:t>)</a:t>
            </a:r>
            <a:r>
              <a:rPr lang="it-IT" dirty="0" err="1" smtClean="0"/>
              <a:t>at</a:t>
            </a:r>
            <a:r>
              <a:rPr lang="it-IT" dirty="0" smtClean="0"/>
              <a:t> I </a:t>
            </a:r>
            <a:r>
              <a:rPr lang="it-IT" dirty="0" err="1" smtClean="0"/>
              <a:t>saw</a:t>
            </a:r>
            <a:r>
              <a:rPr lang="it-IT" dirty="0" smtClean="0"/>
              <a:t>?”</a:t>
            </a:r>
          </a:p>
          <a:p>
            <a:pPr lvl="1"/>
            <a:r>
              <a:rPr lang="it-IT" dirty="0" smtClean="0"/>
              <a:t>"</a:t>
            </a:r>
            <a:r>
              <a:rPr lang="en-US" dirty="0" smtClean="0"/>
              <a:t>Was It </a:t>
            </a:r>
            <a:r>
              <a:rPr lang="en-US" dirty="0"/>
              <a:t>a</a:t>
            </a:r>
            <a:r>
              <a:rPr lang="en-US" dirty="0" smtClean="0"/>
              <a:t> car or </a:t>
            </a:r>
            <a:r>
              <a:rPr lang="en-US" dirty="0"/>
              <a:t>a</a:t>
            </a:r>
            <a:r>
              <a:rPr lang="en-US" dirty="0" smtClean="0"/>
              <a:t> cat </a:t>
            </a:r>
            <a:r>
              <a:rPr lang="en-US" dirty="0"/>
              <a:t>I</a:t>
            </a:r>
            <a:r>
              <a:rPr lang="en-US" dirty="0" smtClean="0"/>
              <a:t> saw?”</a:t>
            </a:r>
            <a:endParaRPr lang="it-IT" dirty="0"/>
          </a:p>
          <a:p>
            <a:endParaRPr lang="it-IT" dirty="0" smtClean="0"/>
          </a:p>
          <a:p>
            <a:r>
              <a:rPr lang="it-IT" dirty="0" smtClean="0"/>
              <a:t>Esempi notevoli:</a:t>
            </a:r>
          </a:p>
          <a:p>
            <a:pPr lvl="1"/>
            <a:r>
              <a:rPr lang="it-IT" dirty="0" smtClean="0"/>
              <a:t>G. </a:t>
            </a:r>
            <a:r>
              <a:rPr lang="it-IT" dirty="0" err="1" smtClean="0"/>
              <a:t>Perec</a:t>
            </a:r>
            <a:r>
              <a:rPr lang="it-IT" dirty="0" smtClean="0"/>
              <a:t>, "9691" (&gt; 5000 caratteri)</a:t>
            </a:r>
          </a:p>
          <a:p>
            <a:pPr lvl="2"/>
            <a:r>
              <a:rPr lang="it-IT" dirty="0" smtClean="0"/>
              <a:t>"Trace l'</a:t>
            </a:r>
            <a:r>
              <a:rPr lang="it-IT" dirty="0" err="1" smtClean="0"/>
              <a:t>inégal</a:t>
            </a:r>
            <a:r>
              <a:rPr lang="it-IT" dirty="0" smtClean="0"/>
              <a:t> palindrome. </a:t>
            </a:r>
            <a:r>
              <a:rPr lang="it-IT" dirty="0" err="1" smtClean="0"/>
              <a:t>Neige</a:t>
            </a:r>
            <a:r>
              <a:rPr lang="it-IT" dirty="0" smtClean="0"/>
              <a:t> [...] ne </a:t>
            </a:r>
            <a:r>
              <a:rPr lang="it-IT" dirty="0" err="1" smtClean="0"/>
              <a:t>mord</a:t>
            </a:r>
            <a:r>
              <a:rPr lang="it-IT" dirty="0" smtClean="0"/>
              <a:t> ni la </a:t>
            </a:r>
            <a:r>
              <a:rPr lang="it-IT" dirty="0" err="1" smtClean="0"/>
              <a:t>plage</a:t>
            </a:r>
            <a:r>
              <a:rPr lang="it-IT" dirty="0" smtClean="0"/>
              <a:t> ni l'</a:t>
            </a:r>
            <a:r>
              <a:rPr lang="it-IT" dirty="0" err="1" smtClean="0"/>
              <a:t>écart</a:t>
            </a:r>
            <a:r>
              <a:rPr lang="it-IT" dirty="0" smtClean="0"/>
              <a:t>."</a:t>
            </a:r>
          </a:p>
          <a:p>
            <a:pPr lvl="1"/>
            <a:r>
              <a:rPr lang="it-IT" dirty="0" smtClean="0"/>
              <a:t>G. </a:t>
            </a:r>
            <a:r>
              <a:rPr lang="it-IT" dirty="0" err="1" smtClean="0"/>
              <a:t>Varaldo</a:t>
            </a:r>
            <a:r>
              <a:rPr lang="it-IT" dirty="0" smtClean="0"/>
              <a:t>, "11 Luglio 1982" (&gt; 4000 caratteri)</a:t>
            </a:r>
          </a:p>
          <a:p>
            <a:pPr lvl="2"/>
            <a:r>
              <a:rPr lang="it-IT" dirty="0" smtClean="0"/>
              <a:t>Ai lati, a esordir, dama [...] a Madrid, rosea Italia!</a:t>
            </a:r>
          </a:p>
          <a:p>
            <a:pPr lvl="1"/>
            <a:r>
              <a:rPr lang="it-IT" dirty="0" smtClean="0"/>
              <a:t>Batman, "Una storia italiana" (&gt; 1000 caratteri)</a:t>
            </a:r>
          </a:p>
          <a:p>
            <a:pPr lvl="2"/>
            <a:r>
              <a:rPr lang="it-IT" dirty="0" smtClean="0"/>
              <a:t>O idolo, se vero, mal onori parole [...] rapirono l'amore, v'è sol odio.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A1D79-2B26-49A4-BF32-937A068FEDD2}" type="slidenum">
              <a:rPr lang="it-IT" smtClean="0"/>
              <a:pPr/>
              <a:t>38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Altri tipi di palindromi</a:t>
            </a:r>
          </a:p>
        </p:txBody>
      </p:sp>
      <p:sp>
        <p:nvSpPr>
          <p:cNvPr id="41988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 smtClean="0"/>
              <a:t>Palindromi a riga</a:t>
            </a:r>
          </a:p>
          <a:p>
            <a:pPr lvl="1"/>
            <a:r>
              <a:rPr lang="it-IT" dirty="0" err="1" smtClean="0"/>
              <a:t>J</a:t>
            </a:r>
            <a:r>
              <a:rPr lang="it-IT" dirty="0" smtClean="0"/>
              <a:t>. A. Lindon, "</a:t>
            </a:r>
            <a:r>
              <a:rPr lang="it-IT" dirty="0" err="1" smtClean="0"/>
              <a:t>Doppelganger</a:t>
            </a:r>
            <a:r>
              <a:rPr lang="it-IT" dirty="0" smtClean="0"/>
              <a:t>"</a:t>
            </a:r>
          </a:p>
          <a:p>
            <a:pPr marL="914400" lvl="2" indent="0">
              <a:buNone/>
            </a:pPr>
            <a:r>
              <a:rPr lang="it-IT" dirty="0" smtClean="0"/>
              <a:t>"</a:t>
            </a:r>
            <a:r>
              <a:rPr lang="it-IT" dirty="0" err="1" smtClean="0"/>
              <a:t>Entering</a:t>
            </a:r>
            <a:r>
              <a:rPr lang="it-IT" dirty="0" smtClean="0"/>
              <a:t> the </a:t>
            </a:r>
            <a:r>
              <a:rPr lang="it-IT" dirty="0" err="1" smtClean="0"/>
              <a:t>lonely</a:t>
            </a:r>
            <a:r>
              <a:rPr lang="it-IT" dirty="0" smtClean="0"/>
              <a:t> </a:t>
            </a:r>
            <a:r>
              <a:rPr lang="it-IT" dirty="0" err="1" smtClean="0"/>
              <a:t>house</a:t>
            </a:r>
            <a:r>
              <a:rPr lang="it-IT" dirty="0" smtClean="0"/>
              <a:t> with </a:t>
            </a:r>
            <a:r>
              <a:rPr lang="it-IT" dirty="0" err="1" smtClean="0"/>
              <a:t>my</a:t>
            </a:r>
            <a:r>
              <a:rPr lang="it-IT" dirty="0" smtClean="0"/>
              <a:t> </a:t>
            </a:r>
            <a:r>
              <a:rPr lang="it-IT" dirty="0" err="1" smtClean="0"/>
              <a:t>wife</a:t>
            </a:r>
            <a:r>
              <a:rPr lang="it-IT" dirty="0" smtClean="0"/>
              <a:t>,</a:t>
            </a:r>
          </a:p>
          <a:p>
            <a:pPr marL="914400" lvl="2" indent="0">
              <a:buNone/>
            </a:pPr>
            <a:r>
              <a:rPr lang="it-IT" dirty="0" smtClean="0"/>
              <a:t> I </a:t>
            </a:r>
            <a:r>
              <a:rPr lang="it-IT" dirty="0" err="1" smtClean="0"/>
              <a:t>saw</a:t>
            </a:r>
            <a:r>
              <a:rPr lang="it-IT" dirty="0" smtClean="0"/>
              <a:t> </a:t>
            </a:r>
            <a:r>
              <a:rPr lang="it-IT" dirty="0" err="1" smtClean="0"/>
              <a:t>him</a:t>
            </a:r>
            <a:r>
              <a:rPr lang="it-IT" dirty="0" smtClean="0"/>
              <a:t> for the first time</a:t>
            </a:r>
          </a:p>
          <a:p>
            <a:pPr marL="914400" lvl="2" indent="0">
              <a:buNone/>
            </a:pPr>
            <a:r>
              <a:rPr lang="it-IT" dirty="0" smtClean="0"/>
              <a:t> </a:t>
            </a:r>
            <a:r>
              <a:rPr lang="it-IT" dirty="0" err="1" smtClean="0"/>
              <a:t>peering</a:t>
            </a:r>
            <a:r>
              <a:rPr lang="it-IT" dirty="0" smtClean="0"/>
              <a:t> </a:t>
            </a:r>
            <a:r>
              <a:rPr lang="it-IT" dirty="0" err="1" smtClean="0"/>
              <a:t>furtively</a:t>
            </a:r>
            <a:r>
              <a:rPr lang="it-IT" dirty="0" smtClean="0"/>
              <a:t> from </a:t>
            </a:r>
            <a:r>
              <a:rPr lang="it-IT" dirty="0" err="1" smtClean="0"/>
              <a:t>behind</a:t>
            </a:r>
            <a:r>
              <a:rPr lang="it-IT" dirty="0" smtClean="0"/>
              <a:t> a </a:t>
            </a:r>
            <a:r>
              <a:rPr lang="it-IT" dirty="0" err="1" smtClean="0"/>
              <a:t>bush</a:t>
            </a:r>
            <a:endParaRPr lang="it-IT" dirty="0" smtClean="0"/>
          </a:p>
          <a:p>
            <a:pPr marL="914400" lvl="2" indent="0">
              <a:buNone/>
            </a:pPr>
            <a:r>
              <a:rPr lang="it-IT" dirty="0" smtClean="0"/>
              <a:t>                         […]</a:t>
            </a:r>
          </a:p>
          <a:p>
            <a:pPr marL="914400" lvl="2" indent="0">
              <a:buNone/>
            </a:pPr>
            <a:r>
              <a:rPr lang="it-IT" dirty="0" smtClean="0"/>
              <a:t> </a:t>
            </a:r>
            <a:r>
              <a:rPr lang="it-IT" dirty="0" err="1" smtClean="0"/>
              <a:t>Peering</a:t>
            </a:r>
            <a:r>
              <a:rPr lang="it-IT" dirty="0" smtClean="0"/>
              <a:t> </a:t>
            </a:r>
            <a:r>
              <a:rPr lang="it-IT" dirty="0" err="1" smtClean="0"/>
              <a:t>furtively</a:t>
            </a:r>
            <a:r>
              <a:rPr lang="it-IT" dirty="0" smtClean="0"/>
              <a:t> from </a:t>
            </a:r>
            <a:r>
              <a:rPr lang="it-IT" dirty="0" err="1" smtClean="0"/>
              <a:t>behind</a:t>
            </a:r>
            <a:r>
              <a:rPr lang="it-IT" dirty="0" smtClean="0"/>
              <a:t> a </a:t>
            </a:r>
            <a:r>
              <a:rPr lang="it-IT" dirty="0" err="1" smtClean="0"/>
              <a:t>bush</a:t>
            </a:r>
            <a:r>
              <a:rPr lang="it-IT" dirty="0" smtClean="0"/>
              <a:t>,</a:t>
            </a:r>
          </a:p>
          <a:p>
            <a:pPr marL="914400" lvl="2" indent="0">
              <a:buNone/>
            </a:pPr>
            <a:r>
              <a:rPr lang="it-IT" dirty="0" smtClean="0"/>
              <a:t> I </a:t>
            </a:r>
            <a:r>
              <a:rPr lang="it-IT" dirty="0" err="1" smtClean="0"/>
              <a:t>saw</a:t>
            </a:r>
            <a:r>
              <a:rPr lang="it-IT" dirty="0" smtClean="0"/>
              <a:t> </a:t>
            </a:r>
            <a:r>
              <a:rPr lang="it-IT" dirty="0" err="1" smtClean="0"/>
              <a:t>him</a:t>
            </a:r>
            <a:r>
              <a:rPr lang="it-IT" dirty="0" smtClean="0"/>
              <a:t>, for the first time</a:t>
            </a:r>
          </a:p>
          <a:p>
            <a:pPr marL="914400" lvl="2" indent="0">
              <a:buNone/>
            </a:pPr>
            <a:r>
              <a:rPr lang="it-IT" dirty="0" smtClean="0"/>
              <a:t> </a:t>
            </a:r>
            <a:r>
              <a:rPr lang="it-IT" dirty="0" err="1" smtClean="0"/>
              <a:t>entering</a:t>
            </a:r>
            <a:r>
              <a:rPr lang="it-IT" dirty="0" smtClean="0"/>
              <a:t> the </a:t>
            </a:r>
            <a:r>
              <a:rPr lang="it-IT" dirty="0" err="1" smtClean="0"/>
              <a:t>lonely</a:t>
            </a:r>
            <a:r>
              <a:rPr lang="it-IT" dirty="0" smtClean="0"/>
              <a:t> </a:t>
            </a:r>
            <a:r>
              <a:rPr lang="it-IT" dirty="0" err="1" smtClean="0"/>
              <a:t>house</a:t>
            </a:r>
            <a:r>
              <a:rPr lang="it-IT" dirty="0" smtClean="0"/>
              <a:t> with </a:t>
            </a:r>
            <a:r>
              <a:rPr lang="it-IT" dirty="0" err="1" smtClean="0"/>
              <a:t>my</a:t>
            </a:r>
            <a:r>
              <a:rPr lang="it-IT" dirty="0" smtClean="0"/>
              <a:t> </a:t>
            </a:r>
            <a:r>
              <a:rPr lang="it-IT" dirty="0" err="1" smtClean="0"/>
              <a:t>wife</a:t>
            </a:r>
            <a:r>
              <a:rPr lang="it-IT" dirty="0" smtClean="0"/>
              <a:t>."</a:t>
            </a:r>
          </a:p>
          <a:p>
            <a:endParaRPr lang="it-IT" dirty="0" smtClean="0"/>
          </a:p>
          <a:p>
            <a:r>
              <a:rPr lang="it-IT" dirty="0" smtClean="0"/>
              <a:t>Esercizio: implementare funzioni di verifica per palindromi a parola, a frase, a riga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9A990-4B57-4EBF-8B38-3FA477DA2375}" type="slidenum">
              <a:rPr lang="it-IT" smtClean="0"/>
              <a:pPr/>
              <a:t>39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Esempio: inversione stringa</a:t>
            </a:r>
            <a:endParaRPr lang="it-IT" dirty="0" smtClean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 smtClean="0"/>
              <a:t>Scrivere una funzione che costruisca la stringa inversa di una stringa data nello stesso vettore</a:t>
            </a:r>
          </a:p>
          <a:p>
            <a:endParaRPr lang="it-IT" dirty="0" smtClean="0"/>
          </a:p>
          <a:p>
            <a:r>
              <a:rPr lang="it-IT" dirty="0" smtClean="0"/>
              <a:t>Il chiamante deve invocare la funzione con parametri:              la stringa da invertire, </a:t>
            </a:r>
            <a:r>
              <a:rPr lang="it-IT" dirty="0" err="1" smtClean="0"/>
              <a:t>str</a:t>
            </a:r>
            <a:r>
              <a:rPr lang="it-IT" dirty="0" smtClean="0"/>
              <a:t>[], e la lunghezza, </a:t>
            </a:r>
            <a:r>
              <a:rPr lang="it-IT" dirty="0" err="1" smtClean="0"/>
              <a:t>n</a:t>
            </a:r>
            <a:r>
              <a:rPr lang="it-IT" dirty="0" smtClean="0"/>
              <a:t>, della stessa</a:t>
            </a:r>
          </a:p>
          <a:p>
            <a:endParaRPr lang="it-IT" dirty="0" smtClean="0"/>
          </a:p>
          <a:p>
            <a:r>
              <a:rPr lang="it-IT" dirty="0" smtClean="0"/>
              <a:t>Il ragionamento induttivo che applichiamo è: </a:t>
            </a:r>
          </a:p>
          <a:p>
            <a:pPr lvl="1"/>
            <a:r>
              <a:rPr lang="it-IT" dirty="0" smtClean="0"/>
              <a:t>Se abbiamo il risultato dell’inversione della sottostringa ottenuta da quella di partenza senza il primo e l’ultimo carattere (che sarà lunga n-2 caratteri) </a:t>
            </a:r>
            <a:r>
              <a:rPr lang="is-IS" dirty="0" smtClean="0"/>
              <a:t>…</a:t>
            </a:r>
            <a:endParaRPr lang="it-IT" dirty="0" smtClean="0"/>
          </a:p>
          <a:p>
            <a:pPr lvl="1"/>
            <a:r>
              <a:rPr lang="is-IS" dirty="0" smtClean="0"/>
              <a:t>… </a:t>
            </a:r>
            <a:r>
              <a:rPr lang="it-IT" dirty="0"/>
              <a:t>p</a:t>
            </a:r>
            <a:r>
              <a:rPr lang="it-IT" dirty="0" smtClean="0"/>
              <a:t>ossiamo completare l’inversione della stringa di partenza, scambiando il primo e l’ultimo carattere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FA858-9179-4BC7-AE3D-8B1E8C689E6D}" type="slidenum">
              <a:rPr lang="it-IT" smtClean="0"/>
              <a:pPr/>
              <a:t>40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dirty="0" smtClean="0"/>
              <a:t>Esempio: inversione stringa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85ECB-9BA8-44E3-AB82-29B51486F030}" type="slidenum">
              <a:rPr lang="it-IT"/>
              <a:pPr>
                <a:defRPr/>
              </a:pPr>
              <a:t>41</a:t>
            </a:fld>
            <a:endParaRPr lang="it-IT"/>
          </a:p>
        </p:txBody>
      </p:sp>
      <p:sp>
        <p:nvSpPr>
          <p:cNvPr id="9379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01925" y="1600200"/>
            <a:ext cx="8522897" cy="4525963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void inversione(char str[], int n)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&lt;= 1) 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;			</a:t>
            </a:r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// </a:t>
            </a:r>
            <a:r>
              <a:rPr lang="it-IT" sz="20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C</a:t>
            </a:r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aso base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inversione(&amp;str[1], n</a:t>
            </a:r>
            <a:r>
              <a:rPr lang="it-IT" sz="2000" dirty="0" smtClean="0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-2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);	</a:t>
            </a:r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// </a:t>
            </a:r>
            <a:r>
              <a:rPr lang="it-IT" sz="20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asso induttivo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temp = str[n-1];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str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[n-1] = str[0];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str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[0] = temp;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it-IT" sz="2000" dirty="0" smtClean="0">
              <a:latin typeface="Courier" charset="0"/>
              <a:ea typeface="Courier" charset="0"/>
              <a:cs typeface="Courier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400" i="1" dirty="0" smtClean="0">
                <a:solidFill>
                  <a:srgbClr val="001AFF"/>
                </a:solidFill>
              </a:rPr>
              <a:t>Esercizio</a:t>
            </a:r>
            <a:r>
              <a:rPr lang="it-IT" sz="2400" dirty="0" smtClean="0"/>
              <a:t>: riscrivere la funzione, con prototipo</a:t>
            </a:r>
            <a:endParaRPr lang="it-IT" sz="2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void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inversione(char str[], int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inizio, int fine); </a:t>
            </a:r>
            <a:endParaRPr lang="it-IT" sz="2000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7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Esempio: inversione stringa</a:t>
            </a:r>
            <a:endParaRPr lang="it-IT" dirty="0" smtClean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 smtClean="0"/>
              <a:t>Metodo alternativo di inversione</a:t>
            </a:r>
          </a:p>
          <a:p>
            <a:endParaRPr lang="it-IT" dirty="0" smtClean="0"/>
          </a:p>
          <a:p>
            <a:r>
              <a:rPr lang="it-IT" dirty="0" smtClean="0"/>
              <a:t>Il chiamante passa anche il puntatore alla stringa che conterrà l'inversa, cioè il prototipo che vogliamo è: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sz="2800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sz="2800" dirty="0" smtClean="0">
                <a:latin typeface="Courier" charset="0"/>
                <a:ea typeface="Courier" charset="0"/>
                <a:cs typeface="Courier" charset="0"/>
              </a:rPr>
              <a:t> * inversione(</a:t>
            </a:r>
            <a:r>
              <a:rPr lang="it-IT" sz="2800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sz="2800" dirty="0" smtClean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it-IT" sz="2800" dirty="0" err="1" smtClean="0">
                <a:latin typeface="Courier" charset="0"/>
                <a:ea typeface="Courier" charset="0"/>
                <a:cs typeface="Courier" charset="0"/>
              </a:rPr>
              <a:t>s</a:t>
            </a:r>
            <a:r>
              <a:rPr lang="it-IT" sz="2800" dirty="0" smtClean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it-IT" sz="2800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sz="2800" dirty="0" smtClean="0">
                <a:latin typeface="Courier" charset="0"/>
                <a:ea typeface="Courier" charset="0"/>
                <a:cs typeface="Courier" charset="0"/>
              </a:rPr>
              <a:t> *t);</a:t>
            </a:r>
          </a:p>
          <a:p>
            <a:endParaRPr lang="it-IT" dirty="0" smtClean="0"/>
          </a:p>
          <a:p>
            <a:r>
              <a:rPr lang="it-IT" dirty="0" smtClean="0"/>
              <a:t>Si restituisce la stringa costruita (puntatore)</a:t>
            </a:r>
          </a:p>
          <a:p>
            <a:endParaRPr lang="it-IT" dirty="0" smtClean="0"/>
          </a:p>
          <a:p>
            <a:r>
              <a:rPr lang="it-IT" dirty="0" smtClean="0"/>
              <a:t>Ci serviamo di</a:t>
            </a:r>
          </a:p>
          <a:p>
            <a:pPr marL="457200" lvl="1" indent="0">
              <a:buNone/>
            </a:pPr>
            <a:r>
              <a:rPr lang="it-IT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dirty="0" smtClean="0">
                <a:latin typeface="Courier" charset="0"/>
                <a:ea typeface="Courier" charset="0"/>
                <a:cs typeface="Courier" charset="0"/>
              </a:rPr>
              <a:t> * </a:t>
            </a:r>
            <a:r>
              <a:rPr lang="it-IT" dirty="0" err="1" smtClean="0">
                <a:latin typeface="Courier" charset="0"/>
                <a:ea typeface="Courier" charset="0"/>
                <a:cs typeface="Courier" charset="0"/>
              </a:rPr>
              <a:t>strcpy</a:t>
            </a:r>
            <a:r>
              <a:rPr lang="it-IT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dirty="0" smtClean="0">
                <a:latin typeface="Courier" charset="0"/>
                <a:ea typeface="Courier" charset="0"/>
                <a:cs typeface="Courier" charset="0"/>
              </a:rPr>
              <a:t> *dest, </a:t>
            </a:r>
            <a:r>
              <a:rPr lang="it-IT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dirty="0" smtClean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it-IT" dirty="0" err="1" smtClean="0">
                <a:latin typeface="Courier" charset="0"/>
                <a:ea typeface="Courier" charset="0"/>
                <a:cs typeface="Courier" charset="0"/>
              </a:rPr>
              <a:t>src</a:t>
            </a:r>
            <a:r>
              <a:rPr lang="it-IT" dirty="0" smtClean="0"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 lvl="1"/>
            <a:r>
              <a:rPr lang="it-IT" dirty="0"/>
              <a:t>C</a:t>
            </a:r>
            <a:r>
              <a:rPr lang="it-IT" dirty="0" smtClean="0"/>
              <a:t>opia la stringa </a:t>
            </a:r>
            <a:r>
              <a:rPr lang="it-IT" dirty="0" err="1" smtClean="0"/>
              <a:t>src</a:t>
            </a:r>
            <a:r>
              <a:rPr lang="it-IT" dirty="0" smtClean="0"/>
              <a:t> nella stringa dest e restituisce il </a:t>
            </a:r>
            <a:r>
              <a:rPr lang="it-IT" dirty="0" err="1" smtClean="0"/>
              <a:t>ptr</a:t>
            </a:r>
            <a:r>
              <a:rPr lang="it-IT" dirty="0" smtClean="0"/>
              <a:t> dest</a:t>
            </a:r>
          </a:p>
          <a:p>
            <a:pPr marL="457200" lvl="1" indent="0">
              <a:buNone/>
            </a:pPr>
            <a:r>
              <a:rPr lang="it-IT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dirty="0" smtClean="0">
                <a:latin typeface="Courier" charset="0"/>
                <a:ea typeface="Courier" charset="0"/>
                <a:cs typeface="Courier" charset="0"/>
              </a:rPr>
              <a:t> * </a:t>
            </a:r>
            <a:r>
              <a:rPr lang="it-IT" dirty="0" err="1" smtClean="0">
                <a:latin typeface="Courier" charset="0"/>
                <a:ea typeface="Courier" charset="0"/>
                <a:cs typeface="Courier" charset="0"/>
              </a:rPr>
              <a:t>strncat</a:t>
            </a:r>
            <a:r>
              <a:rPr lang="it-IT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dirty="0" smtClean="0">
                <a:latin typeface="Courier" charset="0"/>
                <a:ea typeface="Courier" charset="0"/>
                <a:cs typeface="Courier" charset="0"/>
              </a:rPr>
              <a:t> *dest, </a:t>
            </a:r>
            <a:r>
              <a:rPr lang="it-IT" dirty="0" err="1" smtClean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lang="it-IT" dirty="0" smtClean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it-IT" dirty="0" err="1" smtClean="0">
                <a:latin typeface="Courier" charset="0"/>
                <a:ea typeface="Courier" charset="0"/>
                <a:cs typeface="Courier" charset="0"/>
              </a:rPr>
              <a:t>src</a:t>
            </a:r>
            <a:r>
              <a:rPr lang="it-IT" dirty="0" smtClean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it-IT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dirty="0" smtClean="0"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 lvl="1"/>
            <a:r>
              <a:rPr lang="it-IT" dirty="0" smtClean="0"/>
              <a:t>Aggiunge i primi </a:t>
            </a:r>
            <a:r>
              <a:rPr lang="it-IT" dirty="0" err="1" smtClean="0"/>
              <a:t>n</a:t>
            </a:r>
            <a:r>
              <a:rPr lang="it-IT" dirty="0" smtClean="0"/>
              <a:t> caratteri di </a:t>
            </a:r>
            <a:r>
              <a:rPr lang="it-IT" dirty="0" err="1" smtClean="0"/>
              <a:t>src</a:t>
            </a:r>
            <a:r>
              <a:rPr lang="it-IT" dirty="0" smtClean="0"/>
              <a:t> in coda a dest e restituisce il </a:t>
            </a:r>
            <a:r>
              <a:rPr lang="it-IT" dirty="0" err="1" smtClean="0"/>
              <a:t>ptr</a:t>
            </a:r>
            <a:r>
              <a:rPr lang="it-IT" dirty="0" smtClean="0"/>
              <a:t> dest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FA858-9179-4BC7-AE3D-8B1E8C689E6D}" type="slidenum">
              <a:rPr lang="it-IT" smtClean="0"/>
              <a:pPr/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78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dirty="0" smtClean="0"/>
              <a:t>Esempio: inversione stringa</a:t>
            </a:r>
          </a:p>
        </p:txBody>
      </p:sp>
      <p:sp>
        <p:nvSpPr>
          <p:cNvPr id="937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char * inversione(char *s, char *t)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strlen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s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) &lt;= 1)	</a:t>
            </a:r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// </a:t>
            </a:r>
            <a:r>
              <a:rPr lang="it-IT" sz="20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C</a:t>
            </a:r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aso base</a:t>
            </a:r>
            <a:endParaRPr lang="it-IT" sz="2000" dirty="0" smtClean="0">
              <a:latin typeface="Courier" charset="0"/>
              <a:ea typeface="Courier" charset="0"/>
              <a:cs typeface="Courier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strcpy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(t, 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s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);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else						</a:t>
            </a:r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// </a:t>
            </a:r>
            <a:r>
              <a:rPr lang="it-IT" sz="20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it-IT" sz="20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asso induttivo</a:t>
            </a:r>
            <a:endParaRPr lang="it-IT" sz="2000" dirty="0" smtClean="0">
              <a:latin typeface="Courier" charset="0"/>
              <a:ea typeface="Courier" charset="0"/>
              <a:cs typeface="Courier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strncat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(inversione(s+1,t), s, 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it-IT" sz="2800" dirty="0" smtClean="0"/>
          </a:p>
          <a:p>
            <a:pPr marL="360363" indent="-360363" eaLnBrk="1" hangingPunct="1">
              <a:spcBef>
                <a:spcPct val="0"/>
              </a:spcBef>
              <a:buFontTx/>
              <a:buNone/>
            </a:pPr>
            <a:r>
              <a:rPr lang="it-IT" sz="2000" i="1" dirty="0" smtClean="0">
                <a:solidFill>
                  <a:srgbClr val="001AFF"/>
                </a:solidFill>
              </a:rPr>
              <a:t>Attenzione</a:t>
            </a:r>
            <a:r>
              <a:rPr lang="it-IT" sz="2000" dirty="0" smtClean="0"/>
              <a:t>: la memoria che contiene la stringa t è allocata a cura del </a:t>
            </a:r>
          </a:p>
          <a:p>
            <a:pPr marL="360363" indent="-360363" eaLnBrk="1" hangingPunct="1">
              <a:spcBef>
                <a:spcPct val="0"/>
              </a:spcBef>
              <a:buFontTx/>
              <a:buNone/>
            </a:pPr>
            <a:r>
              <a:rPr lang="it-IT" sz="2000" dirty="0"/>
              <a:t> </a:t>
            </a:r>
            <a:r>
              <a:rPr lang="it-IT" sz="2000" dirty="0" smtClean="0"/>
              <a:t>                   programma che effettua la prima chiamata </a:t>
            </a:r>
          </a:p>
          <a:p>
            <a:pPr marL="360363" indent="-360363" eaLnBrk="1" hangingPunct="1">
              <a:spcBef>
                <a:spcPct val="0"/>
              </a:spcBef>
              <a:buFontTx/>
              <a:buNone/>
            </a:pPr>
            <a:r>
              <a:rPr lang="it-IT" sz="2000" dirty="0"/>
              <a:t> </a:t>
            </a:r>
            <a:r>
              <a:rPr lang="it-IT" sz="2000" dirty="0" smtClean="0"/>
              <a:t>                   (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strncat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sz="2000" dirty="0" smtClean="0">
                <a:latin typeface="Courier" charset="0"/>
                <a:ea typeface="Courier" charset="0"/>
                <a:cs typeface="Courier" charset="0"/>
              </a:rPr>
              <a:t>…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it-IT" sz="2000" dirty="0" smtClean="0"/>
              <a:t>e 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inversione(</a:t>
            </a:r>
            <a:r>
              <a:rPr lang="mr-IN" sz="2000" dirty="0" smtClean="0">
                <a:latin typeface="Courier" charset="0"/>
                <a:ea typeface="Courier" charset="0"/>
                <a:cs typeface="Courier" charset="0"/>
              </a:rPr>
              <a:t>…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) </a:t>
            </a:r>
            <a:r>
              <a:rPr lang="it-IT" sz="2000" i="1" dirty="0" smtClean="0">
                <a:solidFill>
                  <a:srgbClr val="001AFF"/>
                </a:solidFill>
              </a:rPr>
              <a:t>non allocano</a:t>
            </a:r>
            <a:r>
              <a:rPr lang="it-IT" sz="2000" dirty="0" smtClean="0">
                <a:solidFill>
                  <a:srgbClr val="001AFF"/>
                </a:solidFill>
              </a:rPr>
              <a:t> </a:t>
            </a:r>
            <a:r>
              <a:rPr lang="it-IT" sz="2000" dirty="0" smtClean="0"/>
              <a:t>memoria)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85ECB-9BA8-44E3-AB82-29B51486F030}" type="slidenum">
              <a:rPr lang="it-IT"/>
              <a:pPr>
                <a:defRPr/>
              </a:pPr>
              <a:t>43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3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dirty="0" smtClean="0"/>
              <a:t>Le torri di Hanoi</a:t>
            </a:r>
            <a:endParaRPr lang="en-US" dirty="0" smtClean="0"/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219E26-747F-4B81-B092-F7FDC6C80B23}" type="slidenum">
              <a:rPr lang="it-IT"/>
              <a:pPr>
                <a:defRPr/>
              </a:pPr>
              <a:t>44</a:t>
            </a:fld>
            <a:endParaRPr lang="it-IT"/>
          </a:p>
        </p:txBody>
      </p:sp>
      <p:grpSp>
        <p:nvGrpSpPr>
          <p:cNvPr id="45059" name="Group 18"/>
          <p:cNvGrpSpPr>
            <a:grpSpLocks/>
          </p:cNvGrpSpPr>
          <p:nvPr/>
        </p:nvGrpSpPr>
        <p:grpSpPr bwMode="auto">
          <a:xfrm>
            <a:off x="1100471" y="2924608"/>
            <a:ext cx="7620000" cy="2251076"/>
            <a:chOff x="497" y="1646"/>
            <a:chExt cx="4800" cy="1418"/>
          </a:xfrm>
        </p:grpSpPr>
        <p:sp>
          <p:nvSpPr>
            <p:cNvPr id="45064" name="Rectangle 3" descr="75%"/>
            <p:cNvSpPr>
              <a:spLocks noChangeArrowheads="1"/>
            </p:cNvSpPr>
            <p:nvPr/>
          </p:nvSpPr>
          <p:spPr bwMode="auto">
            <a:xfrm>
              <a:off x="1392" y="1676"/>
              <a:ext cx="144" cy="13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65" name="Rectangle 4" descr="Diagonali larghe verso l'alto"/>
            <p:cNvSpPr>
              <a:spLocks noChangeArrowheads="1"/>
            </p:cNvSpPr>
            <p:nvPr/>
          </p:nvSpPr>
          <p:spPr bwMode="auto">
            <a:xfrm>
              <a:off x="960" y="2680"/>
              <a:ext cx="960" cy="19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66" name="Rectangle 5" descr="Diagonali larghe verso l'alto"/>
            <p:cNvSpPr>
              <a:spLocks noChangeArrowheads="1"/>
            </p:cNvSpPr>
            <p:nvPr/>
          </p:nvSpPr>
          <p:spPr bwMode="auto">
            <a:xfrm>
              <a:off x="816" y="2872"/>
              <a:ext cx="1296" cy="19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67" name="Rectangle 6" descr="Diagonali larghe verso l'alto"/>
            <p:cNvSpPr>
              <a:spLocks noChangeArrowheads="1"/>
            </p:cNvSpPr>
            <p:nvPr/>
          </p:nvSpPr>
          <p:spPr bwMode="auto">
            <a:xfrm>
              <a:off x="1152" y="2488"/>
              <a:ext cx="576" cy="19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68" name="Rectangle 7" descr="75%"/>
            <p:cNvSpPr>
              <a:spLocks noChangeArrowheads="1"/>
            </p:cNvSpPr>
            <p:nvPr/>
          </p:nvSpPr>
          <p:spPr bwMode="auto">
            <a:xfrm>
              <a:off x="3029" y="1676"/>
              <a:ext cx="144" cy="13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69" name="Rectangle 8" descr="75%"/>
            <p:cNvSpPr>
              <a:spLocks noChangeArrowheads="1"/>
            </p:cNvSpPr>
            <p:nvPr/>
          </p:nvSpPr>
          <p:spPr bwMode="auto">
            <a:xfrm>
              <a:off x="4517" y="1676"/>
              <a:ext cx="144" cy="13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70" name="Line 9"/>
            <p:cNvSpPr>
              <a:spLocks noChangeShapeType="1"/>
            </p:cNvSpPr>
            <p:nvPr/>
          </p:nvSpPr>
          <p:spPr bwMode="auto">
            <a:xfrm>
              <a:off x="497" y="3064"/>
              <a:ext cx="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71" name="Rectangle 10" descr="Diagonali larghe verso l'alto"/>
            <p:cNvSpPr>
              <a:spLocks noChangeArrowheads="1"/>
            </p:cNvSpPr>
            <p:nvPr/>
          </p:nvSpPr>
          <p:spPr bwMode="auto">
            <a:xfrm>
              <a:off x="1296" y="2296"/>
              <a:ext cx="336" cy="19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72" name="Text Box 11"/>
            <p:cNvSpPr txBox="1">
              <a:spLocks noChangeArrowheads="1"/>
            </p:cNvSpPr>
            <p:nvPr/>
          </p:nvSpPr>
          <p:spPr bwMode="auto">
            <a:xfrm>
              <a:off x="1543" y="1646"/>
              <a:ext cx="293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3200" b="1" dirty="0"/>
                <a:t>A</a:t>
              </a:r>
            </a:p>
          </p:txBody>
        </p:sp>
        <p:sp>
          <p:nvSpPr>
            <p:cNvPr id="45073" name="Text Box 12"/>
            <p:cNvSpPr txBox="1">
              <a:spLocks noChangeArrowheads="1"/>
            </p:cNvSpPr>
            <p:nvPr/>
          </p:nvSpPr>
          <p:spPr bwMode="auto">
            <a:xfrm>
              <a:off x="3180" y="1646"/>
              <a:ext cx="294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3200" b="1"/>
                <a:t>B</a:t>
              </a:r>
            </a:p>
          </p:txBody>
        </p:sp>
        <p:sp>
          <p:nvSpPr>
            <p:cNvPr id="45074" name="Text Box 13"/>
            <p:cNvSpPr txBox="1">
              <a:spLocks noChangeArrowheads="1"/>
            </p:cNvSpPr>
            <p:nvPr/>
          </p:nvSpPr>
          <p:spPr bwMode="auto">
            <a:xfrm>
              <a:off x="4670" y="1646"/>
              <a:ext cx="289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3200" b="1"/>
                <a:t>C</a:t>
              </a:r>
            </a:p>
          </p:txBody>
        </p:sp>
      </p:grpSp>
      <p:sp>
        <p:nvSpPr>
          <p:cNvPr id="45060" name="Text Box 14"/>
          <p:cNvSpPr txBox="1">
            <a:spLocks noChangeArrowheads="1"/>
          </p:cNvSpPr>
          <p:nvPr/>
        </p:nvSpPr>
        <p:spPr bwMode="auto">
          <a:xfrm>
            <a:off x="1534890" y="1361345"/>
            <a:ext cx="664900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it-IT" sz="2400" dirty="0">
                <a:latin typeface="+mn-lt"/>
              </a:rPr>
              <a:t>Spostare tutta la torre da A a </a:t>
            </a:r>
            <a:r>
              <a:rPr lang="it-IT" sz="2400">
                <a:latin typeface="+mn-lt"/>
              </a:rPr>
              <a:t>C </a:t>
            </a:r>
            <a:r>
              <a:rPr lang="it-IT" sz="2400" smtClean="0">
                <a:latin typeface="+mn-lt"/>
              </a:rPr>
              <a:t>spostando un </a:t>
            </a:r>
            <a:r>
              <a:rPr lang="it-IT" sz="2400" dirty="0">
                <a:latin typeface="+mn-lt"/>
              </a:rPr>
              <a:t>cerchio alla volta e senza mai mettere un </a:t>
            </a:r>
            <a:r>
              <a:rPr lang="it-IT" sz="2400" dirty="0" smtClean="0">
                <a:latin typeface="+mn-lt"/>
              </a:rPr>
              <a:t>cerchio </a:t>
            </a:r>
            <a:r>
              <a:rPr lang="it-IT" sz="2400" dirty="0">
                <a:latin typeface="+mn-lt"/>
              </a:rPr>
              <a:t>più grosso su uno più piccolo</a:t>
            </a:r>
          </a:p>
        </p:txBody>
      </p:sp>
      <p:sp>
        <p:nvSpPr>
          <p:cNvPr id="45061" name="Text Box 15"/>
          <p:cNvSpPr txBox="1">
            <a:spLocks noChangeArrowheads="1"/>
          </p:cNvSpPr>
          <p:nvPr/>
        </p:nvSpPr>
        <p:spPr bwMode="auto">
          <a:xfrm>
            <a:off x="155575" y="2810182"/>
            <a:ext cx="2213309" cy="46166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latin typeface="+mn-lt"/>
              </a:rPr>
              <a:t>Torre di </a:t>
            </a:r>
            <a:r>
              <a:rPr lang="en-US" sz="2400" i="1" dirty="0" smtClean="0">
                <a:latin typeface="+mn-lt"/>
              </a:rPr>
              <a:t>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 smtClean="0">
                <a:latin typeface="+mn-lt"/>
              </a:rPr>
              <a:t>dischi</a:t>
            </a:r>
            <a:endParaRPr lang="en-US" sz="2400" dirty="0">
              <a:latin typeface="+mn-lt"/>
            </a:endParaRPr>
          </a:p>
        </p:txBody>
      </p:sp>
      <p:sp>
        <p:nvSpPr>
          <p:cNvPr id="912400" name="Text Box 16"/>
          <p:cNvSpPr txBox="1">
            <a:spLocks noChangeArrowheads="1"/>
          </p:cNvSpPr>
          <p:nvPr/>
        </p:nvSpPr>
        <p:spPr bwMode="auto">
          <a:xfrm>
            <a:off x="2681195" y="5422294"/>
            <a:ext cx="42213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3200" dirty="0">
                <a:latin typeface="+mn-lt"/>
              </a:rPr>
              <a:t>F</a:t>
            </a:r>
            <a:r>
              <a:rPr lang="it-IT" sz="3200" dirty="0" smtClean="0">
                <a:latin typeface="+mn-lt"/>
              </a:rPr>
              <a:t>ormulazione ricorsiva?</a:t>
            </a:r>
            <a:endParaRPr lang="it-IT" sz="32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1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91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400" grpId="0"/>
      <p:bldP spid="912400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6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Le torri di Hanoi</a:t>
            </a:r>
            <a:endParaRPr lang="en-US" dirty="0" smtClean="0"/>
          </a:p>
        </p:txBody>
      </p:sp>
      <p:sp>
        <p:nvSpPr>
          <p:cNvPr id="1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D5E0B-AECB-424A-8F25-651C9E09388E}" type="slidenum">
              <a:rPr lang="it-IT" smtClean="0"/>
              <a:pPr/>
              <a:t>45</a:t>
            </a:fld>
            <a:endParaRPr lang="it-IT"/>
          </a:p>
        </p:txBody>
      </p:sp>
      <p:grpSp>
        <p:nvGrpSpPr>
          <p:cNvPr id="46084" name="Group 20"/>
          <p:cNvGrpSpPr>
            <a:grpSpLocks/>
          </p:cNvGrpSpPr>
          <p:nvPr/>
        </p:nvGrpSpPr>
        <p:grpSpPr bwMode="auto">
          <a:xfrm>
            <a:off x="590550" y="2524393"/>
            <a:ext cx="7620000" cy="3143250"/>
            <a:chOff x="351" y="1359"/>
            <a:chExt cx="4800" cy="1980"/>
          </a:xfrm>
        </p:grpSpPr>
        <p:sp>
          <p:nvSpPr>
            <p:cNvPr id="46087" name="Rectangle 3" descr="75%"/>
            <p:cNvSpPr>
              <a:spLocks noChangeArrowheads="1"/>
            </p:cNvSpPr>
            <p:nvPr/>
          </p:nvSpPr>
          <p:spPr bwMode="auto">
            <a:xfrm>
              <a:off x="1455" y="1555"/>
              <a:ext cx="144" cy="14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88" name="Rectangle 5" descr="Diagonali larghe verso l'alto"/>
            <p:cNvSpPr>
              <a:spLocks noChangeArrowheads="1"/>
            </p:cNvSpPr>
            <p:nvPr/>
          </p:nvSpPr>
          <p:spPr bwMode="auto">
            <a:xfrm>
              <a:off x="879" y="2851"/>
              <a:ext cx="1296" cy="19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89" name="Rectangle 7" descr="75%"/>
            <p:cNvSpPr>
              <a:spLocks noChangeArrowheads="1"/>
            </p:cNvSpPr>
            <p:nvPr/>
          </p:nvSpPr>
          <p:spPr bwMode="auto">
            <a:xfrm>
              <a:off x="3279" y="1555"/>
              <a:ext cx="144" cy="14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0" name="Rectangle 8" descr="75%"/>
            <p:cNvSpPr>
              <a:spLocks noChangeArrowheads="1"/>
            </p:cNvSpPr>
            <p:nvPr/>
          </p:nvSpPr>
          <p:spPr bwMode="auto">
            <a:xfrm>
              <a:off x="4767" y="1555"/>
              <a:ext cx="144" cy="14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1" name="Line 9"/>
            <p:cNvSpPr>
              <a:spLocks noChangeShapeType="1"/>
            </p:cNvSpPr>
            <p:nvPr/>
          </p:nvSpPr>
          <p:spPr bwMode="auto">
            <a:xfrm>
              <a:off x="351" y="3043"/>
              <a:ext cx="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2" name="Text Box 11"/>
            <p:cNvSpPr txBox="1">
              <a:spLocks noChangeArrowheads="1"/>
            </p:cNvSpPr>
            <p:nvPr/>
          </p:nvSpPr>
          <p:spPr bwMode="auto">
            <a:xfrm>
              <a:off x="1393" y="3009"/>
              <a:ext cx="27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2800" b="1" dirty="0"/>
                <a:t>A</a:t>
              </a:r>
            </a:p>
          </p:txBody>
        </p:sp>
        <p:sp>
          <p:nvSpPr>
            <p:cNvPr id="46093" name="Text Box 12"/>
            <p:cNvSpPr txBox="1">
              <a:spLocks noChangeArrowheads="1"/>
            </p:cNvSpPr>
            <p:nvPr/>
          </p:nvSpPr>
          <p:spPr bwMode="auto">
            <a:xfrm>
              <a:off x="3217" y="3009"/>
              <a:ext cx="27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2800" b="1"/>
                <a:t>B</a:t>
              </a:r>
            </a:p>
          </p:txBody>
        </p:sp>
        <p:sp>
          <p:nvSpPr>
            <p:cNvPr id="46094" name="Text Box 13"/>
            <p:cNvSpPr txBox="1">
              <a:spLocks noChangeArrowheads="1"/>
            </p:cNvSpPr>
            <p:nvPr/>
          </p:nvSpPr>
          <p:spPr bwMode="auto">
            <a:xfrm>
              <a:off x="4706" y="3009"/>
              <a:ext cx="26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2800" b="1"/>
                <a:t>C</a:t>
              </a:r>
            </a:p>
          </p:txBody>
        </p:sp>
        <p:sp>
          <p:nvSpPr>
            <p:cNvPr id="46095" name="AutoShape 15" descr="Diagonali larghe verso l'alto"/>
            <p:cNvSpPr>
              <a:spLocks noChangeArrowheads="1"/>
            </p:cNvSpPr>
            <p:nvPr/>
          </p:nvSpPr>
          <p:spPr bwMode="auto">
            <a:xfrm>
              <a:off x="932" y="1807"/>
              <a:ext cx="1198" cy="951"/>
            </a:xfrm>
            <a:prstGeom prst="triangle">
              <a:avLst>
                <a:gd name="adj" fmla="val 50000"/>
              </a:avLst>
            </a:prstGeom>
            <a:pattFill prst="wdUpDiag">
              <a:fgClr>
                <a:schemeClr val="tx1"/>
              </a:fgClr>
              <a:bgClr>
                <a:srgbClr val="FFFFFF"/>
              </a:bgClr>
            </a:pattFill>
            <a:ln w="76200" algn="ctr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6" name="AutoShape 16"/>
            <p:cNvSpPr>
              <a:spLocks noChangeArrowheads="1"/>
            </p:cNvSpPr>
            <p:nvPr/>
          </p:nvSpPr>
          <p:spPr bwMode="auto">
            <a:xfrm>
              <a:off x="1838" y="1359"/>
              <a:ext cx="1323" cy="462"/>
            </a:xfrm>
            <a:prstGeom prst="curvedDownArrow">
              <a:avLst>
                <a:gd name="adj1" fmla="val 57273"/>
                <a:gd name="adj2" fmla="val 114545"/>
                <a:gd name="adj3" fmla="val 33333"/>
              </a:avLst>
            </a:prstGeom>
            <a:solidFill>
              <a:srgbClr val="CC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6085" name="Text Box 18"/>
          <p:cNvSpPr txBox="1">
            <a:spLocks noChangeArrowheads="1"/>
          </p:cNvSpPr>
          <p:nvPr/>
        </p:nvSpPr>
        <p:spPr bwMode="auto">
          <a:xfrm>
            <a:off x="128588" y="2525980"/>
            <a:ext cx="1835149" cy="830997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+mn-lt"/>
              </a:rPr>
              <a:t>Torre di </a:t>
            </a:r>
            <a:r>
              <a:rPr lang="en-US" sz="2400" i="1" dirty="0">
                <a:latin typeface="+mn-lt"/>
              </a:rPr>
              <a:t>n-1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dischi</a:t>
            </a:r>
            <a:endParaRPr lang="en-US" sz="24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Le torri di Hanoi</a:t>
            </a:r>
            <a:endParaRPr lang="en-US" smtClean="0"/>
          </a:p>
        </p:txBody>
      </p:sp>
      <p:sp>
        <p:nvSpPr>
          <p:cNvPr id="1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D6EB-8BC3-4F6C-8DAA-7FDED7FEA2A6}" type="slidenum">
              <a:rPr lang="it-IT" smtClean="0"/>
              <a:pPr/>
              <a:t>46</a:t>
            </a:fld>
            <a:endParaRPr lang="it-IT"/>
          </a:p>
        </p:txBody>
      </p:sp>
      <p:grpSp>
        <p:nvGrpSpPr>
          <p:cNvPr id="47107" name="Group 15"/>
          <p:cNvGrpSpPr>
            <a:grpSpLocks/>
          </p:cNvGrpSpPr>
          <p:nvPr/>
        </p:nvGrpSpPr>
        <p:grpSpPr bwMode="auto">
          <a:xfrm>
            <a:off x="590550" y="1572520"/>
            <a:ext cx="7620000" cy="3573463"/>
            <a:chOff x="288" y="708"/>
            <a:chExt cx="4800" cy="2251"/>
          </a:xfrm>
        </p:grpSpPr>
        <p:sp>
          <p:nvSpPr>
            <p:cNvPr id="47109" name="Rectangle 3" descr="75%"/>
            <p:cNvSpPr>
              <a:spLocks noChangeArrowheads="1"/>
            </p:cNvSpPr>
            <p:nvPr/>
          </p:nvSpPr>
          <p:spPr bwMode="auto">
            <a:xfrm>
              <a:off x="1392" y="1471"/>
              <a:ext cx="144" cy="14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0" name="Rectangle 4" descr="Diagonali larghe verso l'alto"/>
            <p:cNvSpPr>
              <a:spLocks noChangeArrowheads="1"/>
            </p:cNvSpPr>
            <p:nvPr/>
          </p:nvSpPr>
          <p:spPr bwMode="auto">
            <a:xfrm>
              <a:off x="816" y="2767"/>
              <a:ext cx="1296" cy="19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1" name="Rectangle 5" descr="75%"/>
            <p:cNvSpPr>
              <a:spLocks noChangeArrowheads="1"/>
            </p:cNvSpPr>
            <p:nvPr/>
          </p:nvSpPr>
          <p:spPr bwMode="auto">
            <a:xfrm>
              <a:off x="3216" y="1471"/>
              <a:ext cx="144" cy="14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2" name="Rectangle 6" descr="75%"/>
            <p:cNvSpPr>
              <a:spLocks noChangeArrowheads="1"/>
            </p:cNvSpPr>
            <p:nvPr/>
          </p:nvSpPr>
          <p:spPr bwMode="auto">
            <a:xfrm>
              <a:off x="4704" y="1471"/>
              <a:ext cx="144" cy="14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3" name="Line 7"/>
            <p:cNvSpPr>
              <a:spLocks noChangeShapeType="1"/>
            </p:cNvSpPr>
            <p:nvPr/>
          </p:nvSpPr>
          <p:spPr bwMode="auto">
            <a:xfrm>
              <a:off x="288" y="2959"/>
              <a:ext cx="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7" name="AutoShape 12" descr="Diagonali larghe verso l'alto"/>
            <p:cNvSpPr>
              <a:spLocks noChangeArrowheads="1"/>
            </p:cNvSpPr>
            <p:nvPr/>
          </p:nvSpPr>
          <p:spPr bwMode="auto">
            <a:xfrm>
              <a:off x="2702" y="1985"/>
              <a:ext cx="1198" cy="951"/>
            </a:xfrm>
            <a:prstGeom prst="triangle">
              <a:avLst>
                <a:gd name="adj" fmla="val 50000"/>
              </a:avLst>
            </a:prstGeom>
            <a:pattFill prst="wdUpDiag">
              <a:fgClr>
                <a:schemeClr val="tx1"/>
              </a:fgClr>
              <a:bgClr>
                <a:srgbClr val="FFFFFF"/>
              </a:bgClr>
            </a:pattFill>
            <a:ln w="76200" algn="ctr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8" name="AutoShape 13"/>
            <p:cNvSpPr>
              <a:spLocks noChangeArrowheads="1"/>
            </p:cNvSpPr>
            <p:nvPr/>
          </p:nvSpPr>
          <p:spPr bwMode="auto">
            <a:xfrm>
              <a:off x="1624" y="708"/>
              <a:ext cx="3234" cy="1291"/>
            </a:xfrm>
            <a:prstGeom prst="curvedDownArrow">
              <a:avLst>
                <a:gd name="adj1" fmla="val 26396"/>
                <a:gd name="adj2" fmla="val 76496"/>
                <a:gd name="adj3" fmla="val 39426"/>
              </a:avLst>
            </a:prstGeom>
            <a:solidFill>
              <a:srgbClr val="CC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244012" y="5091558"/>
            <a:ext cx="4299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 dirty="0"/>
              <a:t>A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5139604" y="5091558"/>
            <a:ext cx="4315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/>
              <a:t>B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7504217" y="5091558"/>
            <a:ext cx="4251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/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Le torri di Hanoi</a:t>
            </a:r>
            <a:endParaRPr lang="en-US" smtClean="0"/>
          </a:p>
        </p:txBody>
      </p:sp>
      <p:sp>
        <p:nvSpPr>
          <p:cNvPr id="1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73F7-DB5E-4152-B87F-15F2528A9A97}" type="slidenum">
              <a:rPr lang="it-IT" smtClean="0"/>
              <a:pPr/>
              <a:t>47</a:t>
            </a:fld>
            <a:endParaRPr lang="it-IT"/>
          </a:p>
        </p:txBody>
      </p:sp>
      <p:grpSp>
        <p:nvGrpSpPr>
          <p:cNvPr id="48131" name="Group 15"/>
          <p:cNvGrpSpPr>
            <a:grpSpLocks/>
          </p:cNvGrpSpPr>
          <p:nvPr/>
        </p:nvGrpSpPr>
        <p:grpSpPr bwMode="auto">
          <a:xfrm>
            <a:off x="590550" y="1884837"/>
            <a:ext cx="8132763" cy="3295650"/>
            <a:chOff x="288" y="883"/>
            <a:chExt cx="5123" cy="2076"/>
          </a:xfrm>
        </p:grpSpPr>
        <p:sp>
          <p:nvSpPr>
            <p:cNvPr id="48133" name="Rectangle 3" descr="75%"/>
            <p:cNvSpPr>
              <a:spLocks noChangeArrowheads="1"/>
            </p:cNvSpPr>
            <p:nvPr/>
          </p:nvSpPr>
          <p:spPr bwMode="auto">
            <a:xfrm>
              <a:off x="1392" y="1471"/>
              <a:ext cx="144" cy="14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4" name="Rectangle 5" descr="75%"/>
            <p:cNvSpPr>
              <a:spLocks noChangeArrowheads="1"/>
            </p:cNvSpPr>
            <p:nvPr/>
          </p:nvSpPr>
          <p:spPr bwMode="auto">
            <a:xfrm>
              <a:off x="3216" y="1471"/>
              <a:ext cx="144" cy="14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5" name="Rectangle 6" descr="75%"/>
            <p:cNvSpPr>
              <a:spLocks noChangeArrowheads="1"/>
            </p:cNvSpPr>
            <p:nvPr/>
          </p:nvSpPr>
          <p:spPr bwMode="auto">
            <a:xfrm>
              <a:off x="4704" y="1471"/>
              <a:ext cx="144" cy="14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6" name="Line 7"/>
            <p:cNvSpPr>
              <a:spLocks noChangeShapeType="1"/>
            </p:cNvSpPr>
            <p:nvPr/>
          </p:nvSpPr>
          <p:spPr bwMode="auto">
            <a:xfrm>
              <a:off x="288" y="2959"/>
              <a:ext cx="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0" name="AutoShape 11" descr="Diagonali larghe verso l'alto"/>
            <p:cNvSpPr>
              <a:spLocks noChangeArrowheads="1"/>
            </p:cNvSpPr>
            <p:nvPr/>
          </p:nvSpPr>
          <p:spPr bwMode="auto">
            <a:xfrm>
              <a:off x="2702" y="1985"/>
              <a:ext cx="1198" cy="951"/>
            </a:xfrm>
            <a:prstGeom prst="triangle">
              <a:avLst>
                <a:gd name="adj" fmla="val 50000"/>
              </a:avLst>
            </a:prstGeom>
            <a:pattFill prst="wdUpDiag">
              <a:fgClr>
                <a:schemeClr val="tx1"/>
              </a:fgClr>
              <a:bgClr>
                <a:srgbClr val="FFFFFF"/>
              </a:bgClr>
            </a:pattFill>
            <a:ln w="76200" algn="ctr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1" name="Rectangle 4" descr="Diagonali larghe verso l'alto"/>
            <p:cNvSpPr>
              <a:spLocks noChangeArrowheads="1"/>
            </p:cNvSpPr>
            <p:nvPr/>
          </p:nvSpPr>
          <p:spPr bwMode="auto">
            <a:xfrm>
              <a:off x="4115" y="2767"/>
              <a:ext cx="1296" cy="19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2" name="AutoShape 13"/>
            <p:cNvSpPr>
              <a:spLocks noChangeArrowheads="1"/>
            </p:cNvSpPr>
            <p:nvPr/>
          </p:nvSpPr>
          <p:spPr bwMode="auto">
            <a:xfrm>
              <a:off x="3477" y="883"/>
              <a:ext cx="1323" cy="462"/>
            </a:xfrm>
            <a:prstGeom prst="curvedDownArrow">
              <a:avLst>
                <a:gd name="adj1" fmla="val 57273"/>
                <a:gd name="adj2" fmla="val 114545"/>
                <a:gd name="adj3" fmla="val 33333"/>
              </a:avLst>
            </a:prstGeom>
            <a:solidFill>
              <a:srgbClr val="CC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244012" y="5126062"/>
            <a:ext cx="4299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 dirty="0"/>
              <a:t>A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5139604" y="5126062"/>
            <a:ext cx="4315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/>
              <a:t>B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7504217" y="5126062"/>
            <a:ext cx="4251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/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Le torri di Hanoi</a:t>
            </a:r>
            <a:endParaRPr lang="en-US" smtClean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3E5EC-F1A8-4D5B-A3E8-56C568B39064}" type="slidenum">
              <a:rPr lang="it-IT" smtClean="0"/>
              <a:pPr/>
              <a:t>48</a:t>
            </a:fld>
            <a:endParaRPr lang="it-IT"/>
          </a:p>
        </p:txBody>
      </p:sp>
      <p:grpSp>
        <p:nvGrpSpPr>
          <p:cNvPr id="49155" name="Group 14"/>
          <p:cNvGrpSpPr>
            <a:grpSpLocks/>
          </p:cNvGrpSpPr>
          <p:nvPr/>
        </p:nvGrpSpPr>
        <p:grpSpPr bwMode="auto">
          <a:xfrm>
            <a:off x="590550" y="2714769"/>
            <a:ext cx="8132763" cy="2362200"/>
            <a:chOff x="288" y="1471"/>
            <a:chExt cx="5123" cy="1488"/>
          </a:xfrm>
        </p:grpSpPr>
        <p:sp>
          <p:nvSpPr>
            <p:cNvPr id="49157" name="Rectangle 3" descr="75%"/>
            <p:cNvSpPr>
              <a:spLocks noChangeArrowheads="1"/>
            </p:cNvSpPr>
            <p:nvPr/>
          </p:nvSpPr>
          <p:spPr bwMode="auto">
            <a:xfrm>
              <a:off x="1392" y="1471"/>
              <a:ext cx="144" cy="14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58" name="Rectangle 4" descr="75%"/>
            <p:cNvSpPr>
              <a:spLocks noChangeArrowheads="1"/>
            </p:cNvSpPr>
            <p:nvPr/>
          </p:nvSpPr>
          <p:spPr bwMode="auto">
            <a:xfrm>
              <a:off x="3216" y="1471"/>
              <a:ext cx="144" cy="14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59" name="Rectangle 5" descr="75%"/>
            <p:cNvSpPr>
              <a:spLocks noChangeArrowheads="1"/>
            </p:cNvSpPr>
            <p:nvPr/>
          </p:nvSpPr>
          <p:spPr bwMode="auto">
            <a:xfrm>
              <a:off x="4704" y="1471"/>
              <a:ext cx="144" cy="1488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0" name="Line 6"/>
            <p:cNvSpPr>
              <a:spLocks noChangeShapeType="1"/>
            </p:cNvSpPr>
            <p:nvPr/>
          </p:nvSpPr>
          <p:spPr bwMode="auto">
            <a:xfrm>
              <a:off x="288" y="2959"/>
              <a:ext cx="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4" name="AutoShape 10" descr="Diagonali larghe verso l'alto"/>
            <p:cNvSpPr>
              <a:spLocks noChangeArrowheads="1"/>
            </p:cNvSpPr>
            <p:nvPr/>
          </p:nvSpPr>
          <p:spPr bwMode="auto">
            <a:xfrm>
              <a:off x="4159" y="1749"/>
              <a:ext cx="1198" cy="951"/>
            </a:xfrm>
            <a:prstGeom prst="triangle">
              <a:avLst>
                <a:gd name="adj" fmla="val 50000"/>
              </a:avLst>
            </a:prstGeom>
            <a:pattFill prst="wdUpDiag">
              <a:fgClr>
                <a:schemeClr val="tx1"/>
              </a:fgClr>
              <a:bgClr>
                <a:srgbClr val="FFFFFF"/>
              </a:bgClr>
            </a:pattFill>
            <a:ln w="76200" algn="ctr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5" name="Rectangle 11" descr="Diagonali larghe verso l'alto"/>
            <p:cNvSpPr>
              <a:spLocks noChangeArrowheads="1"/>
            </p:cNvSpPr>
            <p:nvPr/>
          </p:nvSpPr>
          <p:spPr bwMode="auto">
            <a:xfrm>
              <a:off x="4115" y="2767"/>
              <a:ext cx="1296" cy="19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244012" y="5022544"/>
            <a:ext cx="4299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 dirty="0"/>
              <a:t>A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5139604" y="5022544"/>
            <a:ext cx="4315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/>
              <a:t>B</a:t>
            </a: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7504217" y="5022544"/>
            <a:ext cx="4251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/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Il metodo</a:t>
            </a:r>
            <a:endParaRPr lang="en-US" smtClean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 smtClean="0"/>
              <a:t>Il programma deve stampare una serie di comandi di spostamento</a:t>
            </a:r>
          </a:p>
          <a:p>
            <a:pPr lvl="1"/>
            <a:r>
              <a:rPr lang="it-IT" dirty="0" smtClean="0"/>
              <a:t>So spostare la torre di 0 elementi da A a C</a:t>
            </a:r>
          </a:p>
          <a:p>
            <a:pPr lvl="2"/>
            <a:r>
              <a:rPr lang="it-IT" dirty="0" smtClean="0"/>
              <a:t>Caso di base</a:t>
            </a:r>
          </a:p>
          <a:p>
            <a:pPr lvl="1"/>
            <a:r>
              <a:rPr lang="it-IT" dirty="0" smtClean="0"/>
              <a:t>Per spostare la torre di </a:t>
            </a:r>
            <a:r>
              <a:rPr lang="it-IT" dirty="0" err="1" smtClean="0"/>
              <a:t>N</a:t>
            </a:r>
            <a:r>
              <a:rPr lang="it-IT" dirty="0" smtClean="0"/>
              <a:t> elementi da A a C</a:t>
            </a:r>
          </a:p>
          <a:p>
            <a:pPr lvl="2"/>
            <a:r>
              <a:rPr lang="it-IT" dirty="0"/>
              <a:t>S</a:t>
            </a:r>
            <a:r>
              <a:rPr lang="it-IT" dirty="0" smtClean="0"/>
              <a:t>posto la torre di N-1 cerchi da A a B</a:t>
            </a:r>
          </a:p>
          <a:p>
            <a:pPr lvl="2"/>
            <a:r>
              <a:rPr lang="it-IT" dirty="0"/>
              <a:t>S</a:t>
            </a:r>
            <a:r>
              <a:rPr lang="it-IT" dirty="0" smtClean="0"/>
              <a:t>posto il cerchio restante in C</a:t>
            </a:r>
          </a:p>
          <a:p>
            <a:pPr lvl="2"/>
            <a:r>
              <a:rPr lang="it-IT" dirty="0"/>
              <a:t>S</a:t>
            </a:r>
            <a:r>
              <a:rPr lang="it-IT" dirty="0" smtClean="0"/>
              <a:t>posto la torre di N-1 elementi da B a C</a:t>
            </a:r>
          </a:p>
          <a:p>
            <a:pPr lvl="2"/>
            <a:endParaRPr lang="it-IT" dirty="0"/>
          </a:p>
          <a:p>
            <a:r>
              <a:rPr lang="it-IT" dirty="0"/>
              <a:t>Gli spostamenti da un piolo all'altro avvengono usando "il piolo residuo" come piolo di </a:t>
            </a:r>
            <a:r>
              <a:rPr lang="it-IT" dirty="0" smtClean="0"/>
              <a:t>appoggio</a:t>
            </a:r>
            <a:endParaRPr lang="it-IT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76E2-EB6C-414B-9A0A-6AE83142D1B0}" type="slidenum">
              <a:rPr lang="it-IT" smtClean="0"/>
              <a:pPr/>
              <a:t>49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02DE3B-2C55-4C5E-910A-D86C95F3F308}" type="slidenum">
              <a:rPr lang="it-IT"/>
              <a:pPr>
                <a:defRPr/>
              </a:pPr>
              <a:t>50</a:t>
            </a:fld>
            <a:endParaRPr lang="it-IT"/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524132" y="3526658"/>
            <a:ext cx="8042586" cy="20313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void hanoi (int n, char from, char to, char with) {</a:t>
            </a:r>
          </a:p>
          <a:p>
            <a:pPr algn="l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( n != 0 ) {</a:t>
            </a:r>
          </a:p>
          <a:p>
            <a:pPr algn="l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     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hanoi( n-1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, from, with, 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to );</a:t>
            </a:r>
            <a:endParaRPr lang="it-IT" sz="18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     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printf("Sposta un cerchio 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da %c a %c\n", from, to);</a:t>
            </a:r>
          </a:p>
          <a:p>
            <a:pPr algn="l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     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hanoi( n-1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, with, to, 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from );</a:t>
            </a:r>
            <a:endParaRPr lang="it-IT" sz="18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  }</a:t>
            </a:r>
          </a:p>
          <a:p>
            <a:pPr algn="l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51204" name="Text Box 3"/>
          <p:cNvSpPr txBox="1">
            <a:spLocks noChangeArrowheads="1"/>
          </p:cNvSpPr>
          <p:nvPr/>
        </p:nvSpPr>
        <p:spPr bwMode="auto">
          <a:xfrm>
            <a:off x="1018138" y="878665"/>
            <a:ext cx="6801862" cy="166199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/>
            <a:r>
              <a:rPr lang="it-IT" sz="2400" dirty="0">
                <a:latin typeface="+mn-lt"/>
              </a:rPr>
              <a:t>Chiamata </a:t>
            </a:r>
            <a:r>
              <a:rPr lang="it-IT" sz="2400" dirty="0" smtClean="0">
                <a:latin typeface="+mn-lt"/>
              </a:rPr>
              <a:t>iniziale</a:t>
            </a:r>
            <a:endParaRPr lang="it-IT" sz="2400" dirty="0">
              <a:latin typeface="+mn-lt"/>
            </a:endParaRPr>
          </a:p>
          <a:p>
            <a:pPr algn="l"/>
            <a:endParaRPr lang="it-IT" sz="2400" dirty="0"/>
          </a:p>
          <a:p>
            <a:pPr algn="l"/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hanoi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(12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'A'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'C', 'B'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) </a:t>
            </a:r>
          </a:p>
          <a:p>
            <a:pPr algn="l"/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/* </a:t>
            </a:r>
            <a:r>
              <a:rPr lang="it-IT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significa che abbiamo una torre di 12 cerchi</a:t>
            </a:r>
          </a:p>
          <a:p>
            <a:pPr algn="l"/>
            <a:r>
              <a:rPr lang="it-IT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 da </a:t>
            </a:r>
            <a:r>
              <a:rPr lang="it-IT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trasferire da </a:t>
            </a:r>
            <a:r>
              <a:rPr lang="en-US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it-IT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a </a:t>
            </a:r>
            <a:r>
              <a:rPr lang="en-US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C </a:t>
            </a:r>
            <a:r>
              <a:rPr lang="en-US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sz="1800" dirty="0" err="1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appoggiandoci</a:t>
            </a:r>
            <a:r>
              <a:rPr lang="en-US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" a </a:t>
            </a:r>
            <a:r>
              <a:rPr lang="en-US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B</a:t>
            </a:r>
            <a:r>
              <a:rPr lang="it-IT" sz="1800" dirty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 */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C4CD1-281D-44C9-9C50-F0AEDBDDDC6B}" type="slidenum">
              <a:rPr lang="it-IT"/>
              <a:pPr>
                <a:defRPr/>
              </a:pPr>
              <a:t>51</a:t>
            </a:fld>
            <a:endParaRPr lang="it-IT"/>
          </a:p>
        </p:txBody>
      </p:sp>
      <p:sp>
        <p:nvSpPr>
          <p:cNvPr id="52227" name="Text Box 2"/>
          <p:cNvSpPr txBox="1">
            <a:spLocks noChangeArrowheads="1"/>
          </p:cNvSpPr>
          <p:nvPr/>
        </p:nvSpPr>
        <p:spPr bwMode="auto">
          <a:xfrm>
            <a:off x="312738" y="3424782"/>
            <a:ext cx="8374061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void hanoi (int n, int from, int to) {</a:t>
            </a:r>
          </a:p>
          <a:p>
            <a:pPr algn="l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  if (n != 0) {</a:t>
            </a:r>
          </a:p>
          <a:p>
            <a:pPr algn="l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     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hanoi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(n-1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, from, 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6 – from – to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pPr algn="l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     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printf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("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sposta cerchio da </a:t>
            </a:r>
            <a:r>
              <a:rPr lang="it-IT" sz="1800" dirty="0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%d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a </a:t>
            </a:r>
            <a:r>
              <a:rPr lang="it-IT" sz="1800" dirty="0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%d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", from, to);</a:t>
            </a:r>
          </a:p>
          <a:p>
            <a:pPr algn="l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      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hanoi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(n-1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it-IT" sz="1800" i="1" dirty="0">
                <a:solidFill>
                  <a:srgbClr val="001AFF"/>
                </a:solidFill>
                <a:latin typeface="Courier" charset="0"/>
                <a:ea typeface="Courier" charset="0"/>
                <a:cs typeface="Courier" charset="0"/>
              </a:rPr>
              <a:t>6 – from – to</a:t>
            </a: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, to);</a:t>
            </a:r>
            <a:endParaRPr lang="en-US" sz="18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en-US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800" dirty="0" smtClean="0">
                <a:latin typeface="Courier" charset="0"/>
                <a:ea typeface="Courier" charset="0"/>
                <a:cs typeface="Courier" charset="0"/>
              </a:rPr>
              <a:t>  }</a:t>
            </a:r>
          </a:p>
          <a:p>
            <a:pPr algn="l"/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}</a:t>
            </a:r>
            <a:endParaRPr lang="it-IT" sz="18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2228" name="Text Box 3"/>
          <p:cNvSpPr txBox="1">
            <a:spLocks noChangeArrowheads="1"/>
          </p:cNvSpPr>
          <p:nvPr/>
        </p:nvSpPr>
        <p:spPr bwMode="auto">
          <a:xfrm>
            <a:off x="312738" y="31550"/>
            <a:ext cx="8574087" cy="29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400" dirty="0" err="1">
                <a:latin typeface="+mn-lt"/>
              </a:rPr>
              <a:t>Una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variante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più</a:t>
            </a:r>
            <a:r>
              <a:rPr lang="en-US" sz="2400" dirty="0">
                <a:latin typeface="+mn-lt"/>
              </a:rPr>
              <a:t> "</a:t>
            </a:r>
            <a:r>
              <a:rPr lang="en-US" sz="2400" dirty="0" err="1">
                <a:latin typeface="+mn-lt"/>
              </a:rPr>
              <a:t>stringata</a:t>
            </a:r>
            <a:r>
              <a:rPr lang="en-US" sz="2400" dirty="0">
                <a:latin typeface="+mn-lt"/>
              </a:rPr>
              <a:t>"</a:t>
            </a:r>
            <a:endParaRPr lang="it-IT" sz="2400" dirty="0">
              <a:latin typeface="+mn-lt"/>
            </a:endParaRPr>
          </a:p>
          <a:p>
            <a:pPr algn="l"/>
            <a:endParaRPr lang="it-IT" sz="1600" dirty="0"/>
          </a:p>
          <a:p>
            <a:pPr algn="l"/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hanoi (int n, int from, int to);</a:t>
            </a:r>
          </a:p>
          <a:p>
            <a:pPr algn="l"/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/*</a:t>
            </a:r>
            <a:endParaRPr lang="it-IT" sz="18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1800" dirty="0" smtClean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Significa </a:t>
            </a:r>
            <a:r>
              <a:rPr lang="it-IT" sz="1800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che abbiamo una torre di n cerchi da </a:t>
            </a:r>
            <a:r>
              <a:rPr lang="it-IT" sz="1800" dirty="0" smtClean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trasferire da </a:t>
            </a:r>
            <a:r>
              <a:rPr lang="it-IT" sz="1800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from a to; adottiamo una codifica dei nomi dei tre pioli che permetta di ricavare in modo immediato il "nome" di ogni piolo partendo dai "nomi" degli altri due: i pioli sono ora indicati da </a:t>
            </a:r>
            <a:r>
              <a:rPr lang="it-IT" sz="1800" i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interi</a:t>
            </a:r>
            <a:r>
              <a:rPr lang="it-IT" sz="1800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 1, 2, 3, e non dei caratteri 'A', 'B', 'C' */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Hanoi: soluzione iterativa</a:t>
            </a:r>
            <a:endParaRPr lang="it-IT" dirty="0" smtClean="0"/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 smtClean="0"/>
              <a:t>Non è così evidente </a:t>
            </a:r>
            <a:r>
              <a:rPr lang="is-IS" dirty="0" smtClean="0"/>
              <a:t>…</a:t>
            </a:r>
            <a:endParaRPr lang="it-IT" dirty="0" smtClean="0"/>
          </a:p>
          <a:p>
            <a:endParaRPr lang="it-IT" dirty="0" smtClean="0"/>
          </a:p>
          <a:p>
            <a:r>
              <a:rPr lang="it-IT" dirty="0" smtClean="0"/>
              <a:t>Stabiliamo un "senso orario" tra i pioli: 1, 2, 3 e poi ancora 1, ecc.</a:t>
            </a:r>
          </a:p>
          <a:p>
            <a:endParaRPr lang="it-IT" dirty="0" smtClean="0"/>
          </a:p>
          <a:p>
            <a:r>
              <a:rPr lang="it-IT" dirty="0" smtClean="0"/>
              <a:t>Per muovere la torre nel prossimo piolo in senso orario bisogna ripetere questi due passi:</a:t>
            </a:r>
          </a:p>
          <a:p>
            <a:pPr lvl="1"/>
            <a:r>
              <a:rPr lang="it-IT" dirty="0"/>
              <a:t>S</a:t>
            </a:r>
            <a:r>
              <a:rPr lang="it-IT" dirty="0" smtClean="0"/>
              <a:t>posta il disco più piccolo in senso orario</a:t>
            </a:r>
          </a:p>
          <a:p>
            <a:pPr lvl="1"/>
            <a:r>
              <a:rPr lang="it-IT" dirty="0"/>
              <a:t>F</a:t>
            </a:r>
            <a:r>
              <a:rPr lang="it-IT" dirty="0" smtClean="0"/>
              <a:t>ai l'unico altro spostamento possibile con un altro disco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90BB2-DD8E-42FE-974A-B1A6B552850B}" type="slidenum">
              <a:rPr lang="it-IT" smtClean="0"/>
              <a:pPr/>
              <a:t>52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Ricorsione o iterazione?</a:t>
            </a:r>
            <a:endParaRPr lang="en-US" dirty="0" smtClean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it-IT" dirty="0" smtClean="0"/>
              <a:t>Spesso le soluzioni ricorsive sono eleganti</a:t>
            </a:r>
          </a:p>
          <a:p>
            <a:endParaRPr lang="it-IT" dirty="0" smtClean="0"/>
          </a:p>
          <a:p>
            <a:r>
              <a:rPr lang="it-IT" dirty="0" smtClean="0"/>
              <a:t>Sono vicine alla definizione del problema</a:t>
            </a:r>
          </a:p>
          <a:p>
            <a:endParaRPr lang="it-IT" dirty="0" smtClean="0"/>
          </a:p>
          <a:p>
            <a:r>
              <a:rPr lang="it-IT" dirty="0" smtClean="0"/>
              <a:t>Però a volte possono essere inefficienti</a:t>
            </a:r>
          </a:p>
          <a:p>
            <a:pPr lvl="1"/>
            <a:r>
              <a:rPr lang="it-IT" dirty="0" smtClean="0"/>
              <a:t>Chiamare un sottoprogramma significa allocare memoria a </a:t>
            </a:r>
            <a:r>
              <a:rPr lang="it-IT" dirty="0" err="1" smtClean="0"/>
              <a:t>run</a:t>
            </a:r>
            <a:r>
              <a:rPr lang="it-IT" dirty="0" smtClean="0"/>
              <a:t>-time</a:t>
            </a:r>
          </a:p>
          <a:p>
            <a:pPr lvl="1"/>
            <a:endParaRPr lang="it-IT" dirty="0"/>
          </a:p>
          <a:p>
            <a:r>
              <a:rPr lang="it-IT" dirty="0"/>
              <a:t>N.B. è sempre possibile trovare un corrispondente iterativo di un programma </a:t>
            </a:r>
            <a:r>
              <a:rPr lang="it-IT" dirty="0" smtClean="0"/>
              <a:t>ricorsivo</a:t>
            </a:r>
            <a:endParaRPr lang="it-IT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74133-B47F-4FE6-B313-5892861A18F2}" type="slidenum">
              <a:rPr lang="it-IT" smtClean="0"/>
              <a:pPr/>
              <a:t>53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Calcolo numeri di fibonacci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6F6B-017C-49CB-97BF-C5A2662F91C9}" type="slidenum">
              <a:rPr lang="it-IT" smtClean="0"/>
              <a:pPr/>
              <a:t>54</a:t>
            </a:fld>
            <a:endParaRPr lang="it-IT"/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1709678" y="1825045"/>
            <a:ext cx="572464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int fibonacci (int  n) </a:t>
            </a:r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{</a:t>
            </a:r>
          </a:p>
          <a:p>
            <a:pPr algn="l"/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	if (n == 0 || n == 1)</a:t>
            </a:r>
          </a:p>
          <a:p>
            <a:pPr algn="l"/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GB" sz="2000" dirty="0" smtClean="0">
                <a:latin typeface="Courier" charset="0"/>
                <a:ea typeface="Courier" charset="0"/>
                <a:cs typeface="Courier" charset="0"/>
              </a:rPr>
              <a:t>	return </a:t>
            </a:r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1;</a:t>
            </a:r>
          </a:p>
          <a:p>
            <a:pPr algn="l"/>
            <a:r>
              <a:rPr lang="en-GB" sz="20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else 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fibonacci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–1</a:t>
            </a:r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) + </a:t>
            </a: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			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fibonacci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sz="20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000" dirty="0" smtClean="0">
                <a:latin typeface="Courier" charset="0"/>
                <a:ea typeface="Courier" charset="0"/>
                <a:cs typeface="Courier" charset="0"/>
              </a:rPr>
              <a:t>–2));</a:t>
            </a:r>
            <a:endParaRPr lang="en-GB" sz="2000" dirty="0">
              <a:latin typeface="Courier" charset="0"/>
              <a:ea typeface="Courier" charset="0"/>
              <a:cs typeface="Courier" charset="0"/>
            </a:endParaRPr>
          </a:p>
          <a:p>
            <a:pPr algn="l"/>
            <a:r>
              <a:rPr lang="it-IT" sz="2000" dirty="0">
                <a:latin typeface="Courier" charset="0"/>
                <a:ea typeface="Courier" charset="0"/>
                <a:cs typeface="Courier" charset="0"/>
              </a:rPr>
              <a:t>} </a:t>
            </a: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732631" y="4583140"/>
            <a:ext cx="767873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it-IT" sz="2800" i="1" dirty="0">
                <a:latin typeface="+mn-lt"/>
              </a:rPr>
              <a:t>I</a:t>
            </a:r>
            <a:r>
              <a:rPr lang="it-IT" sz="2800" i="1" dirty="0" smtClean="0">
                <a:latin typeface="+mn-lt"/>
              </a:rPr>
              <a:t>nefficiente</a:t>
            </a:r>
            <a:r>
              <a:rPr lang="it-IT" sz="2800" i="1" dirty="0">
                <a:latin typeface="+mn-lt"/>
              </a:rPr>
              <a:t>!</a:t>
            </a:r>
          </a:p>
          <a:p>
            <a:pPr algn="l"/>
            <a:r>
              <a:rPr lang="it-IT" sz="2800" i="1" dirty="0">
                <a:latin typeface="+mn-lt"/>
              </a:rPr>
              <a:t>Calcola più volte l'i-esimo numero di fibonacci!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Numeri di Fibonacci</a:t>
            </a:r>
          </a:p>
        </p:txBody>
      </p:sp>
      <p:sp>
        <p:nvSpPr>
          <p:cNvPr id="56324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 smtClean="0"/>
              <a:t>La prima volta che si calcola un dato numero di Fibonacci lo si memorizza in un array</a:t>
            </a:r>
          </a:p>
          <a:p>
            <a:endParaRPr lang="it-IT" dirty="0" smtClean="0"/>
          </a:p>
          <a:p>
            <a:r>
              <a:rPr lang="it-IT" dirty="0" smtClean="0"/>
              <a:t>Dalla seconda volta in poi, anziché ricalcolarlo, lo si legge direttamente dall'array</a:t>
            </a:r>
          </a:p>
          <a:p>
            <a:endParaRPr lang="it-IT" dirty="0" smtClean="0"/>
          </a:p>
          <a:p>
            <a:r>
              <a:rPr lang="it-IT" dirty="0" smtClean="0"/>
              <a:t>Occorre un valore “innocuo” con cui inizializzare l'array per indicare che il numero di Fibonacci corrispondente non è stato ancora calcolato</a:t>
            </a:r>
          </a:p>
          <a:p>
            <a:pPr lvl="1"/>
            <a:r>
              <a:rPr lang="it-IT" dirty="0" smtClean="0"/>
              <a:t>Qui si può usare ad esempio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8FDBD-93CB-4299-B65E-44AFEE5A79AC}" type="slidenum">
              <a:rPr lang="it-IT" smtClean="0"/>
              <a:pPr/>
              <a:t>55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Inizializzazione dell'array memo</a:t>
            </a:r>
            <a:endParaRPr lang="it-IT" dirty="0" smtClean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01EB-70EC-427F-99E8-E7F8AF905007}" type="slidenum">
              <a:rPr lang="it-IT" smtClean="0"/>
              <a:pPr/>
              <a:t>56</a:t>
            </a:fld>
            <a:endParaRPr lang="it-IT"/>
          </a:p>
        </p:txBody>
      </p:sp>
      <p:sp>
        <p:nvSpPr>
          <p:cNvPr id="57348" name="Rectangle 4"/>
          <p:cNvSpPr>
            <a:spLocks noGrp="1" noChangeArrowheads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it-IT" sz="1800" dirty="0" smtClean="0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#define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MAX 100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spcAft>
                <a:spcPct val="20000"/>
              </a:spcAft>
              <a:buFontTx/>
              <a:buNone/>
            </a:pP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long 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memo[MAX];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Tx/>
              <a:buNone/>
            </a:pP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main() {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Tx/>
              <a:buNone/>
            </a:pP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i, 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Tx/>
              <a:buNone/>
            </a:pPr>
            <a:r>
              <a:rPr lang="it-IT" sz="1800" dirty="0">
                <a:solidFill>
                  <a:srgbClr val="FF3300"/>
                </a:solidFill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1800" dirty="0" smtClean="0">
                <a:solidFill>
                  <a:srgbClr val="FF3300"/>
                </a:solidFill>
                <a:latin typeface="Courier" charset="0"/>
                <a:ea typeface="Courier" charset="0"/>
                <a:cs typeface="Courier" charset="0"/>
              </a:rPr>
              <a:t>for (i=2; i &lt; MAX; i++) </a:t>
            </a:r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// inizializzazione</a:t>
            </a:r>
            <a:endParaRPr lang="it-IT" sz="1800" dirty="0">
              <a:latin typeface="Courier" charset="0"/>
              <a:ea typeface="Courier" charset="0"/>
              <a:cs typeface="Courier" charset="0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Tx/>
              <a:buNone/>
            </a:pPr>
            <a:r>
              <a:rPr lang="it-IT" sz="1800" dirty="0" smtClean="0">
                <a:solidFill>
                  <a:srgbClr val="FF3300"/>
                </a:solidFill>
                <a:latin typeface="Courier" charset="0"/>
                <a:ea typeface="Courier" charset="0"/>
                <a:cs typeface="Courier" charset="0"/>
              </a:rPr>
              <a:t>			memo[i]=0;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Tx/>
              <a:buNone/>
            </a:pPr>
            <a:r>
              <a:rPr lang="it-IT" sz="1800" dirty="0">
                <a:solidFill>
                  <a:srgbClr val="FF3300"/>
                </a:solidFill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1800" dirty="0" smtClean="0">
                <a:solidFill>
                  <a:srgbClr val="FF3300"/>
                </a:solidFill>
                <a:latin typeface="Courier" charset="0"/>
                <a:ea typeface="Courier" charset="0"/>
                <a:cs typeface="Courier" charset="0"/>
              </a:rPr>
              <a:t>memo[0] = memo[1] = 1;  </a:t>
            </a:r>
            <a:r>
              <a:rPr lang="it-IT" sz="1800" dirty="0" smtClean="0">
                <a:solidFill>
                  <a:srgbClr val="33CC33"/>
                </a:solidFill>
                <a:latin typeface="Courier" charset="0"/>
                <a:ea typeface="Courier" charset="0"/>
                <a:cs typeface="Courier" charset="0"/>
              </a:rPr>
              <a:t>// i due casi base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   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Tx/>
              <a:buNone/>
            </a:pP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printf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("Un intero: ");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Tx/>
              <a:buNone/>
            </a:pP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scanf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("%d",&amp;n);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Tx/>
              <a:buNone/>
            </a:pPr>
            <a:r>
              <a:rPr lang="it-IT" sz="18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1800" dirty="0" err="1" smtClean="0">
                <a:latin typeface="Courier" charset="0"/>
                <a:ea typeface="Courier" charset="0"/>
                <a:cs typeface="Courier" charset="0"/>
              </a:rPr>
              <a:t>printf</a:t>
            </a: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("fib(%d) = %d", n, fib(n));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Tx/>
              <a:buNone/>
            </a:pPr>
            <a:r>
              <a:rPr lang="it-IT" sz="18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sz="4000" dirty="0" smtClean="0"/>
              <a:t>Calcolo con memo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826DE2-6522-43F8-9DD8-17A3074AF1E4}" type="slidenum">
              <a:rPr lang="it-IT"/>
              <a:pPr>
                <a:defRPr/>
              </a:pPr>
              <a:t>57</a:t>
            </a:fld>
            <a:endParaRPr lang="it-IT"/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05774" y="1600200"/>
            <a:ext cx="6323162" cy="2747513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long 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fib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) {</a:t>
            </a:r>
          </a:p>
          <a:p>
            <a:pPr eaLnBrk="1" hangingPunct="1">
              <a:spcBef>
                <a:spcPts val="200"/>
              </a:spcBef>
              <a:buFontTx/>
              <a:buNone/>
            </a:pP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(memo[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] != 0)</a:t>
            </a:r>
          </a:p>
          <a:p>
            <a:pPr eaLnBrk="1" hangingPunct="1">
              <a:spcBef>
                <a:spcPts val="200"/>
              </a:spcBef>
              <a:buFontTx/>
              <a:buNone/>
            </a:pP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memo[n];</a:t>
            </a:r>
          </a:p>
          <a:p>
            <a:pPr eaLnBrk="1" hangingPunct="1">
              <a:buFontTx/>
              <a:buNone/>
            </a:pP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memo[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] = fib(n-1) + fib(n-2);</a:t>
            </a:r>
          </a:p>
          <a:p>
            <a:pPr eaLnBrk="1" hangingPunct="1">
              <a:buFontTx/>
              <a:buNone/>
            </a:pPr>
            <a:r>
              <a:rPr lang="it-IT" sz="24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4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 memo[n];</a:t>
            </a:r>
          </a:p>
          <a:p>
            <a:pPr eaLnBrk="1" hangingPunct="1">
              <a:buFontTx/>
              <a:buNone/>
            </a:pPr>
            <a:r>
              <a:rPr lang="it-IT" sz="24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943108" name="Text Box 4"/>
          <p:cNvSpPr txBox="1">
            <a:spLocks noChangeArrowheads="1"/>
          </p:cNvSpPr>
          <p:nvPr/>
        </p:nvSpPr>
        <p:spPr bwMode="auto">
          <a:xfrm>
            <a:off x="603850" y="4692920"/>
            <a:ext cx="780690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it-IT" sz="2400" dirty="0">
                <a:latin typeface="+mn-lt"/>
              </a:rPr>
              <a:t>Drastica riduzione della </a:t>
            </a:r>
            <a:r>
              <a:rPr lang="it-IT" sz="2400" i="1" dirty="0">
                <a:latin typeface="+mn-lt"/>
              </a:rPr>
              <a:t>complessità</a:t>
            </a:r>
            <a:r>
              <a:rPr lang="it-IT" sz="2400" dirty="0">
                <a:latin typeface="+mn-lt"/>
              </a:rPr>
              <a:t> (aumento di efficienza)</a:t>
            </a:r>
          </a:p>
          <a:p>
            <a:pPr algn="l"/>
            <a:r>
              <a:rPr lang="it-IT" sz="2400" dirty="0">
                <a:latin typeface="+mn-lt"/>
              </a:rPr>
              <a:t>Questa soluzione richiede un tempo </a:t>
            </a:r>
            <a:r>
              <a:rPr lang="it-IT" sz="2400" i="1" dirty="0">
                <a:latin typeface="+mn-lt"/>
              </a:rPr>
              <a:t>lineare</a:t>
            </a:r>
            <a:r>
              <a:rPr lang="it-IT" sz="2400" dirty="0">
                <a:latin typeface="+mn-lt"/>
              </a:rPr>
              <a:t> in n</a:t>
            </a:r>
          </a:p>
          <a:p>
            <a:pPr algn="l"/>
            <a:r>
              <a:rPr lang="it-IT" sz="2400" dirty="0">
                <a:latin typeface="+mn-lt"/>
              </a:rPr>
              <a:t>La soluzione precedente richiede un tempo </a:t>
            </a:r>
            <a:r>
              <a:rPr lang="it-IT" sz="2400" i="1" dirty="0">
                <a:latin typeface="+mn-lt"/>
              </a:rPr>
              <a:t>esponenziale</a:t>
            </a:r>
            <a:r>
              <a:rPr lang="it-IT" sz="2400" dirty="0">
                <a:latin typeface="+mn-lt"/>
              </a:rPr>
              <a:t> in 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10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Calcolo con memo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26DE2-6522-43F8-9DD8-17A3074AF1E4}" type="slidenum">
              <a:rPr lang="it-IT" smtClean="0"/>
              <a:pPr/>
              <a:t>58</a:t>
            </a:fld>
            <a:endParaRPr lang="it-IT"/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930263"/>
            <a:ext cx="8229600" cy="4195900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long fib( int n ) {</a:t>
            </a:r>
          </a:p>
          <a:p>
            <a:pPr eaLnBrk="1" hangingPunct="1">
              <a:spcBef>
                <a:spcPts val="200"/>
              </a:spcBef>
              <a:buFontTx/>
              <a:buNone/>
            </a:pPr>
            <a:r>
              <a:rPr lang="it-IT" sz="2200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200" dirty="0" err="1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2200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it-IT" sz="2200" dirty="0" err="1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200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&gt;= MAX)</a:t>
            </a:r>
          </a:p>
          <a:p>
            <a:pPr eaLnBrk="1" hangingPunct="1">
              <a:spcBef>
                <a:spcPts val="200"/>
              </a:spcBef>
              <a:buFontTx/>
              <a:buNone/>
            </a:pPr>
            <a:r>
              <a:rPr lang="it-IT" sz="2200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200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it-IT" sz="2200" dirty="0" err="1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200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fib(n-1) + fib(n-2);</a:t>
            </a:r>
          </a:p>
          <a:p>
            <a:pPr eaLnBrk="1" hangingPunct="1">
              <a:spcBef>
                <a:spcPts val="200"/>
              </a:spcBef>
              <a:buFontTx/>
              <a:buNone/>
            </a:pPr>
            <a:r>
              <a:rPr lang="it-IT" sz="22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 (memo[</a:t>
            </a: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] != 0)</a:t>
            </a:r>
          </a:p>
          <a:p>
            <a:pPr eaLnBrk="1" hangingPunct="1">
              <a:spcBef>
                <a:spcPts val="200"/>
              </a:spcBef>
              <a:buFontTx/>
              <a:buNone/>
            </a:pP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			</a:t>
            </a: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 memo[n];</a:t>
            </a:r>
          </a:p>
          <a:p>
            <a:pPr eaLnBrk="1" hangingPunct="1">
              <a:buFontTx/>
              <a:buNone/>
            </a:pPr>
            <a:r>
              <a:rPr lang="it-IT" sz="22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memo[</a:t>
            </a: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n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] = fib(n-1) + fib(n-2);</a:t>
            </a:r>
          </a:p>
          <a:p>
            <a:pPr eaLnBrk="1" hangingPunct="1">
              <a:buFontTx/>
              <a:buNone/>
            </a:pPr>
            <a:r>
              <a:rPr lang="it-IT" sz="2200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it-IT" sz="2200" dirty="0" err="1" smtClean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 memo[n];</a:t>
            </a:r>
          </a:p>
          <a:p>
            <a:pPr eaLnBrk="1" hangingPunct="1">
              <a:buFontTx/>
              <a:buNone/>
            </a:pPr>
            <a:r>
              <a:rPr lang="it-IT" sz="2200" dirty="0" smtClean="0">
                <a:latin typeface="Courier" charset="0"/>
                <a:ea typeface="Courier" charset="0"/>
                <a:cs typeface="Courier" charset="0"/>
              </a:rPr>
              <a:t>}</a:t>
            </a:r>
          </a:p>
        </p:txBody>
      </p:sp>
      <p:sp>
        <p:nvSpPr>
          <p:cNvPr id="943108" name="Text Box 4"/>
          <p:cNvSpPr txBox="1">
            <a:spLocks noChangeArrowheads="1"/>
          </p:cNvSpPr>
          <p:nvPr/>
        </p:nvSpPr>
        <p:spPr bwMode="auto">
          <a:xfrm>
            <a:off x="457200" y="1308609"/>
            <a:ext cx="79856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t-IT" sz="2400" dirty="0" smtClean="0">
                <a:latin typeface="+mn-lt"/>
              </a:rPr>
              <a:t>E se per caso ci servisse un </a:t>
            </a:r>
            <a:r>
              <a:rPr lang="it-IT" sz="2400" dirty="0" err="1" smtClean="0">
                <a:latin typeface="+mn-lt"/>
              </a:rPr>
              <a:t>fib</a:t>
            </a:r>
            <a:r>
              <a:rPr lang="it-IT" sz="2400" dirty="0" smtClean="0">
                <a:latin typeface="+mn-lt"/>
              </a:rPr>
              <a:t>(k) con k &gt;= MAX ?? </a:t>
            </a:r>
            <a:endParaRPr lang="it-IT" sz="2400" dirty="0">
              <a:latin typeface="+mn-lt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958196" y="5032911"/>
            <a:ext cx="6069883" cy="132343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it-IT" sz="2000" dirty="0" smtClean="0">
                <a:solidFill>
                  <a:schemeClr val="tx1"/>
                </a:solidFill>
              </a:rPr>
              <a:t>Con questo accorgimento non c’è limite a </a:t>
            </a:r>
            <a:r>
              <a:rPr lang="it-IT" sz="2000" dirty="0" err="1" smtClean="0">
                <a:solidFill>
                  <a:schemeClr val="tx1"/>
                </a:solidFill>
              </a:rPr>
              <a:t>n</a:t>
            </a:r>
            <a:r>
              <a:rPr lang="it-IT" sz="2000" dirty="0" smtClean="0">
                <a:solidFill>
                  <a:schemeClr val="tx1"/>
                </a:solidFill>
              </a:rPr>
              <a:t> e l’ “effetto memo” è limitato ai soli valori &lt;= MAX</a:t>
            </a:r>
          </a:p>
          <a:p>
            <a:pPr algn="l"/>
            <a:r>
              <a:rPr lang="it-IT" sz="2000" dirty="0" smtClean="0">
                <a:solidFill>
                  <a:schemeClr val="tx1"/>
                </a:solidFill>
              </a:rPr>
              <a:t>(che sono comunque quelli che sarebbero ricalcolati con maggiore frequenza in assenza di memo)</a:t>
            </a:r>
            <a:endParaRPr lang="it-IT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108" grpId="0"/>
    </p:bldLst>
  </p:timing>
</p:sld>
</file>

<file path=ppt/theme/theme1.xml><?xml version="1.0" encoding="utf-8"?>
<a:theme xmlns:a="http://schemas.openxmlformats.org/drawingml/2006/main" name="Form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Formal</Template>
  <TotalTime>59309</TotalTime>
  <Words>2887</Words>
  <Application>Microsoft Macintosh PowerPoint</Application>
  <PresentationFormat>On-screen Show (4:3)</PresentationFormat>
  <Paragraphs>772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Calibri</vt:lpstr>
      <vt:lpstr>Courier</vt:lpstr>
      <vt:lpstr>Symbol</vt:lpstr>
      <vt:lpstr>Tahoma</vt:lpstr>
      <vt:lpstr>Times New Roman</vt:lpstr>
      <vt:lpstr>Wingdings</vt:lpstr>
      <vt:lpstr>Arial</vt:lpstr>
      <vt:lpstr>Formal</vt:lpstr>
      <vt:lpstr>Informatica A </vt:lpstr>
      <vt:lpstr>Sommario</vt:lpstr>
      <vt:lpstr>Definizioni induttive</vt:lpstr>
      <vt:lpstr>Dimostrazioni induttive</vt:lpstr>
      <vt:lpstr>Iterazione e ricorsione</vt:lpstr>
      <vt:lpstr>Fattoriale – versione iterativa</vt:lpstr>
      <vt:lpstr>Lo "spirito" del metodo ricorsivo</vt:lpstr>
      <vt:lpstr>Fattoriale – versione ricorsiva</vt:lpstr>
      <vt:lpstr>Ricorsione nei sottoprogrammi</vt:lpstr>
      <vt:lpstr>Formulazione ricorsiva in C</vt:lpstr>
      <vt:lpstr>Simulazione del calcolo Invocazione di: FattRic(3)</vt:lpstr>
      <vt:lpstr>Ma… </vt:lpstr>
      <vt:lpstr>Un altro esempio: la serie di Fibonacci</vt:lpstr>
      <vt:lpstr>Un altro esempio: la serie di Fibonacci</vt:lpstr>
      <vt:lpstr>Definizione ricorsiva della serie</vt:lpstr>
      <vt:lpstr>Numeri di Fibonacci in C</vt:lpstr>
      <vt:lpstr>Un altro esempio: MCD à-la-Euclide</vt:lpstr>
      <vt:lpstr>MCD versione ricorsiva</vt:lpstr>
      <vt:lpstr>MCD versione iterativa</vt:lpstr>
      <vt:lpstr>Funzione esponenziale (intera)</vt:lpstr>
      <vt:lpstr>Esecuzione di funzioni ricorsive</vt:lpstr>
      <vt:lpstr>Il modello a runtime: esempio</vt:lpstr>
      <vt:lpstr>Terminazione (ancora!)</vt:lpstr>
      <vt:lpstr>Esempio: lunghezza stringhe</vt:lpstr>
      <vt:lpstr>Le parole palindrome</vt:lpstr>
      <vt:lpstr>Esercizio</vt:lpstr>
      <vt:lpstr>Palindromi in versione ricorsiva</vt:lpstr>
      <vt:lpstr>Palindromi in versione ricorsiva</vt:lpstr>
      <vt:lpstr>Palindromi ricorsivi: variante</vt:lpstr>
      <vt:lpstr>Attenzione</vt:lpstr>
      <vt:lpstr>Palindromi in versione iterativa</vt:lpstr>
      <vt:lpstr>Parametri passati per indirizzo</vt:lpstr>
      <vt:lpstr>Modello a run-time</vt:lpstr>
      <vt:lpstr>Ancora stringhe palindrome</vt:lpstr>
      <vt:lpstr>PowerPoint Presentation</vt:lpstr>
      <vt:lpstr>PowerPoint Presentation</vt:lpstr>
      <vt:lpstr>Osservazioni sul programma</vt:lpstr>
      <vt:lpstr>Altri tipi di palindromi</vt:lpstr>
      <vt:lpstr>Altri tipi di palindromi</vt:lpstr>
      <vt:lpstr>Esempio: inversione stringa</vt:lpstr>
      <vt:lpstr>Esempio: inversione stringa</vt:lpstr>
      <vt:lpstr>Esempio: inversione stringa</vt:lpstr>
      <vt:lpstr>Esempio: inversione stringa</vt:lpstr>
      <vt:lpstr>Le torri di Hanoi</vt:lpstr>
      <vt:lpstr>Le torri di Hanoi</vt:lpstr>
      <vt:lpstr>Le torri di Hanoi</vt:lpstr>
      <vt:lpstr>Le torri di Hanoi</vt:lpstr>
      <vt:lpstr>Le torri di Hanoi</vt:lpstr>
      <vt:lpstr>Il metodo</vt:lpstr>
      <vt:lpstr>PowerPoint Presentation</vt:lpstr>
      <vt:lpstr>PowerPoint Presentation</vt:lpstr>
      <vt:lpstr>Hanoi: soluzione iterativa</vt:lpstr>
      <vt:lpstr>Ricorsione o iterazione?</vt:lpstr>
      <vt:lpstr>Calcolo numeri di fibonacci</vt:lpstr>
      <vt:lpstr>Numeri di Fibonacci</vt:lpstr>
      <vt:lpstr>Inizializzazione dell'array memo</vt:lpstr>
      <vt:lpstr>Calcolo con memo</vt:lpstr>
      <vt:lpstr>Calcolo con memo</vt:lpstr>
    </vt:vector>
  </TitlesOfParts>
  <Company>Politecnico di Milano</Company>
  <LinksUpToDate>false</LinksUpToDate>
  <SharedDoc>false</SharedDoc>
  <HyperlinksChanged>false</HyperlinksChanged>
  <AppVersion>15.0028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Codifica dell'Informazione, Aritmetica e Logica</dc:title>
  <dc:creator>Luca Breveglieri</dc:creator>
  <dc:description>Per il corso di Informatica 1 - sez. Automatici</dc:description>
  <cp:lastModifiedBy>Alessandro Margara</cp:lastModifiedBy>
  <cp:revision>1699</cp:revision>
  <dcterms:created xsi:type="dcterms:W3CDTF">2000-09-24T09:01:15Z</dcterms:created>
  <dcterms:modified xsi:type="dcterms:W3CDTF">2016-11-30T10:48:08Z</dcterms:modified>
</cp:coreProperties>
</file>