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797675" cy="9926625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HS0Pp82G0GTQuRXf4iOjzEO9v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CDB7C1-0685-4465-957C-6122C1ACF43B}">
  <a:tblStyle styleId="{00CDB7C1-0685-4465-957C-6122C1ACF4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275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275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9" name="Google Shape;339;p2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5:notes"/>
          <p:cNvSpPr txBox="1"/>
          <p:nvPr>
            <p:ph idx="12" type="sldNum"/>
          </p:nvPr>
        </p:nvSpPr>
        <p:spPr>
          <a:xfrm>
            <a:off x="3851275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 txBox="1"/>
          <p:nvPr>
            <p:ph idx="12" type="sldNum"/>
          </p:nvPr>
        </p:nvSpPr>
        <p:spPr>
          <a:xfrm>
            <a:off x="3851275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9" name="Google Shape;389;p2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:notes"/>
          <p:cNvSpPr txBox="1"/>
          <p:nvPr>
            <p:ph idx="12" type="sldNum"/>
          </p:nvPr>
        </p:nvSpPr>
        <p:spPr>
          <a:xfrm>
            <a:off x="3851275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6" name="Google Shape;36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4" name="Google Shape;54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Informatica A</a:t>
            </a:r>
            <a:br>
              <a:rPr lang="it-IT"/>
            </a:b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it-IT"/>
              <a:t>Puntatori</a:t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Variabili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Finora l’accesso alle variabili è avvenuto soprattutto tramite il nome (identificatore):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v = a;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valore contenuto nella cella identificata da a è memorizzato nella cella identificata da v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È possibile che le variabili occupino più celle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Ma che cos'altro identifica una variabile?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Più volte si è parlato di indirizzi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Assembler, scanf, operatore &amp;, array, …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Indirizzi e valori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Ogni variabile ha, tra gli elementi che la caratterizzano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1FFF"/>
              </a:buClr>
              <a:buSzPct val="100000"/>
              <a:buChar char="–"/>
            </a:pPr>
            <a:r>
              <a:rPr i="1" lang="it-IT">
                <a:solidFill>
                  <a:srgbClr val="001FFF"/>
                </a:solidFill>
              </a:rPr>
              <a:t>Indirizzo</a:t>
            </a:r>
            <a:r>
              <a:rPr lang="it-IT"/>
              <a:t>: l’indirizzo della locazione di memoria associata alla variabile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Indirizzo della prima cella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rgbClr val="001FFF"/>
              </a:buClr>
              <a:buSzPct val="100000"/>
              <a:buChar char="–"/>
            </a:pPr>
            <a:r>
              <a:rPr i="1" lang="it-IT">
                <a:solidFill>
                  <a:srgbClr val="001FFF"/>
                </a:solidFill>
              </a:rPr>
              <a:t>Valore</a:t>
            </a:r>
            <a:r>
              <a:rPr lang="it-IT"/>
              <a:t>: il valore contenuto nella locazione di memoria associata alla variabile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L’indirizzo è </a:t>
            </a:r>
            <a:r>
              <a:rPr i="1" lang="it-IT">
                <a:solidFill>
                  <a:srgbClr val="001FFF"/>
                </a:solidFill>
              </a:rPr>
              <a:t>immutabile</a:t>
            </a:r>
            <a:r>
              <a:rPr lang="it-IT"/>
              <a:t>, mentre il valore </a:t>
            </a:r>
            <a:r>
              <a:rPr i="1" lang="it-IT">
                <a:solidFill>
                  <a:srgbClr val="001FFF"/>
                </a:solidFill>
              </a:rPr>
              <a:t>muta</a:t>
            </a:r>
            <a:r>
              <a:rPr lang="it-IT">
                <a:solidFill>
                  <a:srgbClr val="001FFF"/>
                </a:solidFill>
              </a:rPr>
              <a:t> </a:t>
            </a:r>
            <a:r>
              <a:rPr lang="it-IT"/>
              <a:t>durante l’esecuzione del programma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variabile cambia valore ma non si sposta</a:t>
            </a:r>
            <a:endParaRPr/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Indirizzi e valori: gli assegnamenti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572928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Quando una variabile è a sinistra di un assegnamento si usa </a:t>
            </a:r>
            <a:r>
              <a:rPr i="1" lang="it-IT">
                <a:solidFill>
                  <a:srgbClr val="001FFF"/>
                </a:solidFill>
              </a:rPr>
              <a:t>l’indirizzo</a:t>
            </a:r>
            <a:r>
              <a:rPr lang="it-IT">
                <a:solidFill>
                  <a:srgbClr val="001FFF"/>
                </a:solidFill>
              </a:rPr>
              <a:t> </a:t>
            </a:r>
            <a:r>
              <a:rPr lang="it-IT"/>
              <a:t>per andarne a modificare il valore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Quando è a destra, si usa </a:t>
            </a:r>
            <a:r>
              <a:rPr i="1" lang="it-IT">
                <a:solidFill>
                  <a:srgbClr val="001FFF"/>
                </a:solidFill>
              </a:rPr>
              <a:t>il valore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 cui accediamo tramite l'indirizzo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Gli identificatori servono al programmatore per distinguere agevolmente le variabili …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… ma per accedere alla RAM l'esecutore usa (ovviamente) gli indirizzi</a:t>
            </a:r>
            <a:endParaRPr/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7235825" y="2292457"/>
            <a:ext cx="14509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v=a;</a:t>
            </a:r>
            <a:endParaRPr sz="3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aphicFrame>
        <p:nvGraphicFramePr>
          <p:cNvPr id="113" name="Google Shape;113;p4"/>
          <p:cNvGraphicFramePr/>
          <p:nvPr/>
        </p:nvGraphicFramePr>
        <p:xfrm>
          <a:off x="7416800" y="3097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{00CDB7C1-0685-4465-957C-6122C1ACF43B}</a:tableStyleId>
              </a:tblPr>
              <a:tblGrid>
                <a:gridCol w="914400"/>
              </a:tblGrid>
              <a:tr h="34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it-IT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2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4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it-IT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4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it-IT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it-IT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2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4" name="Google Shape;114;p4"/>
          <p:cNvSpPr/>
          <p:nvPr/>
        </p:nvSpPr>
        <p:spPr>
          <a:xfrm>
            <a:off x="6345581" y="2978220"/>
            <a:ext cx="10577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Indirizzo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7643608" y="4449340"/>
            <a:ext cx="671716" cy="762000"/>
            <a:chOff x="7643608" y="4449340"/>
            <a:chExt cx="671716" cy="762000"/>
          </a:xfrm>
        </p:grpSpPr>
        <p:sp>
          <p:nvSpPr>
            <p:cNvPr id="116" name="Google Shape;116;p4"/>
            <p:cNvSpPr/>
            <p:nvPr/>
          </p:nvSpPr>
          <p:spPr>
            <a:xfrm>
              <a:off x="7643608" y="4449340"/>
              <a:ext cx="4603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4400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x</a:t>
              </a:r>
              <a:endParaRPr sz="4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7937499" y="4651315"/>
              <a:ext cx="3778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4"/>
          <p:cNvSpPr/>
          <p:nvPr/>
        </p:nvSpPr>
        <p:spPr>
          <a:xfrm>
            <a:off x="6345581" y="4503454"/>
            <a:ext cx="10577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Indirizzo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v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Indirizzi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In molti linguaggi di programmazione il programmatore non può conoscere gli indirizzi delle variabili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In C è possible conoscere l’indirizzo delle locazioni di memoria associate alle variabili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Mediante l’operatore &amp;</a:t>
            </a:r>
            <a:endParaRPr/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L'operatore &amp;</a:t>
            </a:r>
            <a:endParaRPr/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2" name="Google Shape;132;p6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   int x = 3;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   printf(”Indirizzo di x: </a:t>
            </a:r>
            <a:r>
              <a:rPr lang="it-IT" sz="24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it-IT" sz="24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\n", </a:t>
            </a:r>
            <a:r>
              <a:rPr lang="it-IT" sz="24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&amp;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x);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   printf(”Valore di x: </a:t>
            </a:r>
            <a:r>
              <a:rPr lang="it-IT" sz="24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%d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\n", x);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1FFF"/>
              </a:buClr>
              <a:buSzPts val="2400"/>
              <a:buFont typeface="Calibri"/>
              <a:buNone/>
            </a:pPr>
            <a:r>
              <a:rPr i="1" lang="it-IT" sz="2400">
                <a:solidFill>
                  <a:srgbClr val="001FFF"/>
                </a:solidFill>
              </a:rPr>
              <a:t>Output del programma</a:t>
            </a:r>
            <a:endParaRPr i="1" sz="2400">
              <a:solidFill>
                <a:srgbClr val="001FFF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Indirizzo di x: </a:t>
            </a:r>
            <a:r>
              <a:rPr lang="it-IT" sz="24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0xbffff984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Valore di x: </a:t>
            </a:r>
            <a:r>
              <a:rPr lang="it-IT" sz="24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 puntatori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457200" y="1600200"/>
            <a:ext cx="8229600" cy="1152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Le variabili puntatore sono variabili il cui valore è l’indirizzo di un’altra variabile</a:t>
            </a:r>
            <a:endParaRPr/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656440" y="3261360"/>
            <a:ext cx="31341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cont = 1275;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* punt;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 = &amp;cont;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141" name="Google Shape;141;p7"/>
          <p:cNvGrpSpPr/>
          <p:nvPr/>
        </p:nvGrpSpPr>
        <p:grpSpPr>
          <a:xfrm>
            <a:off x="4551855" y="3215005"/>
            <a:ext cx="3941360" cy="707886"/>
            <a:chOff x="4784612" y="3065374"/>
            <a:chExt cx="3941360" cy="707886"/>
          </a:xfrm>
        </p:grpSpPr>
        <p:sp>
          <p:nvSpPr>
            <p:cNvPr id="142" name="Google Shape;142;p7"/>
            <p:cNvSpPr/>
            <p:nvPr/>
          </p:nvSpPr>
          <p:spPr>
            <a:xfrm>
              <a:off x="5912862" y="3124835"/>
              <a:ext cx="1984229" cy="588963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1275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4784612" y="3065374"/>
              <a:ext cx="105772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Indirizzo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 </a:t>
              </a:r>
              <a:r>
                <a:rPr lang="it-IT" sz="20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cont</a:t>
              </a:r>
              <a:endParaRPr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803925" y="3188483"/>
              <a:ext cx="92204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cont</a:t>
              </a:r>
              <a:endParaRPr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145" name="Google Shape;145;p7"/>
          <p:cNvGrpSpPr/>
          <p:nvPr/>
        </p:nvGrpSpPr>
        <p:grpSpPr>
          <a:xfrm>
            <a:off x="4551855" y="4722379"/>
            <a:ext cx="3978107" cy="707886"/>
            <a:chOff x="4784612" y="3065374"/>
            <a:chExt cx="3978107" cy="707886"/>
          </a:xfrm>
        </p:grpSpPr>
        <p:sp>
          <p:nvSpPr>
            <p:cNvPr id="146" name="Google Shape;146;p7"/>
            <p:cNvSpPr/>
            <p:nvPr/>
          </p:nvSpPr>
          <p:spPr>
            <a:xfrm>
              <a:off x="5912862" y="3124835"/>
              <a:ext cx="1984229" cy="588963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Indirizzo di </a:t>
              </a:r>
              <a:r>
                <a:rPr lang="it-IT" sz="20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cont</a:t>
              </a:r>
              <a:endParaRPr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4784612" y="3065374"/>
              <a:ext cx="105772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Indirizzo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 </a:t>
              </a:r>
              <a:r>
                <a:rPr lang="it-IT" sz="20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punt</a:t>
              </a:r>
              <a:endParaRPr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7840671" y="3188483"/>
              <a:ext cx="92204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punt</a:t>
              </a:r>
              <a:endParaRPr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cxnSp>
        <p:nvCxnSpPr>
          <p:cNvPr id="149" name="Google Shape;149;p7"/>
          <p:cNvCxnSpPr>
            <a:stCxn id="146" idx="0"/>
            <a:endCxn id="142" idx="2"/>
          </p:cNvCxnSpPr>
          <p:nvPr/>
        </p:nvCxnSpPr>
        <p:spPr>
          <a:xfrm rot="10800000">
            <a:off x="6672220" y="3863540"/>
            <a:ext cx="0" cy="918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 anche …</a:t>
            </a:r>
            <a:endParaRPr/>
          </a:p>
        </p:txBody>
      </p:sp>
      <p:sp>
        <p:nvSpPr>
          <p:cNvPr id="155" name="Google Shape;1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547312" y="1588390"/>
            <a:ext cx="2074862" cy="685800"/>
          </a:xfrm>
          <a:prstGeom prst="wedgeRoundRectCallout">
            <a:avLst>
              <a:gd fmla="val 8273" name="adj1"/>
              <a:gd fmla="val 94723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Memoria del calcolatore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547312" y="2726628"/>
            <a:ext cx="1985962" cy="5413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474412" y="2867916"/>
            <a:ext cx="228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547312" y="3266378"/>
            <a:ext cx="1985962" cy="5429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279317" y="3409253"/>
            <a:ext cx="6219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1275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547312" y="3807716"/>
            <a:ext cx="1985962" cy="5429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474412" y="3950591"/>
            <a:ext cx="228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547312" y="4349053"/>
            <a:ext cx="1985962" cy="5429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380806" y="4457004"/>
            <a:ext cx="4664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134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012450" y="3348593"/>
            <a:ext cx="4664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134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012450" y="4472964"/>
            <a:ext cx="4664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136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633287" y="3348593"/>
            <a:ext cx="737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cont</a:t>
            </a:r>
            <a:endParaRPr sz="4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666233" y="4436172"/>
            <a:ext cx="737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</a:t>
            </a:r>
            <a:endParaRPr sz="4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547312" y="4890391"/>
            <a:ext cx="1985962" cy="5429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474412" y="5031678"/>
            <a:ext cx="228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358274" y="3588641"/>
            <a:ext cx="1989138" cy="1063625"/>
          </a:xfrm>
          <a:custGeom>
            <a:rect b="b" l="l" r="r" t="t"/>
            <a:pathLst>
              <a:path extrusionOk="0" h="1539" w="2555">
                <a:moveTo>
                  <a:pt x="2547" y="1539"/>
                </a:moveTo>
                <a:lnTo>
                  <a:pt x="2555" y="1505"/>
                </a:lnTo>
                <a:lnTo>
                  <a:pt x="2459" y="1484"/>
                </a:lnTo>
                <a:lnTo>
                  <a:pt x="2357" y="1463"/>
                </a:lnTo>
                <a:lnTo>
                  <a:pt x="2254" y="1440"/>
                </a:lnTo>
                <a:lnTo>
                  <a:pt x="2146" y="1413"/>
                </a:lnTo>
                <a:lnTo>
                  <a:pt x="2033" y="1386"/>
                </a:lnTo>
                <a:lnTo>
                  <a:pt x="1975" y="1370"/>
                </a:lnTo>
                <a:lnTo>
                  <a:pt x="1914" y="1353"/>
                </a:lnTo>
                <a:lnTo>
                  <a:pt x="1853" y="1336"/>
                </a:lnTo>
                <a:lnTo>
                  <a:pt x="1787" y="1319"/>
                </a:lnTo>
                <a:lnTo>
                  <a:pt x="1720" y="1299"/>
                </a:lnTo>
                <a:lnTo>
                  <a:pt x="1649" y="1278"/>
                </a:lnTo>
                <a:lnTo>
                  <a:pt x="1614" y="1267"/>
                </a:lnTo>
                <a:lnTo>
                  <a:pt x="1576" y="1257"/>
                </a:lnTo>
                <a:lnTo>
                  <a:pt x="1494" y="1232"/>
                </a:lnTo>
                <a:lnTo>
                  <a:pt x="1407" y="1207"/>
                </a:lnTo>
                <a:lnTo>
                  <a:pt x="1315" y="1180"/>
                </a:lnTo>
                <a:lnTo>
                  <a:pt x="1219" y="1154"/>
                </a:lnTo>
                <a:lnTo>
                  <a:pt x="1123" y="1125"/>
                </a:lnTo>
                <a:lnTo>
                  <a:pt x="925" y="1065"/>
                </a:lnTo>
                <a:lnTo>
                  <a:pt x="829" y="1034"/>
                </a:lnTo>
                <a:lnTo>
                  <a:pt x="735" y="1004"/>
                </a:lnTo>
                <a:lnTo>
                  <a:pt x="645" y="973"/>
                </a:lnTo>
                <a:lnTo>
                  <a:pt x="559" y="942"/>
                </a:lnTo>
                <a:lnTo>
                  <a:pt x="478" y="912"/>
                </a:lnTo>
                <a:lnTo>
                  <a:pt x="442" y="896"/>
                </a:lnTo>
                <a:lnTo>
                  <a:pt x="407" y="881"/>
                </a:lnTo>
                <a:lnTo>
                  <a:pt x="372" y="867"/>
                </a:lnTo>
                <a:lnTo>
                  <a:pt x="342" y="852"/>
                </a:lnTo>
                <a:lnTo>
                  <a:pt x="313" y="837"/>
                </a:lnTo>
                <a:lnTo>
                  <a:pt x="290" y="825"/>
                </a:lnTo>
                <a:lnTo>
                  <a:pt x="240" y="795"/>
                </a:lnTo>
                <a:lnTo>
                  <a:pt x="198" y="768"/>
                </a:lnTo>
                <a:lnTo>
                  <a:pt x="192" y="785"/>
                </a:lnTo>
                <a:lnTo>
                  <a:pt x="205" y="771"/>
                </a:lnTo>
                <a:lnTo>
                  <a:pt x="167" y="745"/>
                </a:lnTo>
                <a:lnTo>
                  <a:pt x="136" y="716"/>
                </a:lnTo>
                <a:lnTo>
                  <a:pt x="108" y="687"/>
                </a:lnTo>
                <a:lnTo>
                  <a:pt x="86" y="658"/>
                </a:lnTo>
                <a:lnTo>
                  <a:pt x="73" y="672"/>
                </a:lnTo>
                <a:lnTo>
                  <a:pt x="90" y="664"/>
                </a:lnTo>
                <a:lnTo>
                  <a:pt x="71" y="637"/>
                </a:lnTo>
                <a:lnTo>
                  <a:pt x="56" y="608"/>
                </a:lnTo>
                <a:lnTo>
                  <a:pt x="46" y="579"/>
                </a:lnTo>
                <a:lnTo>
                  <a:pt x="38" y="551"/>
                </a:lnTo>
                <a:lnTo>
                  <a:pt x="21" y="558"/>
                </a:lnTo>
                <a:lnTo>
                  <a:pt x="40" y="558"/>
                </a:lnTo>
                <a:lnTo>
                  <a:pt x="37" y="530"/>
                </a:lnTo>
                <a:lnTo>
                  <a:pt x="38" y="501"/>
                </a:lnTo>
                <a:lnTo>
                  <a:pt x="42" y="472"/>
                </a:lnTo>
                <a:lnTo>
                  <a:pt x="23" y="472"/>
                </a:lnTo>
                <a:lnTo>
                  <a:pt x="40" y="480"/>
                </a:lnTo>
                <a:lnTo>
                  <a:pt x="48" y="451"/>
                </a:lnTo>
                <a:lnTo>
                  <a:pt x="58" y="422"/>
                </a:lnTo>
                <a:lnTo>
                  <a:pt x="71" y="395"/>
                </a:lnTo>
                <a:lnTo>
                  <a:pt x="85" y="370"/>
                </a:lnTo>
                <a:lnTo>
                  <a:pt x="67" y="364"/>
                </a:lnTo>
                <a:lnTo>
                  <a:pt x="79" y="376"/>
                </a:lnTo>
                <a:lnTo>
                  <a:pt x="96" y="353"/>
                </a:lnTo>
                <a:lnTo>
                  <a:pt x="115" y="330"/>
                </a:lnTo>
                <a:lnTo>
                  <a:pt x="138" y="307"/>
                </a:lnTo>
                <a:lnTo>
                  <a:pt x="163" y="284"/>
                </a:lnTo>
                <a:lnTo>
                  <a:pt x="192" y="261"/>
                </a:lnTo>
                <a:lnTo>
                  <a:pt x="223" y="238"/>
                </a:lnTo>
                <a:lnTo>
                  <a:pt x="255" y="215"/>
                </a:lnTo>
                <a:lnTo>
                  <a:pt x="242" y="201"/>
                </a:lnTo>
                <a:lnTo>
                  <a:pt x="250" y="219"/>
                </a:lnTo>
                <a:lnTo>
                  <a:pt x="284" y="196"/>
                </a:lnTo>
                <a:lnTo>
                  <a:pt x="323" y="173"/>
                </a:lnTo>
                <a:lnTo>
                  <a:pt x="401" y="126"/>
                </a:lnTo>
                <a:lnTo>
                  <a:pt x="486" y="78"/>
                </a:lnTo>
                <a:lnTo>
                  <a:pt x="576" y="32"/>
                </a:lnTo>
                <a:lnTo>
                  <a:pt x="561" y="0"/>
                </a:lnTo>
                <a:lnTo>
                  <a:pt x="472" y="44"/>
                </a:lnTo>
                <a:lnTo>
                  <a:pt x="388" y="92"/>
                </a:lnTo>
                <a:lnTo>
                  <a:pt x="309" y="138"/>
                </a:lnTo>
                <a:lnTo>
                  <a:pt x="271" y="161"/>
                </a:lnTo>
                <a:lnTo>
                  <a:pt x="236" y="184"/>
                </a:lnTo>
                <a:lnTo>
                  <a:pt x="230" y="190"/>
                </a:lnTo>
                <a:lnTo>
                  <a:pt x="198" y="213"/>
                </a:lnTo>
                <a:lnTo>
                  <a:pt x="167" y="236"/>
                </a:lnTo>
                <a:lnTo>
                  <a:pt x="138" y="259"/>
                </a:lnTo>
                <a:lnTo>
                  <a:pt x="113" y="282"/>
                </a:lnTo>
                <a:lnTo>
                  <a:pt x="90" y="305"/>
                </a:lnTo>
                <a:lnTo>
                  <a:pt x="71" y="328"/>
                </a:lnTo>
                <a:lnTo>
                  <a:pt x="54" y="351"/>
                </a:lnTo>
                <a:lnTo>
                  <a:pt x="50" y="357"/>
                </a:lnTo>
                <a:lnTo>
                  <a:pt x="38" y="380"/>
                </a:lnTo>
                <a:lnTo>
                  <a:pt x="23" y="409"/>
                </a:lnTo>
                <a:lnTo>
                  <a:pt x="13" y="437"/>
                </a:lnTo>
                <a:lnTo>
                  <a:pt x="6" y="466"/>
                </a:lnTo>
                <a:lnTo>
                  <a:pt x="6" y="472"/>
                </a:lnTo>
                <a:lnTo>
                  <a:pt x="2" y="501"/>
                </a:lnTo>
                <a:lnTo>
                  <a:pt x="0" y="530"/>
                </a:lnTo>
                <a:lnTo>
                  <a:pt x="4" y="558"/>
                </a:lnTo>
                <a:lnTo>
                  <a:pt x="4" y="564"/>
                </a:lnTo>
                <a:lnTo>
                  <a:pt x="12" y="593"/>
                </a:lnTo>
                <a:lnTo>
                  <a:pt x="21" y="622"/>
                </a:lnTo>
                <a:lnTo>
                  <a:pt x="37" y="651"/>
                </a:lnTo>
                <a:lnTo>
                  <a:pt x="56" y="677"/>
                </a:lnTo>
                <a:lnTo>
                  <a:pt x="60" y="683"/>
                </a:lnTo>
                <a:lnTo>
                  <a:pt x="81" y="712"/>
                </a:lnTo>
                <a:lnTo>
                  <a:pt x="109" y="741"/>
                </a:lnTo>
                <a:lnTo>
                  <a:pt x="140" y="770"/>
                </a:lnTo>
                <a:lnTo>
                  <a:pt x="179" y="796"/>
                </a:lnTo>
                <a:lnTo>
                  <a:pt x="184" y="802"/>
                </a:lnTo>
                <a:lnTo>
                  <a:pt x="227" y="829"/>
                </a:lnTo>
                <a:lnTo>
                  <a:pt x="273" y="856"/>
                </a:lnTo>
                <a:lnTo>
                  <a:pt x="300" y="871"/>
                </a:lnTo>
                <a:lnTo>
                  <a:pt x="328" y="887"/>
                </a:lnTo>
                <a:lnTo>
                  <a:pt x="359" y="902"/>
                </a:lnTo>
                <a:lnTo>
                  <a:pt x="394" y="915"/>
                </a:lnTo>
                <a:lnTo>
                  <a:pt x="428" y="931"/>
                </a:lnTo>
                <a:lnTo>
                  <a:pt x="465" y="946"/>
                </a:lnTo>
                <a:lnTo>
                  <a:pt x="545" y="977"/>
                </a:lnTo>
                <a:lnTo>
                  <a:pt x="632" y="1008"/>
                </a:lnTo>
                <a:lnTo>
                  <a:pt x="722" y="1038"/>
                </a:lnTo>
                <a:lnTo>
                  <a:pt x="816" y="1069"/>
                </a:lnTo>
                <a:lnTo>
                  <a:pt x="912" y="1100"/>
                </a:lnTo>
                <a:lnTo>
                  <a:pt x="1110" y="1159"/>
                </a:lnTo>
                <a:lnTo>
                  <a:pt x="1206" y="1188"/>
                </a:lnTo>
                <a:lnTo>
                  <a:pt x="1302" y="1215"/>
                </a:lnTo>
                <a:lnTo>
                  <a:pt x="1394" y="1242"/>
                </a:lnTo>
                <a:lnTo>
                  <a:pt x="1480" y="1267"/>
                </a:lnTo>
                <a:lnTo>
                  <a:pt x="1563" y="1292"/>
                </a:lnTo>
                <a:lnTo>
                  <a:pt x="1601" y="1301"/>
                </a:lnTo>
                <a:lnTo>
                  <a:pt x="1639" y="1313"/>
                </a:lnTo>
                <a:lnTo>
                  <a:pt x="1707" y="1334"/>
                </a:lnTo>
                <a:lnTo>
                  <a:pt x="1774" y="1353"/>
                </a:lnTo>
                <a:lnTo>
                  <a:pt x="1839" y="1370"/>
                </a:lnTo>
                <a:lnTo>
                  <a:pt x="1900" y="1388"/>
                </a:lnTo>
                <a:lnTo>
                  <a:pt x="1962" y="1405"/>
                </a:lnTo>
                <a:lnTo>
                  <a:pt x="2020" y="1420"/>
                </a:lnTo>
                <a:lnTo>
                  <a:pt x="2133" y="1447"/>
                </a:lnTo>
                <a:lnTo>
                  <a:pt x="2240" y="1474"/>
                </a:lnTo>
                <a:lnTo>
                  <a:pt x="2344" y="1497"/>
                </a:lnTo>
                <a:lnTo>
                  <a:pt x="2446" y="1518"/>
                </a:lnTo>
                <a:lnTo>
                  <a:pt x="2547" y="1539"/>
                </a:lnTo>
                <a:close/>
              </a:path>
            </a:pathLst>
          </a:custGeom>
          <a:solidFill>
            <a:srgbClr val="FF33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750387" y="3544191"/>
            <a:ext cx="166687" cy="131762"/>
          </a:xfrm>
          <a:custGeom>
            <a:rect b="b" l="l" r="r" t="t"/>
            <a:pathLst>
              <a:path extrusionOk="0" h="167" w="209">
                <a:moveTo>
                  <a:pt x="84" y="167"/>
                </a:moveTo>
                <a:lnTo>
                  <a:pt x="209" y="0"/>
                </a:lnTo>
                <a:lnTo>
                  <a:pt x="0" y="2"/>
                </a:lnTo>
                <a:lnTo>
                  <a:pt x="84" y="167"/>
                </a:lnTo>
                <a:close/>
              </a:path>
            </a:pathLst>
          </a:custGeom>
          <a:solidFill>
            <a:srgbClr val="FF33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794519" y="1575214"/>
            <a:ext cx="2074862" cy="685800"/>
          </a:xfrm>
          <a:prstGeom prst="wedgeRoundRectCallout">
            <a:avLst>
              <a:gd fmla="val -79868" name="adj1"/>
              <a:gd fmla="val 220783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Valore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cont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536574" y="3706693"/>
            <a:ext cx="2074862" cy="685800"/>
          </a:xfrm>
          <a:prstGeom prst="wedgeRoundRectCallout">
            <a:avLst>
              <a:gd fmla="val -105509" name="adj1"/>
              <a:gd fmla="val 7450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Eventuale altra variabile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39856" y="2398729"/>
            <a:ext cx="2074862" cy="685800"/>
          </a:xfrm>
          <a:prstGeom prst="wedgeRoundRectCallout">
            <a:avLst>
              <a:gd fmla="val 42727" name="adj1"/>
              <a:gd fmla="val 89874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Indirizzo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cont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86704" y="5082232"/>
            <a:ext cx="2728014" cy="980888"/>
          </a:xfrm>
          <a:prstGeom prst="wedgeRoundRectCallout">
            <a:avLst>
              <a:gd fmla="val 40594" name="adj1"/>
              <a:gd fmla="val -83857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Indirizzo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(ma non ci interessa …)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867139" y="5082232"/>
            <a:ext cx="2894475" cy="980888"/>
          </a:xfrm>
          <a:prstGeom prst="wedgeRoundRectCallout">
            <a:avLst>
              <a:gd fmla="val -78246" name="adj1"/>
              <a:gd fmla="val -86399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Valore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 è l’indirizzo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cont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Dichiarare i puntatori</a:t>
            </a:r>
            <a:endParaRPr/>
          </a:p>
        </p:txBody>
      </p:sp>
      <p:sp>
        <p:nvSpPr>
          <p:cNvPr id="183" name="Google Shape;18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3100">
                <a:latin typeface="Courier"/>
                <a:ea typeface="Courier"/>
                <a:cs typeface="Courier"/>
                <a:sym typeface="Courier"/>
              </a:rPr>
              <a:t>typedef Tipo *TipoRef;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TipoRef è un puntatore a dati di tipo Tipo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3100">
                <a:latin typeface="Courier"/>
                <a:ea typeface="Courier"/>
                <a:cs typeface="Courier"/>
                <a:sym typeface="Courier"/>
              </a:rPr>
              <a:t>typedef int *intRef;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3100">
                <a:latin typeface="Courier"/>
                <a:ea typeface="Courier"/>
                <a:cs typeface="Courier"/>
                <a:sym typeface="Courier"/>
              </a:rPr>
              <a:t>intRef myRef, yourRef;</a:t>
            </a:r>
            <a:endParaRPr/>
          </a:p>
          <a:p>
            <a:pPr indent="0" lvl="0" marL="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3100">
                <a:latin typeface="Courier"/>
                <a:ea typeface="Courier"/>
                <a:cs typeface="Courier"/>
                <a:sym typeface="Courier"/>
              </a:rPr>
              <a:t>int * herRef;    </a:t>
            </a:r>
            <a:r>
              <a:rPr lang="it-IT" sz="31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abbreviazione */</a:t>
            </a:r>
            <a:endParaRPr/>
          </a:p>
          <a:p>
            <a:pPr indent="-16129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001FFF"/>
              </a:buClr>
              <a:buSzPct val="100000"/>
              <a:buChar char="•"/>
            </a:pPr>
            <a:r>
              <a:rPr i="1" lang="it-IT">
                <a:solidFill>
                  <a:srgbClr val="001FFF"/>
                </a:solidFill>
              </a:rPr>
              <a:t>Attenzione</a:t>
            </a:r>
            <a:r>
              <a:rPr lang="it-IT"/>
              <a:t>: puntatori a dati di tipo diverso sono variabili di tipo diverso!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Suggerimento: usare </a:t>
            </a:r>
            <a:r>
              <a:rPr i="1" lang="it-IT"/>
              <a:t>Ref</a:t>
            </a:r>
            <a:r>
              <a:rPr lang="it-IT"/>
              <a:t> (o </a:t>
            </a:r>
            <a:r>
              <a:rPr i="1" lang="it-IT"/>
              <a:t>Punt</a:t>
            </a:r>
            <a:r>
              <a:rPr lang="it-IT"/>
              <a:t>) in coda al nome per denotare i puntatori</a:t>
            </a:r>
            <a:endParaRPr/>
          </a:p>
        </p:txBody>
      </p:sp>
      <p:sp>
        <p:nvSpPr>
          <p:cNvPr id="184" name="Google Shape;18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Il modello</a:t>
            </a:r>
            <a:endParaRPr/>
          </a:p>
        </p:txBody>
      </p:sp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457200" y="3040439"/>
            <a:ext cx="8229600" cy="308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myRef = &amp;x;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Diciamo che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myRef</a:t>
            </a:r>
            <a:r>
              <a:rPr lang="it-IT"/>
              <a:t> </a:t>
            </a:r>
            <a:r>
              <a:rPr i="1" lang="it-IT">
                <a:solidFill>
                  <a:srgbClr val="001FFF"/>
                </a:solidFill>
              </a:rPr>
              <a:t>punta a</a:t>
            </a:r>
            <a:r>
              <a:rPr lang="it-IT"/>
              <a:t>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x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Come possiamo accedere al valore di questa variabile usando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myRef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Dereferenziazione: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*myRef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1" name="Google Shape;19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92" name="Google Shape;192;p10"/>
          <p:cNvGrpSpPr/>
          <p:nvPr/>
        </p:nvGrpSpPr>
        <p:grpSpPr>
          <a:xfrm>
            <a:off x="1630973" y="1438651"/>
            <a:ext cx="6213475" cy="1160463"/>
            <a:chOff x="864" y="1186"/>
            <a:chExt cx="3914" cy="731"/>
          </a:xfrm>
        </p:grpSpPr>
        <p:sp>
          <p:nvSpPr>
            <p:cNvPr id="193" name="Google Shape;193;p10"/>
            <p:cNvSpPr/>
            <p:nvPr/>
          </p:nvSpPr>
          <p:spPr>
            <a:xfrm>
              <a:off x="864" y="1477"/>
              <a:ext cx="1063" cy="44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3408" y="1477"/>
              <a:ext cx="1370" cy="44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valore di x</a:t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" name="Google Shape;195;p10"/>
            <p:cNvSpPr txBox="1"/>
            <p:nvPr/>
          </p:nvSpPr>
          <p:spPr>
            <a:xfrm>
              <a:off x="1082" y="1199"/>
              <a:ext cx="61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myRef</a:t>
              </a:r>
              <a:endParaRPr/>
            </a:p>
          </p:txBody>
        </p:sp>
        <p:sp>
          <p:nvSpPr>
            <p:cNvPr id="196" name="Google Shape;196;p10"/>
            <p:cNvSpPr txBox="1"/>
            <p:nvPr/>
          </p:nvSpPr>
          <p:spPr>
            <a:xfrm>
              <a:off x="3993" y="1186"/>
              <a:ext cx="20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10"/>
            <p:cNvCxnSpPr/>
            <p:nvPr/>
          </p:nvCxnSpPr>
          <p:spPr>
            <a:xfrm>
              <a:off x="1927" y="1697"/>
              <a:ext cx="1472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lg" w="lg" type="stealth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Dereferenziazione</a:t>
            </a:r>
            <a:endParaRPr/>
          </a:p>
        </p:txBody>
      </p:sp>
      <p:sp>
        <p:nvSpPr>
          <p:cNvPr id="203" name="Google Shape;20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L'operatore unario * è detto di dereferenziazione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Permette di estrarre il valore della variabile puntata dal puntatore che è argomento dell’operatore</a:t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typedef int * punt_a_int;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legge anche dicendo che dereferenziando un punt_a_int si ottiene un int</a:t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x  = 3;</a:t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* p = &amp;x;	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inizializzazione di p */</a:t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printf("il valore di x e’ %d\n", *p);</a:t>
            </a:r>
            <a:endParaRPr/>
          </a:p>
        </p:txBody>
      </p:sp>
      <p:sp>
        <p:nvSpPr>
          <p:cNvPr id="204" name="Google Shape;20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Esercizio: simulazione di esecuzione</a:t>
            </a:r>
            <a:endParaRPr/>
          </a:p>
        </p:txBody>
      </p:sp>
      <p:sp>
        <p:nvSpPr>
          <p:cNvPr id="210" name="Google Shape;2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1" name="Google Shape;211;p12"/>
          <p:cNvSpPr txBox="1"/>
          <p:nvPr>
            <p:ph idx="4294967295" type="body"/>
          </p:nvPr>
        </p:nvSpPr>
        <p:spPr>
          <a:xfrm>
            <a:off x="424036" y="1492251"/>
            <a:ext cx="3424757" cy="1857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typedef int * punt;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punt 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int i = 5, j = 9;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 = &amp;j;</a:t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5506372" y="1954474"/>
            <a:ext cx="22098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506372" y="3554674"/>
            <a:ext cx="22098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4996204" y="1939283"/>
            <a:ext cx="4267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5060931" y="3554674"/>
            <a:ext cx="2984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394494" y="3349625"/>
            <a:ext cx="32298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*p = i;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++i;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24036" y="4435475"/>
            <a:ext cx="3300102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 = *p;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(*p)++;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 = &amp;i;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*p = j;</a:t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5506372" y="5002474"/>
            <a:ext cx="22098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5060129" y="5002474"/>
            <a:ext cx="2952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6438573" y="5064387"/>
            <a:ext cx="8819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36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  5</a:t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6443047" y="3630874"/>
            <a:ext cx="7777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X 6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6142743" y="3622630"/>
            <a:ext cx="10903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    X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6019796" y="5061212"/>
            <a:ext cx="12987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    </a:t>
            </a:r>
            <a:r>
              <a:rPr b="1" lang="it-IT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cxnSp>
        <p:nvCxnSpPr>
          <p:cNvPr id="224" name="Google Shape;224;p12"/>
          <p:cNvCxnSpPr/>
          <p:nvPr/>
        </p:nvCxnSpPr>
        <p:spPr>
          <a:xfrm>
            <a:off x="8430547" y="2754574"/>
            <a:ext cx="3175" cy="1819275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2"/>
          <p:cNvCxnSpPr/>
          <p:nvPr/>
        </p:nvCxnSpPr>
        <p:spPr>
          <a:xfrm flipH="1">
            <a:off x="7722522" y="4578612"/>
            <a:ext cx="712788" cy="669925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6" name="Google Shape;226;p12"/>
          <p:cNvGrpSpPr/>
          <p:nvPr/>
        </p:nvGrpSpPr>
        <p:grpSpPr>
          <a:xfrm>
            <a:off x="6487447" y="2262449"/>
            <a:ext cx="1947863" cy="493713"/>
            <a:chOff x="4170" y="912"/>
            <a:chExt cx="1175" cy="311"/>
          </a:xfrm>
        </p:grpSpPr>
        <p:cxnSp>
          <p:nvCxnSpPr>
            <p:cNvPr id="227" name="Google Shape;227;p12"/>
            <p:cNvCxnSpPr/>
            <p:nvPr/>
          </p:nvCxnSpPr>
          <p:spPr>
            <a:xfrm>
              <a:off x="4220" y="958"/>
              <a:ext cx="1125" cy="265"/>
            </a:xfrm>
            <a:prstGeom prst="straightConnector1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8" name="Google Shape;228;p12"/>
            <p:cNvSpPr/>
            <p:nvPr/>
          </p:nvSpPr>
          <p:spPr>
            <a:xfrm>
              <a:off x="4170" y="912"/>
              <a:ext cx="84" cy="9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29" name="Google Shape;229;p12"/>
          <p:cNvSpPr txBox="1"/>
          <p:nvPr/>
        </p:nvSpPr>
        <p:spPr>
          <a:xfrm>
            <a:off x="5786340" y="3626648"/>
            <a:ext cx="7777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6 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Puntatori: riassunto</a:t>
            </a:r>
            <a:endParaRPr/>
          </a:p>
        </p:txBody>
      </p:sp>
      <p:sp>
        <p:nvSpPr>
          <p:cNvPr id="235" name="Google Shape;23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int * è la dichiarazione di un puntatore p a un intero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int i, *p;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Con &amp;i si denota l’indirizzo della variabile i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&amp; è l’operatore che restituisce l’indirizzo di una variabile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 = &amp;i;    </a:t>
            </a:r>
            <a:r>
              <a:rPr lang="it-IT"/>
              <a:t>(operatore di referenziazione)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L’operatore opposto è *, che restituisce il valore puntato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i = *p;    </a:t>
            </a:r>
            <a:r>
              <a:rPr lang="it-IT"/>
              <a:t>(operatore di dereferenziazione)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001FFF"/>
              </a:buClr>
              <a:buSzPct val="100000"/>
              <a:buChar char="•"/>
            </a:pPr>
            <a:r>
              <a:rPr i="1" lang="it-IT">
                <a:solidFill>
                  <a:srgbClr val="001FFF"/>
                </a:solidFill>
              </a:rPr>
              <a:t>Attenzione</a:t>
            </a:r>
            <a:r>
              <a:rPr lang="it-IT"/>
              <a:t>: non si confondano i molteplici usi dell’asterisco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Moltiplicazione, dichiarazione di puntatore, dereferenziazione</a:t>
            </a:r>
            <a:endParaRPr/>
          </a:p>
        </p:txBody>
      </p:sp>
      <p:sp>
        <p:nvSpPr>
          <p:cNvPr id="236" name="Google Shape;2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Esercizio</a:t>
            </a:r>
            <a:endParaRPr/>
          </a:p>
        </p:txBody>
      </p:sp>
      <p:sp>
        <p:nvSpPr>
          <p:cNvPr id="242" name="Google Shape;24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Spiegare la differenza tra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 = q;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e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*p = *q;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Nel primo caso si impone che il puntatore p punti alla stessa variabile a cui punta q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Nel secondo caso si assegna il valore della variabile puntata da q al valore della variabile puntata da p</a:t>
            </a:r>
            <a:endParaRPr/>
          </a:p>
        </p:txBody>
      </p:sp>
      <p:sp>
        <p:nvSpPr>
          <p:cNvPr id="243" name="Google Shape;2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Il valore NULL</a:t>
            </a:r>
            <a:endParaRPr/>
          </a:p>
        </p:txBody>
      </p:sp>
      <p:sp>
        <p:nvSpPr>
          <p:cNvPr id="249" name="Google Shape;249;p15"/>
          <p:cNvSpPr txBox="1"/>
          <p:nvPr>
            <p:ph idx="1" type="body"/>
          </p:nvPr>
        </p:nvSpPr>
        <p:spPr>
          <a:xfrm>
            <a:off x="457199" y="1600200"/>
            <a:ext cx="622623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NULL: costante simbolica che rappresenta un valore speciale che può essere assegnato a un puntatore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Significa che la variabile non punta a niente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È un errore dereferenziare la variabile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Standard ANSI impone che NULL rappresenti il valore 0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Test di nullità di un puntatore</a:t>
            </a:r>
            <a:endParaRPr/>
          </a:p>
          <a:p>
            <a:pPr indent="0" lvl="2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if (p == NULL)</a:t>
            </a:r>
            <a:endParaRPr/>
          </a:p>
          <a:p>
            <a:pPr indent="0" lvl="2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if (!p)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Test di non nullità</a:t>
            </a:r>
            <a:endParaRPr/>
          </a:p>
          <a:p>
            <a:pPr indent="0" lvl="2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if (p != NULL)</a:t>
            </a:r>
            <a:endParaRPr/>
          </a:p>
          <a:p>
            <a:pPr indent="0" lvl="2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if (p)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Utilizziamo il simbolo della “messa a terra”</a:t>
            </a:r>
            <a:endParaRPr/>
          </a:p>
        </p:txBody>
      </p:sp>
      <p:sp>
        <p:nvSpPr>
          <p:cNvPr id="250" name="Google Shape;25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6603415" y="2597089"/>
            <a:ext cx="21852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myRef = NULL;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252" name="Google Shape;252;p15"/>
          <p:cNvGrpSpPr/>
          <p:nvPr/>
        </p:nvGrpSpPr>
        <p:grpSpPr>
          <a:xfrm>
            <a:off x="7218562" y="3507724"/>
            <a:ext cx="954919" cy="1556776"/>
            <a:chOff x="7531856" y="3499412"/>
            <a:chExt cx="954919" cy="1556776"/>
          </a:xfrm>
        </p:grpSpPr>
        <p:grpSp>
          <p:nvGrpSpPr>
            <p:cNvPr id="253" name="Google Shape;253;p15"/>
            <p:cNvGrpSpPr/>
            <p:nvPr/>
          </p:nvGrpSpPr>
          <p:grpSpPr>
            <a:xfrm>
              <a:off x="7546975" y="3886200"/>
              <a:ext cx="939800" cy="1169988"/>
              <a:chOff x="2224" y="2752"/>
              <a:chExt cx="826" cy="929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2224" y="2752"/>
                <a:ext cx="826" cy="52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55" name="Google Shape;255;p15"/>
              <p:cNvCxnSpPr/>
              <p:nvPr/>
            </p:nvCxnSpPr>
            <p:spPr>
              <a:xfrm>
                <a:off x="2643" y="3034"/>
                <a:ext cx="0" cy="473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15"/>
              <p:cNvCxnSpPr/>
              <p:nvPr/>
            </p:nvCxnSpPr>
            <p:spPr>
              <a:xfrm>
                <a:off x="2355" y="3507"/>
                <a:ext cx="55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15"/>
              <p:cNvCxnSpPr/>
              <p:nvPr/>
            </p:nvCxnSpPr>
            <p:spPr>
              <a:xfrm>
                <a:off x="2463" y="3590"/>
                <a:ext cx="34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5"/>
              <p:cNvCxnSpPr/>
              <p:nvPr/>
            </p:nvCxnSpPr>
            <p:spPr>
              <a:xfrm>
                <a:off x="2577" y="3681"/>
                <a:ext cx="14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9" name="Google Shape;259;p15"/>
              <p:cNvSpPr/>
              <p:nvPr/>
            </p:nvSpPr>
            <p:spPr>
              <a:xfrm>
                <a:off x="2606" y="3001"/>
                <a:ext cx="71" cy="7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60" name="Google Shape;260;p15"/>
            <p:cNvSpPr txBox="1"/>
            <p:nvPr/>
          </p:nvSpPr>
          <p:spPr>
            <a:xfrm>
              <a:off x="7531856" y="3499412"/>
              <a:ext cx="95410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myRef</a:t>
              </a:r>
              <a:endParaRPr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Inizializzazione dei puntatori</a:t>
            </a:r>
            <a:endParaRPr/>
          </a:p>
        </p:txBody>
      </p:sp>
      <p:sp>
        <p:nvSpPr>
          <p:cNvPr id="266" name="Google Shape;266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valore iniziale di un puntatore dovrebbe essere la costante NULL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NULL significa che non ci si riferisce ad alcuna cella di memoria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Dereferenziando NULL si ha un errore in esecuzione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Come al solito, non bisogna </a:t>
            </a:r>
            <a:r>
              <a:rPr i="1" lang="it-IT">
                <a:solidFill>
                  <a:srgbClr val="001FFF"/>
                </a:solidFill>
              </a:rPr>
              <a:t>mai</a:t>
            </a:r>
            <a:r>
              <a:rPr lang="it-IT">
                <a:solidFill>
                  <a:srgbClr val="001FFF"/>
                </a:solidFill>
              </a:rPr>
              <a:t> </a:t>
            </a:r>
            <a:r>
              <a:rPr lang="it-IT"/>
              <a:t>fare affidamento sulle inizializzazioni implicite che il C potrebbe fare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Solo alcune implementazioni inizializzano implicitamente a NULL</a:t>
            </a:r>
            <a:endParaRPr/>
          </a:p>
        </p:txBody>
      </p:sp>
      <p:sp>
        <p:nvSpPr>
          <p:cNvPr id="267" name="Google Shape;2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di dichiarazioni</a:t>
            </a:r>
            <a:endParaRPr/>
          </a:p>
        </p:txBody>
      </p:sp>
      <p:sp>
        <p:nvSpPr>
          <p:cNvPr id="273" name="Google Shape;2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457200" y="1881505"/>
            <a:ext cx="680186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AltroTipoDato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DoppioPunt;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DoppioPuntatore punta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   un puntatore a TipoDato */ 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 P, Q;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 P1, Q1;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x, y;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AltroTipoDato z, w; 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4856163" y="4143375"/>
            <a:ext cx="39147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5783277" y="4226502"/>
            <a:ext cx="2645828" cy="156966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Q1 = &amp;z;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 = &amp;x;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 = Q;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*P = *Q; </a:t>
            </a:r>
            <a:endParaRPr sz="3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di dichiarazioni</a:t>
            </a:r>
            <a:endParaRPr/>
          </a:p>
        </p:txBody>
      </p:sp>
      <p:sp>
        <p:nvSpPr>
          <p:cNvPr id="282" name="Google Shape;28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457200" y="1881505"/>
            <a:ext cx="680186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AltroTipoDato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DoppioPunt;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DoppioPuntatore punta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   un puntatore a TipoDato */ 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 P, Q;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 P1, Q1;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x, y;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AltroTipoDato z, w; 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5255175" y="4459691"/>
            <a:ext cx="3431626" cy="120032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 = &amp;y;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DoppioPunt = &amp;P;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 = </a:t>
            </a:r>
            <a:r>
              <a:rPr b="1"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**</a:t>
            </a: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DoppioPunt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4856163" y="4143375"/>
            <a:ext cx="39147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di dichiarazioni</a:t>
            </a:r>
            <a:endParaRPr/>
          </a:p>
        </p:txBody>
      </p:sp>
      <p:sp>
        <p:nvSpPr>
          <p:cNvPr id="291" name="Google Shape;29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457200" y="1881505"/>
            <a:ext cx="680186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AltroTipoDato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DoppioPunt;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DoppioPuntatore punta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   un puntatore a TipoDato */ 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 P, Q;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 P1, Q1;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x, y;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AltroTipoDato z, w; 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5280112" y="4261404"/>
            <a:ext cx="3340186" cy="156966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*Puntatore = x;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 = *DoppioPunt;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z = *P1; 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 = P;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di dichiarazioni</a:t>
            </a:r>
            <a:endParaRPr/>
          </a:p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457200" y="1881505"/>
            <a:ext cx="680186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AltroTipoDato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</a:t>
            </a:r>
            <a:r>
              <a:rPr b="1"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**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DoppioPunt;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DoppioPuntatore punta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   un puntatore a TipoDato */ 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TipoPuntatore P, Q;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AltroTipoPuntatore P1, Q1;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x, y;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AltroTipoDato z, w; 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4856163" y="4143375"/>
            <a:ext cx="39147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5382376" y="3334098"/>
            <a:ext cx="3304424" cy="26776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P1 = 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 = *P;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*DoppioPunt = y;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Puntatore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DoppioPunt;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*P1 = *Q;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di istruzioni</a:t>
            </a:r>
            <a:endParaRPr/>
          </a:p>
        </p:txBody>
      </p:sp>
      <p:sp>
        <p:nvSpPr>
          <p:cNvPr id="308" name="Google Shape;30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Corrette</a:t>
            </a:r>
            <a:endParaRPr/>
          </a:p>
        </p:txBody>
      </p:sp>
      <p:sp>
        <p:nvSpPr>
          <p:cNvPr id="309" name="Google Shape;30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Puntatore = &amp;y;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DoppioPunt = &amp;P;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y = </a:t>
            </a:r>
            <a:r>
              <a:rPr b="1" lang="it-IT">
                <a:latin typeface="Courier"/>
                <a:ea typeface="Courier"/>
                <a:cs typeface="Courier"/>
                <a:sym typeface="Courier"/>
              </a:rPr>
              <a:t>**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DoppioPunt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Q1 = &amp;z;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= &amp;x;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= Q;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it-IT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 = </a:t>
            </a:r>
            <a:r>
              <a:rPr b="1" lang="it-IT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Q;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it-IT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Puntatore = x;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= </a:t>
            </a:r>
            <a:r>
              <a:rPr b="1" lang="it-IT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DoppioPunt;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z = </a:t>
            </a:r>
            <a:r>
              <a:rPr b="1" lang="it-IT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P1;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Puntatore = P;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Scorrette</a:t>
            </a:r>
            <a:endParaRPr/>
          </a:p>
        </p:txBody>
      </p:sp>
      <p:sp>
        <p:nvSpPr>
          <p:cNvPr id="311" name="Google Shape;31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P1 = P;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w = </a:t>
            </a:r>
            <a:r>
              <a:rPr b="1" lang="it-IT" sz="2200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P;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it-IT" sz="2200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DoppioPunt = y;	 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Puntatore =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DoppioPunt; 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it-IT" sz="2200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P1 = </a:t>
            </a:r>
            <a:r>
              <a:rPr b="1" lang="it-IT" sz="2200">
                <a:latin typeface="Courier"/>
                <a:ea typeface="Courier"/>
                <a:cs typeface="Courier"/>
                <a:sym typeface="Courier"/>
              </a:rPr>
              <a:t>*</a:t>
            </a: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Q;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Puntatori e tipo delle variabili puntate</a:t>
            </a:r>
            <a:endParaRPr/>
          </a:p>
        </p:txBody>
      </p:sp>
      <p:sp>
        <p:nvSpPr>
          <p:cNvPr id="318" name="Google Shape;31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compilatore segnala l’uso di puntatori a dati di tipo diverso da quello a cui dovrebbero puntare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forma di warning: sono errori potenziali 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 tipi “puntatore a tipo x” e “puntatore a tipo y” sono diversi tra loro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tipo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void *</a:t>
            </a:r>
            <a:r>
              <a:rPr lang="it-IT"/>
              <a:t> è compatibile con i puntatori a tutti i tipi</a:t>
            </a:r>
            <a:endParaRPr/>
          </a:p>
        </p:txBody>
      </p:sp>
      <p:sp>
        <p:nvSpPr>
          <p:cNvPr id="319" name="Google Shape;31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Struct e puntatori</a:t>
            </a:r>
            <a:endParaRPr/>
          </a:p>
        </p:txBody>
      </p:sp>
      <p:sp>
        <p:nvSpPr>
          <p:cNvPr id="325" name="Google Shape;32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457200" y="1914929"/>
            <a:ext cx="474521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typedef struct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		PrimoCampo;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char	SecondoCampo;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 TipoDato;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* </a:t>
            </a:r>
            <a:r>
              <a:rPr lang="it-IT" sz="24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= &amp;t;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−&gt;PrimoCampo   = 12;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(*</a:t>
            </a:r>
            <a:r>
              <a:rPr lang="it-IT" sz="24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).PrimoCampo = 12;</a:t>
            </a:r>
            <a:endParaRPr/>
          </a:p>
        </p:txBody>
      </p:sp>
      <p:grpSp>
        <p:nvGrpSpPr>
          <p:cNvPr id="327" name="Google Shape;327;p23"/>
          <p:cNvGrpSpPr/>
          <p:nvPr/>
        </p:nvGrpSpPr>
        <p:grpSpPr>
          <a:xfrm>
            <a:off x="4636293" y="4414927"/>
            <a:ext cx="2005013" cy="990600"/>
            <a:chOff x="3705" y="2825"/>
            <a:chExt cx="1263" cy="624"/>
          </a:xfrm>
        </p:grpSpPr>
        <p:sp>
          <p:nvSpPr>
            <p:cNvPr id="328" name="Google Shape;328;p23"/>
            <p:cNvSpPr txBox="1"/>
            <p:nvPr/>
          </p:nvSpPr>
          <p:spPr>
            <a:xfrm>
              <a:off x="3982" y="2991"/>
              <a:ext cx="98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Equivalenti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3705" y="2825"/>
              <a:ext cx="240" cy="624"/>
            </a:xfrm>
            <a:prstGeom prst="rightBrace">
              <a:avLst>
                <a:gd fmla="val 21667" name="adj1"/>
                <a:gd fmla="val 50000" name="adj2"/>
              </a:avLst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30" name="Google Shape;330;p23"/>
          <p:cNvSpPr txBox="1"/>
          <p:nvPr/>
        </p:nvSpPr>
        <p:spPr>
          <a:xfrm>
            <a:off x="5624512" y="3291711"/>
            <a:ext cx="3062288" cy="120032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Sintassi per accedere ai campi di una struct tramite un puntatore </a:t>
            </a:r>
            <a:r>
              <a:rPr lang="it-IT" sz="24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719138" y="352603"/>
            <a:ext cx="75946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Esempio: assegna a due puntatori l’indirizzo degli elementi con valore minimo e massimo in un array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#define	SIZE	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i, 	ArrayDiInt[SIZE];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*PuntaAMinore, *PuntaAMaggiore;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…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PuntaAMinore = &amp;ArrayDiInt[0];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for (i=1; i &lt; SIZE; i++)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 (ArrayDiInt[i] &lt; *PuntaAMinore)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	PuntaAMinore = &amp;ArrayDiInt[i];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PuntaAMaggiore = &amp;ArrayDiInt[0];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for (i=1; i &lt; SIZE; i++)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 (ArrayDiInt[i] &gt; *PuntaAMaggiore)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	PuntaAMaggiore = &amp;ArrayDiInt[i];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Tipi e memoria occupata</a:t>
            </a:r>
            <a:endParaRPr/>
          </a:p>
        </p:txBody>
      </p:sp>
      <p:sp>
        <p:nvSpPr>
          <p:cNvPr id="343" name="Google Shape;343;p25"/>
          <p:cNvSpPr txBox="1"/>
          <p:nvPr>
            <p:ph idx="1" type="body"/>
          </p:nvPr>
        </p:nvSpPr>
        <p:spPr>
          <a:xfrm>
            <a:off x="457200" y="1600201"/>
            <a:ext cx="82296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Le variabili occupano in memoria un numero di byte che dipende dal loro tipo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Sono allocate in byte di memoria consecutivi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L’operatore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sizeof() </a:t>
            </a:r>
            <a:r>
              <a:rPr lang="it-IT"/>
              <a:t>restituisce il numero di byte occupati da un tipo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O da una variabile</a:t>
            </a:r>
            <a:endParaRPr/>
          </a:p>
        </p:txBody>
      </p:sp>
      <p:sp>
        <p:nvSpPr>
          <p:cNvPr id="344" name="Google Shape;34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2133600" y="3934123"/>
            <a:ext cx="48768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double A[5], *p;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sizeof(double)	🡪 8</a:t>
            </a:r>
            <a:endParaRPr b="0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sizeof(A[2])   🡪 8</a:t>
            </a:r>
            <a:endParaRPr b="0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sizeof(A)		🡪 40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sizeof(p)	  </a:t>
            </a:r>
            <a:r>
              <a:rPr b="0" i="0" lang="it-IT" sz="1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	</a:t>
            </a: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🡪 4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sizeof(*p)	  </a:t>
            </a:r>
            <a:r>
              <a:rPr b="0" i="0" lang="it-IT" sz="1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	</a:t>
            </a:r>
            <a:r>
              <a:rPr b="0" i="0" lang="it-IT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🡪 8</a:t>
            </a:r>
            <a:endParaRPr b="0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Il qualificatore const e i puntatori</a:t>
            </a:r>
            <a:endParaRPr/>
          </a:p>
        </p:txBody>
      </p:sp>
      <p:sp>
        <p:nvSpPr>
          <p:cNvPr id="351" name="Google Shape;351;p26"/>
          <p:cNvSpPr txBox="1"/>
          <p:nvPr>
            <p:ph idx="1" type="body"/>
          </p:nvPr>
        </p:nvSpPr>
        <p:spPr>
          <a:xfrm>
            <a:off x="457199" y="1600200"/>
            <a:ext cx="846235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Le variabili possono essere dichiarate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const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 puntatori sono variabili, non fanno eccezione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Ma attenzione: possono essere const i valori e i puntatori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int k = 0, a[] = {1,2,3};	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Valori modificabili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const int i = 0;				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valore costante 0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const int b[] = {10,20,30};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Valori costanti 10,20,30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int * </a:t>
            </a:r>
            <a:r>
              <a:rPr lang="it-IT" sz="19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const</a:t>
            </a: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 m = &amp;k;     	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Puntatore costante a int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rgbClr val="CC3300"/>
              </a:buClr>
              <a:buSzPct val="100000"/>
              <a:buNone/>
            </a:pPr>
            <a:r>
              <a:rPr lang="it-IT" sz="19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const</a:t>
            </a: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 int * n = &amp;i;       	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Puntatore a int costante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int * </a:t>
            </a:r>
            <a:r>
              <a:rPr lang="it-IT" sz="19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const</a:t>
            </a: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 p = a;        	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Puntatore costante a int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Clr>
                <a:srgbClr val="CC3300"/>
              </a:buClr>
              <a:buSzPct val="100000"/>
              <a:buNone/>
            </a:pPr>
            <a:r>
              <a:rPr lang="it-IT" sz="19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const</a:t>
            </a: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 int * </a:t>
            </a:r>
            <a:r>
              <a:rPr lang="it-IT" sz="1900">
                <a:solidFill>
                  <a:srgbClr val="CC3300"/>
                </a:solidFill>
                <a:latin typeface="Courier"/>
                <a:ea typeface="Courier"/>
                <a:cs typeface="Courier"/>
                <a:sym typeface="Courier"/>
              </a:rPr>
              <a:t>const</a:t>
            </a:r>
            <a:r>
              <a:rPr lang="it-IT" sz="1900">
                <a:latin typeface="Courier"/>
                <a:ea typeface="Courier"/>
                <a:cs typeface="Courier"/>
                <a:sym typeface="Courier"/>
              </a:rPr>
              <a:t> q= b;		</a:t>
            </a:r>
            <a:r>
              <a:rPr lang="it-IT" sz="1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Puntatore costante a int 		//	costante</a:t>
            </a:r>
            <a:endParaRPr sz="19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</p:txBody>
      </p:sp>
      <p:sp>
        <p:nvSpPr>
          <p:cNvPr id="352" name="Google Shape;3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Aritmetica dei puntatori</a:t>
            </a:r>
            <a:endParaRPr/>
          </a:p>
        </p:txBody>
      </p:sp>
      <p:sp>
        <p:nvSpPr>
          <p:cNvPr id="358" name="Google Shape;35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valore di un puntatore è sempre l’indirizzo del primo byte dello spazio occupato da una variabile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C permette somme e sottrazioni tra puntatori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 esempio:</a:t>
            </a:r>
            <a:endParaRPr/>
          </a:p>
          <a:p>
            <a:pPr indent="0" lvl="1" marL="4572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+= var;	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cioè  p = p + var; */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valore di p è incrementato di un multiplo dell’ingombro in memoria del tipo puntato, e cioè della quantità </a:t>
            </a:r>
            <a:endParaRPr/>
          </a:p>
          <a:p>
            <a:pPr indent="0" lvl="1" marL="4572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var * (sizeof(TipoPuntatoDa_p)) 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9" name="Google Shape;35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366" name="Google Shape;36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609600" y="1437243"/>
            <a:ext cx="819150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TipoDato *p;  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 * sizeof(TipoDato) = 28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++p;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3624753" y="2814926"/>
            <a:ext cx="1981200" cy="316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8"/>
          <p:cNvCxnSpPr/>
          <p:nvPr/>
        </p:nvCxnSpPr>
        <p:spPr>
          <a:xfrm>
            <a:off x="3624753" y="4108738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8"/>
          <p:cNvCxnSpPr/>
          <p:nvPr/>
        </p:nvCxnSpPr>
        <p:spPr>
          <a:xfrm>
            <a:off x="3624753" y="4261138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8"/>
          <p:cNvCxnSpPr/>
          <p:nvPr/>
        </p:nvCxnSpPr>
        <p:spPr>
          <a:xfrm>
            <a:off x="3624753" y="4413538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8"/>
          <p:cNvCxnSpPr/>
          <p:nvPr/>
        </p:nvCxnSpPr>
        <p:spPr>
          <a:xfrm>
            <a:off x="3624753" y="4565938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8"/>
          <p:cNvCxnSpPr/>
          <p:nvPr/>
        </p:nvCxnSpPr>
        <p:spPr>
          <a:xfrm>
            <a:off x="3624753" y="4718338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8"/>
          <p:cNvCxnSpPr/>
          <p:nvPr/>
        </p:nvCxnSpPr>
        <p:spPr>
          <a:xfrm>
            <a:off x="3624753" y="4870738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28"/>
          <p:cNvSpPr/>
          <p:nvPr/>
        </p:nvSpPr>
        <p:spPr>
          <a:xfrm>
            <a:off x="1414953" y="3803938"/>
            <a:ext cx="9144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76" name="Google Shape;376;p28"/>
          <p:cNvSpPr/>
          <p:nvPr/>
        </p:nvSpPr>
        <p:spPr>
          <a:xfrm>
            <a:off x="2138853" y="3919826"/>
            <a:ext cx="1485900" cy="265112"/>
          </a:xfrm>
          <a:custGeom>
            <a:rect b="b" l="l" r="r" t="t"/>
            <a:pathLst>
              <a:path extrusionOk="0" h="167" w="936">
                <a:moveTo>
                  <a:pt x="0" y="7"/>
                </a:moveTo>
                <a:cubicBezTo>
                  <a:pt x="133" y="3"/>
                  <a:pt x="267" y="0"/>
                  <a:pt x="352" y="23"/>
                </a:cubicBezTo>
                <a:cubicBezTo>
                  <a:pt x="437" y="46"/>
                  <a:pt x="415" y="119"/>
                  <a:pt x="512" y="143"/>
                </a:cubicBezTo>
                <a:cubicBezTo>
                  <a:pt x="609" y="167"/>
                  <a:pt x="772" y="167"/>
                  <a:pt x="936" y="167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2176953" y="3919826"/>
            <a:ext cx="1409700" cy="1341437"/>
          </a:xfrm>
          <a:custGeom>
            <a:rect b="b" l="l" r="r" t="t"/>
            <a:pathLst>
              <a:path extrusionOk="0" h="167" w="936">
                <a:moveTo>
                  <a:pt x="0" y="7"/>
                </a:moveTo>
                <a:cubicBezTo>
                  <a:pt x="133" y="3"/>
                  <a:pt x="267" y="0"/>
                  <a:pt x="352" y="23"/>
                </a:cubicBezTo>
                <a:cubicBezTo>
                  <a:pt x="437" y="46"/>
                  <a:pt x="415" y="119"/>
                  <a:pt x="512" y="143"/>
                </a:cubicBezTo>
                <a:cubicBezTo>
                  <a:pt x="609" y="167"/>
                  <a:pt x="772" y="167"/>
                  <a:pt x="936" y="167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8" name="Google Shape;378;p28"/>
          <p:cNvGrpSpPr/>
          <p:nvPr/>
        </p:nvGrpSpPr>
        <p:grpSpPr>
          <a:xfrm>
            <a:off x="3619991" y="2818101"/>
            <a:ext cx="1990725" cy="369887"/>
            <a:chOff x="2505" y="3344"/>
            <a:chExt cx="1254" cy="233"/>
          </a:xfrm>
        </p:grpSpPr>
        <p:cxnSp>
          <p:nvCxnSpPr>
            <p:cNvPr id="379" name="Google Shape;379;p28"/>
            <p:cNvCxnSpPr/>
            <p:nvPr/>
          </p:nvCxnSpPr>
          <p:spPr>
            <a:xfrm>
              <a:off x="2505" y="3556"/>
              <a:ext cx="1254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80" name="Google Shape;380;p28"/>
            <p:cNvSpPr txBox="1"/>
            <p:nvPr/>
          </p:nvSpPr>
          <p:spPr>
            <a:xfrm>
              <a:off x="2651" y="3344"/>
              <a:ext cx="96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32 bit = 4 byte</a:t>
              </a:r>
              <a:endParaRPr/>
            </a:p>
          </p:txBody>
        </p:sp>
      </p:grpSp>
      <p:grpSp>
        <p:nvGrpSpPr>
          <p:cNvPr id="381" name="Google Shape;381;p28"/>
          <p:cNvGrpSpPr/>
          <p:nvPr/>
        </p:nvGrpSpPr>
        <p:grpSpPr>
          <a:xfrm>
            <a:off x="5737716" y="4123026"/>
            <a:ext cx="2722562" cy="1171575"/>
            <a:chOff x="3839" y="2363"/>
            <a:chExt cx="1547" cy="445"/>
          </a:xfrm>
        </p:grpSpPr>
        <p:cxnSp>
          <p:nvCxnSpPr>
            <p:cNvPr id="382" name="Google Shape;382;p28"/>
            <p:cNvCxnSpPr/>
            <p:nvPr/>
          </p:nvCxnSpPr>
          <p:spPr>
            <a:xfrm rot="10800000">
              <a:off x="3839" y="2372"/>
              <a:ext cx="2" cy="43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83" name="Google Shape;383;p28"/>
            <p:cNvSpPr txBox="1"/>
            <p:nvPr/>
          </p:nvSpPr>
          <p:spPr>
            <a:xfrm>
              <a:off x="3946" y="2363"/>
              <a:ext cx="1440" cy="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incremento pari a 7 parole di memoria == 28 byte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4" name="Google Shape;384;p28"/>
          <p:cNvCxnSpPr/>
          <p:nvPr/>
        </p:nvCxnSpPr>
        <p:spPr>
          <a:xfrm>
            <a:off x="3626341" y="5024726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8"/>
          <p:cNvCxnSpPr/>
          <p:nvPr/>
        </p:nvCxnSpPr>
        <p:spPr>
          <a:xfrm>
            <a:off x="3626341" y="5177126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8"/>
          <p:cNvCxnSpPr/>
          <p:nvPr/>
        </p:nvCxnSpPr>
        <p:spPr>
          <a:xfrm>
            <a:off x="3626341" y="5329526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Array e puntatori</a:t>
            </a:r>
            <a:endParaRPr/>
          </a:p>
        </p:txBody>
      </p:sp>
      <p:sp>
        <p:nvSpPr>
          <p:cNvPr id="393" name="Google Shape;39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 C esiste una parentela stretta tra array e puntatori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nome di un array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</a:t>
            </a:r>
            <a:r>
              <a:rPr lang="it-IT"/>
              <a:t> è una costante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Di tipo puntatore al tipo componente l’array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Di valore </a:t>
            </a:r>
            <a:r>
              <a:rPr i="1" lang="it-IT">
                <a:solidFill>
                  <a:srgbClr val="001FFF"/>
                </a:solidFill>
              </a:rPr>
              <a:t>indirizzo della prima cella allocata per l’array</a:t>
            </a:r>
            <a:endParaRPr>
              <a:solidFill>
                <a:srgbClr val="001FFF"/>
              </a:solidFill>
            </a:endParaRPr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Esempio</a:t>
            </a:r>
            <a:endParaRPr/>
          </a:p>
          <a:p>
            <a:pPr indent="0" lvl="1" marL="4572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v[3];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Definisce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</a:t>
            </a:r>
            <a:r>
              <a:rPr lang="it-IT"/>
              <a:t> come una costante simbolica il cui tipo è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int *const v</a:t>
            </a:r>
            <a:r>
              <a:rPr lang="it-IT"/>
              <a:t>, cioè puntatore costante a un intero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Perciò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v[i]</a:t>
            </a:r>
            <a:r>
              <a:rPr lang="it-IT"/>
              <a:t> è equivalente a 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*(v + i)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Calcolo dello spiazzamento nel vettore grazie all'aritmetica dei puntatori</a:t>
            </a:r>
            <a:endParaRPr/>
          </a:p>
        </p:txBody>
      </p:sp>
      <p:sp>
        <p:nvSpPr>
          <p:cNvPr id="394" name="Google Shape;39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Ecco finalmente svelato </a:t>
            </a:r>
            <a:br>
              <a:rPr lang="it-IT"/>
            </a:br>
            <a:r>
              <a:rPr lang="it-IT"/>
              <a:t>uno dei misteri della scanf!</a:t>
            </a:r>
            <a:endParaRPr/>
          </a:p>
        </p:txBody>
      </p:sp>
      <p:sp>
        <p:nvSpPr>
          <p:cNvPr id="400" name="Google Shape;400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Perché ci vuole &amp; per memorizzare un valore in una variabile generica, ma non in una stringa?</a:t>
            </a:r>
            <a:endParaRPr/>
          </a:p>
          <a:p>
            <a:pPr indent="-147955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funzione scanf() riceve come parametri gli </a:t>
            </a:r>
            <a:r>
              <a:rPr i="1" lang="it-IT">
                <a:solidFill>
                  <a:srgbClr val="001FFF"/>
                </a:solidFill>
              </a:rPr>
              <a:t>indirizzi</a:t>
            </a:r>
            <a:r>
              <a:rPr lang="it-IT">
                <a:solidFill>
                  <a:srgbClr val="001FFF"/>
                </a:solidFill>
              </a:rPr>
              <a:t> </a:t>
            </a:r>
            <a:r>
              <a:rPr lang="it-IT"/>
              <a:t>delle variabili in cui scrivere i valori letti da terminale</a:t>
            </a:r>
            <a:endParaRPr/>
          </a:p>
          <a:p>
            <a:pPr indent="-147955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Gli identificatori delle variabili “normali” rappresentano la variabile, e per estrarne l’indirizzo occorre l’operatore &amp;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Gli identificatori degli array rappresentano già di per sé i puntatori ai primi elementi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Quindi nel caso delle stringhe (che sono array) non occorre &amp;</a:t>
            </a:r>
            <a:endParaRPr/>
          </a:p>
        </p:txBody>
      </p:sp>
      <p:sp>
        <p:nvSpPr>
          <p:cNvPr id="401" name="Google Shape;40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Riassumendo: array e puntatori</a:t>
            </a:r>
            <a:endParaRPr/>
          </a:p>
        </p:txBody>
      </p:sp>
      <p:sp>
        <p:nvSpPr>
          <p:cNvPr id="407" name="Google Shape;40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Con la seguente dichiarazione: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a[5], i, *p;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a[i]				</a:t>
            </a:r>
            <a:r>
              <a:rPr lang="it-IT"/>
              <a:t>equivale a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		*(a + i)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= a;			</a:t>
            </a:r>
            <a:r>
              <a:rPr lang="it-IT"/>
              <a:t>equivale a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		p = &amp;a[0];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= a + 1;		</a:t>
            </a:r>
            <a:r>
              <a:rPr lang="it-IT"/>
              <a:t>equivale a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		p = &amp;a[1];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a = p;			</a:t>
            </a:r>
            <a:r>
              <a:rPr i="1" lang="it-IT">
                <a:solidFill>
                  <a:srgbClr val="001FFF"/>
                </a:solidFill>
              </a:rPr>
              <a:t>è un errore! </a:t>
            </a:r>
            <a:endParaRPr/>
          </a:p>
          <a:p>
            <a:pPr indent="0" lvl="1" marL="4572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a = a + 1;		</a:t>
            </a:r>
            <a:r>
              <a:rPr i="1" lang="it-IT">
                <a:solidFill>
                  <a:srgbClr val="001FFF"/>
                </a:solidFill>
              </a:rPr>
              <a:t>è un errore!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Occorre ricordare che a è il nome di un array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Cioè un </a:t>
            </a:r>
            <a:r>
              <a:rPr i="1" lang="it-IT">
                <a:solidFill>
                  <a:srgbClr val="001FFF"/>
                </a:solidFill>
              </a:rPr>
              <a:t>puntatore costante</a:t>
            </a:r>
            <a:r>
              <a:rPr i="1" lang="it-IT"/>
              <a:t>!</a:t>
            </a:r>
            <a:endParaRPr i="1"/>
          </a:p>
        </p:txBody>
      </p:sp>
      <p:sp>
        <p:nvSpPr>
          <p:cNvPr id="408" name="Google Shape;40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Ancora sull’aritmetica dei puntatori</a:t>
            </a:r>
            <a:endParaRPr/>
          </a:p>
        </p:txBody>
      </p:sp>
      <p:sp>
        <p:nvSpPr>
          <p:cNvPr id="414" name="Google Shape;414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p e q puntano a due diversi elementi di uno stesso array, la differenza</a:t>
            </a:r>
            <a:endParaRPr/>
          </a:p>
          <a:p>
            <a:pPr indent="0" lvl="1" marL="4572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 - q </a:t>
            </a:r>
            <a:r>
              <a:rPr lang="it-IT"/>
              <a:t>calcola la distanza nell’array tra gli elementi puntati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Non è la differenza aritmetica tra i valori numerici dei due puntatori …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… ma la distanza </a:t>
            </a:r>
            <a:r>
              <a:rPr i="1" lang="it-IT">
                <a:solidFill>
                  <a:srgbClr val="001FFF"/>
                </a:solidFill>
              </a:rPr>
              <a:t>espressa in numero di elementi</a:t>
            </a:r>
            <a:endParaRPr/>
          </a:p>
        </p:txBody>
      </p:sp>
      <p:sp>
        <p:nvSpPr>
          <p:cNvPr id="415" name="Google Shape;415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Ancora sull’aritmetica dei puntatori</a:t>
            </a:r>
            <a:endParaRPr/>
          </a:p>
        </p:txBody>
      </p:sp>
      <p:sp>
        <p:nvSpPr>
          <p:cNvPr id="421" name="Google Shape;421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int x[3]={2,7,4}, *p = x;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/>
              <a:t>	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/>
              <a:t>Differenza tra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/>
              <a:t>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(*p)++;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/>
              <a:t>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/>
              <a:t>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*(p++);</a:t>
            </a:r>
            <a:endParaRPr/>
          </a:p>
        </p:txBody>
      </p:sp>
      <p:sp>
        <p:nvSpPr>
          <p:cNvPr id="422" name="Google Shape;42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Array multidimensionali</a:t>
            </a:r>
            <a:endParaRPr/>
          </a:p>
        </p:txBody>
      </p:sp>
      <p:sp>
        <p:nvSpPr>
          <p:cNvPr id="428" name="Google Shape;428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 calcolare lo spiazzamento occorre conoscere le dimensioni intermedie 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Tipo m[R][C];   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R righe, C colonne*/ 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m[i][j] </a:t>
            </a:r>
            <a:r>
              <a:rPr lang="it-IT"/>
              <a:t>= accesso al j-esimo elemento della i-esima riga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m[i][j] </a:t>
            </a:r>
            <a:r>
              <a:rPr lang="it-IT"/>
              <a:t>=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*(*(m+i)+j) </a:t>
            </a:r>
            <a:r>
              <a:rPr lang="it-IT"/>
              <a:t>≈ 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*(m+C·i+j)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Serve conoscere sia la dimensione del tipo sia il numero di colonne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sizeof(Tipo)</a:t>
            </a:r>
            <a:r>
              <a:rPr lang="it-IT"/>
              <a:t> 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C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La “altezza” R non serve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Tipo p[X][Y][Z]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p[i][j][k]</a:t>
            </a:r>
            <a:r>
              <a:rPr lang="it-IT"/>
              <a:t>   = 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*(*(*(p+i)+j)+k) </a:t>
            </a:r>
            <a:r>
              <a:rPr lang="it-IT"/>
              <a:t>≈ 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*(p+Y·Z·i+Z·j+k)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Serve conoscere dimensione del tipo, altezza e larghezza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sizeof(Tipo), Y, Z</a:t>
            </a:r>
            <a:endParaRPr/>
          </a:p>
          <a:p>
            <a:pPr indent="0" lvl="1" marL="45720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La "profondità" X non serve</a:t>
            </a:r>
            <a:endParaRPr/>
          </a:p>
        </p:txBody>
      </p:sp>
      <p:sp>
        <p:nvSpPr>
          <p:cNvPr id="429" name="Google Shape;42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al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2000-09-24T09:01:15Z</dcterms:created>
  <dc:creator>Gerardo Pelosi</dc:creator>
</cp:coreProperties>
</file>