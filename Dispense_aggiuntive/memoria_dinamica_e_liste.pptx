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y="6858000" cx="9144000"/>
  <p:notesSz cx="6797675" cy="9926625"/>
  <p:embeddedFontLst>
    <p:embeddedFont>
      <p:font typeface="Tahoma"/>
      <p:regular r:id="rId90"/>
      <p:bold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2" roundtripDataSignature="AMtx7mg9IXfpTCxswP0dQ8PfDVDxI6pb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Tahoma-bold.fntdata"/><Relationship Id="rId90" Type="http://schemas.openxmlformats.org/officeDocument/2006/relationships/font" Target="fonts/Tahoma-regular.fntdata"/><Relationship Id="rId92" Type="http://customschemas.google.com/relationships/presentationmetadata" Target="meta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275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51275" y="9431338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6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6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6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6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7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7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5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5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6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76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7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7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8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78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9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79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0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80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1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81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2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2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3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83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4:notes"/>
          <p:cNvSpPr txBox="1"/>
          <p:nvPr>
            <p:ph idx="1" type="body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84:notes"/>
          <p:cNvSpPr/>
          <p:nvPr>
            <p:ph idx="2" type="sldImg"/>
          </p:nvPr>
        </p:nvSpPr>
        <p:spPr>
          <a:xfrm>
            <a:off x="917575" y="744538"/>
            <a:ext cx="4964113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9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9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Informatica A</a:t>
            </a:r>
            <a:br>
              <a:rPr lang="it-IT"/>
            </a:b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it-IT"/>
              <a:t>Memoria Dinamica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Allocazione della memoria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C i dati hanno una dimensione nota a tempo di compilazione (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sizeof(…)</a:t>
            </a:r>
            <a:r>
              <a:rPr lang="it-IT"/>
              <a:t>)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quantità di memoria necessaria per eseguire una funzione è nota al compilatore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Dimensione di un record di attivazione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Non si conosce, però, il numero di “esemplari” da allocare (esempio: ricorsione)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Come si gestiscono i dati la cui dimensione è nota solo a tempo di esecuzione?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Es: invertiamo una sequenza di interi (di lunghezza arbitraria) letti da stdin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Soluzioni con array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prealloca un'area dati sovradimensionata rispetto all'effettivo utilizzo e si tiene traccia di quanta parte di essa è effettivamente occupata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Nell'esempio della sequenza, l'indice che progredisce conta i valori validi inseriti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Problema: grande spreco di memoria inutilizzata, oppure poca generalità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Soluzione: </a:t>
            </a:r>
            <a:r>
              <a:rPr i="1" lang="it-IT" u="sng"/>
              <a:t>memoria dinamica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Memoria dinamica: motivazioni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Problemi tipici nel dimensionare a priori le strutture dati (ad esempio, gli array)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Spreco di memoria se a runtime i dati sono pochi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Violazione di memoria se i dati sono più del previsto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Un accesso oltre il limite dell'array ha effetti imprevedibili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Spreco di tempo per ricompattare/spostare i dati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Cancellazione di un elemento intermedio in un array ordinato</a:t>
            </a:r>
            <a:endParaRPr/>
          </a:p>
          <a:p>
            <a:pPr indent="-228600" lvl="3" marL="16002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Occorre far scorrere indietro tutti gli elementi successivi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Inserimento di un elemento intermedio in un array ordinato</a:t>
            </a:r>
            <a:endParaRPr/>
          </a:p>
          <a:p>
            <a:pPr indent="-228600" lvl="3" marL="1600200" rtl="0" algn="l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Occorre far scorrere in avanti i dati per creare spazio</a:t>
            </a:r>
            <a:endParaRPr/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Variabili statiche, automatiche, dinamiche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Automatiche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Allocate e deallocate automaticamente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Gestione della memoria a stack (LIFO)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Statiche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Allocate prima dell'esecuzione del programma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Restano allocate per tutta l'esecuzione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Dinamiche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Allocate e deallocate esplicitamente a run-time dal programma</a:t>
            </a:r>
            <a:endParaRPr/>
          </a:p>
          <a:p>
            <a:pPr indent="-228600" lvl="2" marL="114300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Dal programmatore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Accessibili solo tramite puntatori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Referenziabili da ogni ambiente</a:t>
            </a:r>
            <a:endParaRPr/>
          </a:p>
          <a:p>
            <a:pPr indent="-228600" lvl="2" marL="114300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 patto di disporre di un puntatore che punti ad esse</a:t>
            </a:r>
            <a:endParaRPr/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Gestione della memoria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457200" y="1600201"/>
            <a:ext cx="8229600" cy="2307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memoria riservata ai dati del programma è partizionata in tre "zone"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Segmento dati per variabili statiche e globali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Stack per variabili automatiche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Heap per variabili dinamiche</a:t>
            </a:r>
            <a:endParaRPr/>
          </a:p>
        </p:txBody>
      </p:sp>
      <p:sp>
        <p:nvSpPr>
          <p:cNvPr id="125" name="Google Shape;12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6" name="Google Shape;126;p6"/>
          <p:cNvGrpSpPr/>
          <p:nvPr/>
        </p:nvGrpSpPr>
        <p:grpSpPr>
          <a:xfrm>
            <a:off x="3623494" y="3874636"/>
            <a:ext cx="4897051" cy="2516210"/>
            <a:chOff x="2152" y="1876"/>
            <a:chExt cx="3149" cy="1806"/>
          </a:xfrm>
        </p:grpSpPr>
        <p:sp>
          <p:nvSpPr>
            <p:cNvPr id="127" name="Google Shape;127;p6"/>
            <p:cNvSpPr/>
            <p:nvPr/>
          </p:nvSpPr>
          <p:spPr>
            <a:xfrm>
              <a:off x="2432" y="2041"/>
              <a:ext cx="556" cy="1467"/>
            </a:xfrm>
            <a:prstGeom prst="rect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28" name="Google Shape;128;p6"/>
            <p:cNvCxnSpPr/>
            <p:nvPr/>
          </p:nvCxnSpPr>
          <p:spPr>
            <a:xfrm>
              <a:off x="2432" y="2339"/>
              <a:ext cx="556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2442" y="2628"/>
              <a:ext cx="556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2436" y="2487"/>
              <a:ext cx="556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2432" y="2918"/>
              <a:ext cx="556" cy="1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" name="Google Shape;132;p6"/>
            <p:cNvSpPr/>
            <p:nvPr/>
          </p:nvSpPr>
          <p:spPr>
            <a:xfrm>
              <a:off x="4030" y="2649"/>
              <a:ext cx="311" cy="234"/>
            </a:xfrm>
            <a:prstGeom prst="rect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928" y="2308"/>
              <a:ext cx="415" cy="234"/>
            </a:xfrm>
            <a:prstGeom prst="rect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4504" y="2883"/>
              <a:ext cx="311" cy="234"/>
            </a:xfrm>
            <a:prstGeom prst="rect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971" y="3053"/>
              <a:ext cx="898" cy="388"/>
            </a:xfrm>
            <a:custGeom>
              <a:rect b="b" l="l" r="r" t="t"/>
              <a:pathLst>
                <a:path extrusionOk="0" h="1552" w="4490">
                  <a:moveTo>
                    <a:pt x="4490" y="0"/>
                  </a:moveTo>
                  <a:lnTo>
                    <a:pt x="4484" y="80"/>
                  </a:lnTo>
                  <a:lnTo>
                    <a:pt x="4473" y="159"/>
                  </a:lnTo>
                  <a:lnTo>
                    <a:pt x="4457" y="237"/>
                  </a:lnTo>
                  <a:lnTo>
                    <a:pt x="4435" y="313"/>
                  </a:lnTo>
                  <a:lnTo>
                    <a:pt x="4409" y="389"/>
                  </a:lnTo>
                  <a:lnTo>
                    <a:pt x="4377" y="463"/>
                  </a:lnTo>
                  <a:lnTo>
                    <a:pt x="4340" y="535"/>
                  </a:lnTo>
                  <a:lnTo>
                    <a:pt x="4299" y="605"/>
                  </a:lnTo>
                  <a:lnTo>
                    <a:pt x="4252" y="674"/>
                  </a:lnTo>
                  <a:lnTo>
                    <a:pt x="4201" y="741"/>
                  </a:lnTo>
                  <a:lnTo>
                    <a:pt x="4146" y="806"/>
                  </a:lnTo>
                  <a:lnTo>
                    <a:pt x="4087" y="869"/>
                  </a:lnTo>
                  <a:lnTo>
                    <a:pt x="4023" y="930"/>
                  </a:lnTo>
                  <a:lnTo>
                    <a:pt x="3957" y="988"/>
                  </a:lnTo>
                  <a:lnTo>
                    <a:pt x="3885" y="1044"/>
                  </a:lnTo>
                  <a:lnTo>
                    <a:pt x="3811" y="1099"/>
                  </a:lnTo>
                  <a:lnTo>
                    <a:pt x="3733" y="1149"/>
                  </a:lnTo>
                  <a:lnTo>
                    <a:pt x="3651" y="1198"/>
                  </a:lnTo>
                  <a:lnTo>
                    <a:pt x="3568" y="1245"/>
                  </a:lnTo>
                  <a:lnTo>
                    <a:pt x="3480" y="1287"/>
                  </a:lnTo>
                  <a:lnTo>
                    <a:pt x="3390" y="1327"/>
                  </a:lnTo>
                  <a:lnTo>
                    <a:pt x="3297" y="1364"/>
                  </a:lnTo>
                  <a:lnTo>
                    <a:pt x="3200" y="1399"/>
                  </a:lnTo>
                  <a:lnTo>
                    <a:pt x="3103" y="1430"/>
                  </a:lnTo>
                  <a:lnTo>
                    <a:pt x="3002" y="1458"/>
                  </a:lnTo>
                  <a:lnTo>
                    <a:pt x="2899" y="1482"/>
                  </a:lnTo>
                  <a:lnTo>
                    <a:pt x="2794" y="1503"/>
                  </a:lnTo>
                  <a:lnTo>
                    <a:pt x="2687" y="1520"/>
                  </a:lnTo>
                  <a:lnTo>
                    <a:pt x="2580" y="1534"/>
                  </a:lnTo>
                  <a:lnTo>
                    <a:pt x="2469" y="1543"/>
                  </a:lnTo>
                  <a:lnTo>
                    <a:pt x="2357" y="1550"/>
                  </a:lnTo>
                  <a:lnTo>
                    <a:pt x="2245" y="1552"/>
                  </a:lnTo>
                  <a:lnTo>
                    <a:pt x="2133" y="1550"/>
                  </a:lnTo>
                  <a:lnTo>
                    <a:pt x="2022" y="1543"/>
                  </a:lnTo>
                  <a:lnTo>
                    <a:pt x="1913" y="1534"/>
                  </a:lnTo>
                  <a:lnTo>
                    <a:pt x="1805" y="1520"/>
                  </a:lnTo>
                  <a:lnTo>
                    <a:pt x="1699" y="1503"/>
                  </a:lnTo>
                  <a:lnTo>
                    <a:pt x="1595" y="1483"/>
                  </a:lnTo>
                  <a:lnTo>
                    <a:pt x="1493" y="1460"/>
                  </a:lnTo>
                  <a:lnTo>
                    <a:pt x="1393" y="1432"/>
                  </a:lnTo>
                  <a:lnTo>
                    <a:pt x="1296" y="1402"/>
                  </a:lnTo>
                  <a:lnTo>
                    <a:pt x="1200" y="1368"/>
                  </a:lnTo>
                  <a:lnTo>
                    <a:pt x="1107" y="1332"/>
                  </a:lnTo>
                  <a:lnTo>
                    <a:pt x="1018" y="1291"/>
                  </a:lnTo>
                  <a:lnTo>
                    <a:pt x="931" y="1249"/>
                  </a:lnTo>
                  <a:lnTo>
                    <a:pt x="847" y="1203"/>
                  </a:lnTo>
                  <a:lnTo>
                    <a:pt x="765" y="1156"/>
                  </a:lnTo>
                  <a:lnTo>
                    <a:pt x="689" y="1105"/>
                  </a:lnTo>
                  <a:lnTo>
                    <a:pt x="614" y="1052"/>
                  </a:lnTo>
                  <a:lnTo>
                    <a:pt x="543" y="997"/>
                  </a:lnTo>
                  <a:lnTo>
                    <a:pt x="476" y="939"/>
                  </a:lnTo>
                  <a:lnTo>
                    <a:pt x="412" y="879"/>
                  </a:lnTo>
                  <a:lnTo>
                    <a:pt x="353" y="817"/>
                  </a:lnTo>
                  <a:lnTo>
                    <a:pt x="297" y="752"/>
                  </a:lnTo>
                  <a:lnTo>
                    <a:pt x="247" y="686"/>
                  </a:lnTo>
                  <a:lnTo>
                    <a:pt x="200" y="619"/>
                  </a:lnTo>
                  <a:lnTo>
                    <a:pt x="157" y="549"/>
                  </a:lnTo>
                  <a:lnTo>
                    <a:pt x="121" y="478"/>
                  </a:lnTo>
                  <a:lnTo>
                    <a:pt x="87" y="405"/>
                  </a:lnTo>
                  <a:lnTo>
                    <a:pt x="60" y="329"/>
                  </a:lnTo>
                  <a:lnTo>
                    <a:pt x="37" y="254"/>
                  </a:lnTo>
                  <a:lnTo>
                    <a:pt x="18" y="177"/>
                  </a:lnTo>
                  <a:lnTo>
                    <a:pt x="7" y="98"/>
                  </a:lnTo>
                  <a:lnTo>
                    <a:pt x="0" y="1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538" y="2259"/>
              <a:ext cx="437" cy="798"/>
            </a:xfrm>
            <a:custGeom>
              <a:rect b="b" l="l" r="r" t="t"/>
              <a:pathLst>
                <a:path extrusionOk="0" h="3190" w="2184">
                  <a:moveTo>
                    <a:pt x="2184" y="3190"/>
                  </a:moveTo>
                  <a:lnTo>
                    <a:pt x="2071" y="3187"/>
                  </a:lnTo>
                  <a:lnTo>
                    <a:pt x="1960" y="3178"/>
                  </a:lnTo>
                  <a:lnTo>
                    <a:pt x="1850" y="3166"/>
                  </a:lnTo>
                  <a:lnTo>
                    <a:pt x="1743" y="3152"/>
                  </a:lnTo>
                  <a:lnTo>
                    <a:pt x="1636" y="3133"/>
                  </a:lnTo>
                  <a:lnTo>
                    <a:pt x="1533" y="3109"/>
                  </a:lnTo>
                  <a:lnTo>
                    <a:pt x="1431" y="3084"/>
                  </a:lnTo>
                  <a:lnTo>
                    <a:pt x="1332" y="3054"/>
                  </a:lnTo>
                  <a:lnTo>
                    <a:pt x="1235" y="3021"/>
                  </a:lnTo>
                  <a:lnTo>
                    <a:pt x="1141" y="2985"/>
                  </a:lnTo>
                  <a:lnTo>
                    <a:pt x="1050" y="2946"/>
                  </a:lnTo>
                  <a:lnTo>
                    <a:pt x="962" y="2904"/>
                  </a:lnTo>
                  <a:lnTo>
                    <a:pt x="876" y="2859"/>
                  </a:lnTo>
                  <a:lnTo>
                    <a:pt x="793" y="2812"/>
                  </a:lnTo>
                  <a:lnTo>
                    <a:pt x="714" y="2761"/>
                  </a:lnTo>
                  <a:lnTo>
                    <a:pt x="638" y="2708"/>
                  </a:lnTo>
                  <a:lnTo>
                    <a:pt x="566" y="2653"/>
                  </a:lnTo>
                  <a:lnTo>
                    <a:pt x="497" y="2594"/>
                  </a:lnTo>
                  <a:lnTo>
                    <a:pt x="433" y="2535"/>
                  </a:lnTo>
                  <a:lnTo>
                    <a:pt x="372" y="2473"/>
                  </a:lnTo>
                  <a:lnTo>
                    <a:pt x="316" y="2408"/>
                  </a:lnTo>
                  <a:lnTo>
                    <a:pt x="263" y="2342"/>
                  </a:lnTo>
                  <a:lnTo>
                    <a:pt x="215" y="2274"/>
                  </a:lnTo>
                  <a:lnTo>
                    <a:pt x="171" y="2205"/>
                  </a:lnTo>
                  <a:lnTo>
                    <a:pt x="132" y="2133"/>
                  </a:lnTo>
                  <a:lnTo>
                    <a:pt x="98" y="2060"/>
                  </a:lnTo>
                  <a:lnTo>
                    <a:pt x="69" y="1985"/>
                  </a:lnTo>
                  <a:lnTo>
                    <a:pt x="45" y="1910"/>
                  </a:lnTo>
                  <a:lnTo>
                    <a:pt x="25" y="1833"/>
                  </a:lnTo>
                  <a:lnTo>
                    <a:pt x="12" y="1754"/>
                  </a:lnTo>
                  <a:lnTo>
                    <a:pt x="4" y="1675"/>
                  </a:lnTo>
                  <a:lnTo>
                    <a:pt x="0" y="1595"/>
                  </a:lnTo>
                  <a:lnTo>
                    <a:pt x="4" y="1516"/>
                  </a:lnTo>
                  <a:lnTo>
                    <a:pt x="12" y="1436"/>
                  </a:lnTo>
                  <a:lnTo>
                    <a:pt x="25" y="1359"/>
                  </a:lnTo>
                  <a:lnTo>
                    <a:pt x="44" y="1283"/>
                  </a:lnTo>
                  <a:lnTo>
                    <a:pt x="68" y="1208"/>
                  </a:lnTo>
                  <a:lnTo>
                    <a:pt x="97" y="1133"/>
                  </a:lnTo>
                  <a:lnTo>
                    <a:pt x="130" y="1061"/>
                  </a:lnTo>
                  <a:lnTo>
                    <a:pt x="169" y="990"/>
                  </a:lnTo>
                  <a:lnTo>
                    <a:pt x="211" y="921"/>
                  </a:lnTo>
                  <a:lnTo>
                    <a:pt x="258" y="853"/>
                  </a:lnTo>
                  <a:lnTo>
                    <a:pt x="310" y="787"/>
                  </a:lnTo>
                  <a:lnTo>
                    <a:pt x="366" y="723"/>
                  </a:lnTo>
                  <a:lnTo>
                    <a:pt x="426" y="662"/>
                  </a:lnTo>
                  <a:lnTo>
                    <a:pt x="490" y="602"/>
                  </a:lnTo>
                  <a:lnTo>
                    <a:pt x="557" y="544"/>
                  </a:lnTo>
                  <a:lnTo>
                    <a:pt x="629" y="489"/>
                  </a:lnTo>
                  <a:lnTo>
                    <a:pt x="704" y="436"/>
                  </a:lnTo>
                  <a:lnTo>
                    <a:pt x="782" y="387"/>
                  </a:lnTo>
                  <a:lnTo>
                    <a:pt x="863" y="339"/>
                  </a:lnTo>
                  <a:lnTo>
                    <a:pt x="947" y="293"/>
                  </a:lnTo>
                  <a:lnTo>
                    <a:pt x="1034" y="251"/>
                  </a:lnTo>
                  <a:lnTo>
                    <a:pt x="1125" y="212"/>
                  </a:lnTo>
                  <a:lnTo>
                    <a:pt x="1218" y="176"/>
                  </a:lnTo>
                  <a:lnTo>
                    <a:pt x="1314" y="143"/>
                  </a:lnTo>
                  <a:lnTo>
                    <a:pt x="1412" y="112"/>
                  </a:lnTo>
                  <a:lnTo>
                    <a:pt x="1513" y="86"/>
                  </a:lnTo>
                  <a:lnTo>
                    <a:pt x="1615" y="62"/>
                  </a:lnTo>
                  <a:lnTo>
                    <a:pt x="1720" y="42"/>
                  </a:lnTo>
                  <a:lnTo>
                    <a:pt x="1827" y="26"/>
                  </a:lnTo>
                  <a:lnTo>
                    <a:pt x="1936" y="14"/>
                  </a:lnTo>
                  <a:lnTo>
                    <a:pt x="2046" y="5"/>
                  </a:lnTo>
                  <a:lnTo>
                    <a:pt x="2157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971" y="1876"/>
              <a:ext cx="898" cy="387"/>
            </a:xfrm>
            <a:custGeom>
              <a:rect b="b" l="l" r="r" t="t"/>
              <a:pathLst>
                <a:path extrusionOk="0" h="1551" w="4490">
                  <a:moveTo>
                    <a:pt x="0" y="1551"/>
                  </a:moveTo>
                  <a:lnTo>
                    <a:pt x="5" y="1471"/>
                  </a:lnTo>
                  <a:lnTo>
                    <a:pt x="16" y="1392"/>
                  </a:lnTo>
                  <a:lnTo>
                    <a:pt x="32" y="1315"/>
                  </a:lnTo>
                  <a:lnTo>
                    <a:pt x="54" y="1237"/>
                  </a:lnTo>
                  <a:lnTo>
                    <a:pt x="80" y="1162"/>
                  </a:lnTo>
                  <a:lnTo>
                    <a:pt x="112" y="1089"/>
                  </a:lnTo>
                  <a:lnTo>
                    <a:pt x="149" y="1017"/>
                  </a:lnTo>
                  <a:lnTo>
                    <a:pt x="192" y="946"/>
                  </a:lnTo>
                  <a:lnTo>
                    <a:pt x="238" y="877"/>
                  </a:lnTo>
                  <a:lnTo>
                    <a:pt x="288" y="810"/>
                  </a:lnTo>
                  <a:lnTo>
                    <a:pt x="343" y="746"/>
                  </a:lnTo>
                  <a:lnTo>
                    <a:pt x="403" y="682"/>
                  </a:lnTo>
                  <a:lnTo>
                    <a:pt x="466" y="622"/>
                  </a:lnTo>
                  <a:lnTo>
                    <a:pt x="532" y="563"/>
                  </a:lnTo>
                  <a:lnTo>
                    <a:pt x="604" y="506"/>
                  </a:lnTo>
                  <a:lnTo>
                    <a:pt x="678" y="453"/>
                  </a:lnTo>
                  <a:lnTo>
                    <a:pt x="756" y="401"/>
                  </a:lnTo>
                  <a:lnTo>
                    <a:pt x="838" y="353"/>
                  </a:lnTo>
                  <a:lnTo>
                    <a:pt x="921" y="307"/>
                  </a:lnTo>
                  <a:lnTo>
                    <a:pt x="1010" y="264"/>
                  </a:lnTo>
                  <a:lnTo>
                    <a:pt x="1099" y="223"/>
                  </a:lnTo>
                  <a:lnTo>
                    <a:pt x="1193" y="186"/>
                  </a:lnTo>
                  <a:lnTo>
                    <a:pt x="1289" y="152"/>
                  </a:lnTo>
                  <a:lnTo>
                    <a:pt x="1387" y="122"/>
                  </a:lnTo>
                  <a:lnTo>
                    <a:pt x="1487" y="93"/>
                  </a:lnTo>
                  <a:lnTo>
                    <a:pt x="1590" y="69"/>
                  </a:lnTo>
                  <a:lnTo>
                    <a:pt x="1695" y="49"/>
                  </a:lnTo>
                  <a:lnTo>
                    <a:pt x="1802" y="31"/>
                  </a:lnTo>
                  <a:lnTo>
                    <a:pt x="1911" y="18"/>
                  </a:lnTo>
                  <a:lnTo>
                    <a:pt x="2021" y="7"/>
                  </a:lnTo>
                  <a:lnTo>
                    <a:pt x="2132" y="2"/>
                  </a:lnTo>
                  <a:lnTo>
                    <a:pt x="2245" y="0"/>
                  </a:lnTo>
                  <a:lnTo>
                    <a:pt x="2357" y="2"/>
                  </a:lnTo>
                  <a:lnTo>
                    <a:pt x="2467" y="7"/>
                  </a:lnTo>
                  <a:lnTo>
                    <a:pt x="2576" y="17"/>
                  </a:lnTo>
                  <a:lnTo>
                    <a:pt x="2684" y="31"/>
                  </a:lnTo>
                  <a:lnTo>
                    <a:pt x="2791" y="48"/>
                  </a:lnTo>
                  <a:lnTo>
                    <a:pt x="2894" y="68"/>
                  </a:lnTo>
                  <a:lnTo>
                    <a:pt x="2996" y="92"/>
                  </a:lnTo>
                  <a:lnTo>
                    <a:pt x="3096" y="120"/>
                  </a:lnTo>
                  <a:lnTo>
                    <a:pt x="3194" y="149"/>
                  </a:lnTo>
                  <a:lnTo>
                    <a:pt x="3289" y="183"/>
                  </a:lnTo>
                  <a:lnTo>
                    <a:pt x="3382" y="220"/>
                  </a:lnTo>
                  <a:lnTo>
                    <a:pt x="3471" y="259"/>
                  </a:lnTo>
                  <a:lnTo>
                    <a:pt x="3558" y="302"/>
                  </a:lnTo>
                  <a:lnTo>
                    <a:pt x="3642" y="347"/>
                  </a:lnTo>
                  <a:lnTo>
                    <a:pt x="3724" y="395"/>
                  </a:lnTo>
                  <a:lnTo>
                    <a:pt x="3802" y="446"/>
                  </a:lnTo>
                  <a:lnTo>
                    <a:pt x="3875" y="499"/>
                  </a:lnTo>
                  <a:lnTo>
                    <a:pt x="3946" y="555"/>
                  </a:lnTo>
                  <a:lnTo>
                    <a:pt x="4014" y="612"/>
                  </a:lnTo>
                  <a:lnTo>
                    <a:pt x="4077" y="673"/>
                  </a:lnTo>
                  <a:lnTo>
                    <a:pt x="4137" y="734"/>
                  </a:lnTo>
                  <a:lnTo>
                    <a:pt x="4192" y="799"/>
                  </a:lnTo>
                  <a:lnTo>
                    <a:pt x="4242" y="864"/>
                  </a:lnTo>
                  <a:lnTo>
                    <a:pt x="4289" y="933"/>
                  </a:lnTo>
                  <a:lnTo>
                    <a:pt x="4332" y="1002"/>
                  </a:lnTo>
                  <a:lnTo>
                    <a:pt x="4370" y="1074"/>
                  </a:lnTo>
                  <a:lnTo>
                    <a:pt x="4402" y="1147"/>
                  </a:lnTo>
                  <a:lnTo>
                    <a:pt x="4431" y="1221"/>
                  </a:lnTo>
                  <a:lnTo>
                    <a:pt x="4452" y="1298"/>
                  </a:lnTo>
                  <a:lnTo>
                    <a:pt x="4471" y="1375"/>
                  </a:lnTo>
                  <a:lnTo>
                    <a:pt x="4483" y="1453"/>
                  </a:lnTo>
                  <a:lnTo>
                    <a:pt x="4490" y="153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4864" y="2259"/>
              <a:ext cx="437" cy="798"/>
            </a:xfrm>
            <a:custGeom>
              <a:rect b="b" l="l" r="r" t="t"/>
              <a:pathLst>
                <a:path extrusionOk="0" h="3190" w="2184">
                  <a:moveTo>
                    <a:pt x="0" y="0"/>
                  </a:moveTo>
                  <a:lnTo>
                    <a:pt x="113" y="4"/>
                  </a:lnTo>
                  <a:lnTo>
                    <a:pt x="224" y="12"/>
                  </a:lnTo>
                  <a:lnTo>
                    <a:pt x="334" y="23"/>
                  </a:lnTo>
                  <a:lnTo>
                    <a:pt x="442" y="39"/>
                  </a:lnTo>
                  <a:lnTo>
                    <a:pt x="548" y="58"/>
                  </a:lnTo>
                  <a:lnTo>
                    <a:pt x="651" y="80"/>
                  </a:lnTo>
                  <a:lnTo>
                    <a:pt x="753" y="107"/>
                  </a:lnTo>
                  <a:lnTo>
                    <a:pt x="852" y="137"/>
                  </a:lnTo>
                  <a:lnTo>
                    <a:pt x="949" y="169"/>
                  </a:lnTo>
                  <a:lnTo>
                    <a:pt x="1043" y="205"/>
                  </a:lnTo>
                  <a:lnTo>
                    <a:pt x="1135" y="245"/>
                  </a:lnTo>
                  <a:lnTo>
                    <a:pt x="1223" y="286"/>
                  </a:lnTo>
                  <a:lnTo>
                    <a:pt x="1308" y="332"/>
                  </a:lnTo>
                  <a:lnTo>
                    <a:pt x="1391" y="379"/>
                  </a:lnTo>
                  <a:lnTo>
                    <a:pt x="1470" y="429"/>
                  </a:lnTo>
                  <a:lnTo>
                    <a:pt x="1546" y="482"/>
                  </a:lnTo>
                  <a:lnTo>
                    <a:pt x="1618" y="538"/>
                  </a:lnTo>
                  <a:lnTo>
                    <a:pt x="1687" y="595"/>
                  </a:lnTo>
                  <a:lnTo>
                    <a:pt x="1751" y="656"/>
                  </a:lnTo>
                  <a:lnTo>
                    <a:pt x="1812" y="717"/>
                  </a:lnTo>
                  <a:lnTo>
                    <a:pt x="1868" y="782"/>
                  </a:lnTo>
                  <a:lnTo>
                    <a:pt x="1921" y="847"/>
                  </a:lnTo>
                  <a:lnTo>
                    <a:pt x="1969" y="916"/>
                  </a:lnTo>
                  <a:lnTo>
                    <a:pt x="2013" y="986"/>
                  </a:lnTo>
                  <a:lnTo>
                    <a:pt x="2052" y="1057"/>
                  </a:lnTo>
                  <a:lnTo>
                    <a:pt x="2086" y="1130"/>
                  </a:lnTo>
                  <a:lnTo>
                    <a:pt x="2115" y="1204"/>
                  </a:lnTo>
                  <a:lnTo>
                    <a:pt x="2140" y="1281"/>
                  </a:lnTo>
                  <a:lnTo>
                    <a:pt x="2159" y="1357"/>
                  </a:lnTo>
                  <a:lnTo>
                    <a:pt x="2172" y="1435"/>
                  </a:lnTo>
                  <a:lnTo>
                    <a:pt x="2182" y="1515"/>
                  </a:lnTo>
                  <a:lnTo>
                    <a:pt x="2184" y="1595"/>
                  </a:lnTo>
                  <a:lnTo>
                    <a:pt x="2182" y="1675"/>
                  </a:lnTo>
                  <a:lnTo>
                    <a:pt x="2174" y="1753"/>
                  </a:lnTo>
                  <a:lnTo>
                    <a:pt x="2160" y="1831"/>
                  </a:lnTo>
                  <a:lnTo>
                    <a:pt x="2140" y="1908"/>
                  </a:lnTo>
                  <a:lnTo>
                    <a:pt x="2117" y="1983"/>
                  </a:lnTo>
                  <a:lnTo>
                    <a:pt x="2088" y="2056"/>
                  </a:lnTo>
                  <a:lnTo>
                    <a:pt x="2054" y="2129"/>
                  </a:lnTo>
                  <a:lnTo>
                    <a:pt x="2016" y="2200"/>
                  </a:lnTo>
                  <a:lnTo>
                    <a:pt x="1973" y="2269"/>
                  </a:lnTo>
                  <a:lnTo>
                    <a:pt x="1926" y="2337"/>
                  </a:lnTo>
                  <a:lnTo>
                    <a:pt x="1874" y="2403"/>
                  </a:lnTo>
                  <a:lnTo>
                    <a:pt x="1818" y="2466"/>
                  </a:lnTo>
                  <a:lnTo>
                    <a:pt x="1758" y="2529"/>
                  </a:lnTo>
                  <a:lnTo>
                    <a:pt x="1695" y="2588"/>
                  </a:lnTo>
                  <a:lnTo>
                    <a:pt x="1627" y="2645"/>
                  </a:lnTo>
                  <a:lnTo>
                    <a:pt x="1556" y="2701"/>
                  </a:lnTo>
                  <a:lnTo>
                    <a:pt x="1482" y="2753"/>
                  </a:lnTo>
                  <a:lnTo>
                    <a:pt x="1404" y="2804"/>
                  </a:lnTo>
                  <a:lnTo>
                    <a:pt x="1322" y="2852"/>
                  </a:lnTo>
                  <a:lnTo>
                    <a:pt x="1237" y="2896"/>
                  </a:lnTo>
                  <a:lnTo>
                    <a:pt x="1150" y="2939"/>
                  </a:lnTo>
                  <a:lnTo>
                    <a:pt x="1059" y="2978"/>
                  </a:lnTo>
                  <a:lnTo>
                    <a:pt x="966" y="3015"/>
                  </a:lnTo>
                  <a:lnTo>
                    <a:pt x="871" y="3048"/>
                  </a:lnTo>
                  <a:lnTo>
                    <a:pt x="773" y="3077"/>
                  </a:lnTo>
                  <a:lnTo>
                    <a:pt x="672" y="3104"/>
                  </a:lnTo>
                  <a:lnTo>
                    <a:pt x="569" y="3127"/>
                  </a:lnTo>
                  <a:lnTo>
                    <a:pt x="464" y="3147"/>
                  </a:lnTo>
                  <a:lnTo>
                    <a:pt x="357" y="3164"/>
                  </a:lnTo>
                  <a:lnTo>
                    <a:pt x="249" y="3176"/>
                  </a:lnTo>
                  <a:lnTo>
                    <a:pt x="139" y="3186"/>
                  </a:lnTo>
                  <a:lnTo>
                    <a:pt x="27" y="319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257" y="2762"/>
              <a:ext cx="402" cy="8"/>
            </a:xfrm>
            <a:custGeom>
              <a:rect b="b" l="l" r="r" t="t"/>
              <a:pathLst>
                <a:path extrusionOk="0" h="29" w="2007">
                  <a:moveTo>
                    <a:pt x="2007" y="15"/>
                  </a:moveTo>
                  <a:lnTo>
                    <a:pt x="1991" y="0"/>
                  </a:lnTo>
                  <a:lnTo>
                    <a:pt x="0" y="0"/>
                  </a:lnTo>
                  <a:lnTo>
                    <a:pt x="0" y="29"/>
                  </a:lnTo>
                  <a:lnTo>
                    <a:pt x="1991" y="29"/>
                  </a:lnTo>
                  <a:lnTo>
                    <a:pt x="1975" y="15"/>
                  </a:lnTo>
                  <a:lnTo>
                    <a:pt x="2007" y="15"/>
                  </a:lnTo>
                  <a:lnTo>
                    <a:pt x="2007" y="0"/>
                  </a:lnTo>
                  <a:lnTo>
                    <a:pt x="1991" y="0"/>
                  </a:lnTo>
                  <a:lnTo>
                    <a:pt x="200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652" y="2766"/>
              <a:ext cx="7" cy="43"/>
            </a:xfrm>
            <a:custGeom>
              <a:rect b="b" l="l" r="r" t="t"/>
              <a:pathLst>
                <a:path extrusionOk="0" h="171" w="32">
                  <a:moveTo>
                    <a:pt x="16" y="171"/>
                  </a:moveTo>
                  <a:lnTo>
                    <a:pt x="32" y="171"/>
                  </a:lnTo>
                  <a:lnTo>
                    <a:pt x="32" y="0"/>
                  </a:lnTo>
                  <a:lnTo>
                    <a:pt x="0" y="0"/>
                  </a:lnTo>
                  <a:lnTo>
                    <a:pt x="0" y="171"/>
                  </a:lnTo>
                  <a:lnTo>
                    <a:pt x="16" y="1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4622" y="2805"/>
              <a:ext cx="68" cy="78"/>
            </a:xfrm>
            <a:custGeom>
              <a:rect b="b" l="l" r="r" t="t"/>
              <a:pathLst>
                <a:path extrusionOk="0" h="314" w="340">
                  <a:moveTo>
                    <a:pt x="170" y="314"/>
                  </a:moveTo>
                  <a:lnTo>
                    <a:pt x="340" y="0"/>
                  </a:lnTo>
                  <a:lnTo>
                    <a:pt x="0" y="0"/>
                  </a:lnTo>
                  <a:lnTo>
                    <a:pt x="170" y="3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770" y="2427"/>
              <a:ext cx="1093" cy="7"/>
            </a:xfrm>
            <a:custGeom>
              <a:rect b="b" l="l" r="r" t="t"/>
              <a:pathLst>
                <a:path extrusionOk="0" h="30" w="5463">
                  <a:moveTo>
                    <a:pt x="5463" y="15"/>
                  </a:moveTo>
                  <a:lnTo>
                    <a:pt x="5463" y="0"/>
                  </a:lnTo>
                  <a:lnTo>
                    <a:pt x="0" y="0"/>
                  </a:lnTo>
                  <a:lnTo>
                    <a:pt x="0" y="30"/>
                  </a:lnTo>
                  <a:lnTo>
                    <a:pt x="5463" y="30"/>
                  </a:lnTo>
                  <a:lnTo>
                    <a:pt x="546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859" y="2391"/>
              <a:ext cx="68" cy="79"/>
            </a:xfrm>
            <a:custGeom>
              <a:rect b="b" l="l" r="r" t="t"/>
              <a:pathLst>
                <a:path extrusionOk="0" h="314" w="341">
                  <a:moveTo>
                    <a:pt x="341" y="157"/>
                  </a:moveTo>
                  <a:lnTo>
                    <a:pt x="0" y="0"/>
                  </a:lnTo>
                  <a:lnTo>
                    <a:pt x="0" y="314"/>
                  </a:lnTo>
                  <a:lnTo>
                    <a:pt x="341" y="1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772" y="2543"/>
              <a:ext cx="1189" cy="215"/>
            </a:xfrm>
            <a:custGeom>
              <a:rect b="b" l="l" r="r" t="t"/>
              <a:pathLst>
                <a:path extrusionOk="0" h="864" w="5948">
                  <a:moveTo>
                    <a:pt x="5946" y="849"/>
                  </a:moveTo>
                  <a:lnTo>
                    <a:pt x="5948" y="834"/>
                  </a:lnTo>
                  <a:lnTo>
                    <a:pt x="6" y="0"/>
                  </a:lnTo>
                  <a:lnTo>
                    <a:pt x="0" y="29"/>
                  </a:lnTo>
                  <a:lnTo>
                    <a:pt x="5943" y="864"/>
                  </a:lnTo>
                  <a:lnTo>
                    <a:pt x="5946" y="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952" y="2715"/>
              <a:ext cx="73" cy="78"/>
            </a:xfrm>
            <a:custGeom>
              <a:rect b="b" l="l" r="r" t="t"/>
              <a:pathLst>
                <a:path extrusionOk="0" h="311" w="362">
                  <a:moveTo>
                    <a:pt x="362" y="203"/>
                  </a:moveTo>
                  <a:lnTo>
                    <a:pt x="51" y="0"/>
                  </a:lnTo>
                  <a:lnTo>
                    <a:pt x="0" y="311"/>
                  </a:lnTo>
                  <a:lnTo>
                    <a:pt x="362" y="2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646" y="2971"/>
              <a:ext cx="43" cy="73"/>
            </a:xfrm>
            <a:custGeom>
              <a:rect b="b" l="l" r="r" t="t"/>
              <a:pathLst>
                <a:path extrusionOk="0" h="293" w="214">
                  <a:moveTo>
                    <a:pt x="0" y="195"/>
                  </a:moveTo>
                  <a:lnTo>
                    <a:pt x="0" y="206"/>
                  </a:lnTo>
                  <a:lnTo>
                    <a:pt x="1" y="217"/>
                  </a:lnTo>
                  <a:lnTo>
                    <a:pt x="4" y="226"/>
                  </a:lnTo>
                  <a:lnTo>
                    <a:pt x="7" y="236"/>
                  </a:lnTo>
                  <a:lnTo>
                    <a:pt x="10" y="244"/>
                  </a:lnTo>
                  <a:lnTo>
                    <a:pt x="15" y="253"/>
                  </a:lnTo>
                  <a:lnTo>
                    <a:pt x="21" y="259"/>
                  </a:lnTo>
                  <a:lnTo>
                    <a:pt x="28" y="266"/>
                  </a:lnTo>
                  <a:lnTo>
                    <a:pt x="35" y="272"/>
                  </a:lnTo>
                  <a:lnTo>
                    <a:pt x="43" y="277"/>
                  </a:lnTo>
                  <a:lnTo>
                    <a:pt x="51" y="282"/>
                  </a:lnTo>
                  <a:lnTo>
                    <a:pt x="60" y="285"/>
                  </a:lnTo>
                  <a:lnTo>
                    <a:pt x="70" y="289"/>
                  </a:lnTo>
                  <a:lnTo>
                    <a:pt x="80" y="291"/>
                  </a:lnTo>
                  <a:lnTo>
                    <a:pt x="92" y="292"/>
                  </a:lnTo>
                  <a:lnTo>
                    <a:pt x="103" y="293"/>
                  </a:lnTo>
                  <a:lnTo>
                    <a:pt x="116" y="292"/>
                  </a:lnTo>
                  <a:lnTo>
                    <a:pt x="127" y="291"/>
                  </a:lnTo>
                  <a:lnTo>
                    <a:pt x="139" y="289"/>
                  </a:lnTo>
                  <a:lnTo>
                    <a:pt x="149" y="286"/>
                  </a:lnTo>
                  <a:lnTo>
                    <a:pt x="160" y="282"/>
                  </a:lnTo>
                  <a:lnTo>
                    <a:pt x="168" y="278"/>
                  </a:lnTo>
                  <a:lnTo>
                    <a:pt x="177" y="273"/>
                  </a:lnTo>
                  <a:lnTo>
                    <a:pt x="184" y="267"/>
                  </a:lnTo>
                  <a:lnTo>
                    <a:pt x="191" y="261"/>
                  </a:lnTo>
                  <a:lnTo>
                    <a:pt x="196" y="255"/>
                  </a:lnTo>
                  <a:lnTo>
                    <a:pt x="202" y="247"/>
                  </a:lnTo>
                  <a:lnTo>
                    <a:pt x="206" y="239"/>
                  </a:lnTo>
                  <a:lnTo>
                    <a:pt x="209" y="230"/>
                  </a:lnTo>
                  <a:lnTo>
                    <a:pt x="211" y="222"/>
                  </a:lnTo>
                  <a:lnTo>
                    <a:pt x="214" y="212"/>
                  </a:lnTo>
                  <a:lnTo>
                    <a:pt x="214" y="203"/>
                  </a:lnTo>
                  <a:lnTo>
                    <a:pt x="212" y="190"/>
                  </a:lnTo>
                  <a:lnTo>
                    <a:pt x="210" y="178"/>
                  </a:lnTo>
                  <a:lnTo>
                    <a:pt x="207" y="168"/>
                  </a:lnTo>
                  <a:lnTo>
                    <a:pt x="201" y="158"/>
                  </a:lnTo>
                  <a:lnTo>
                    <a:pt x="194" y="151"/>
                  </a:lnTo>
                  <a:lnTo>
                    <a:pt x="185" y="143"/>
                  </a:lnTo>
                  <a:lnTo>
                    <a:pt x="175" y="138"/>
                  </a:lnTo>
                  <a:lnTo>
                    <a:pt x="163" y="133"/>
                  </a:lnTo>
                  <a:lnTo>
                    <a:pt x="172" y="129"/>
                  </a:lnTo>
                  <a:lnTo>
                    <a:pt x="180" y="123"/>
                  </a:lnTo>
                  <a:lnTo>
                    <a:pt x="187" y="118"/>
                  </a:lnTo>
                  <a:lnTo>
                    <a:pt x="193" y="111"/>
                  </a:lnTo>
                  <a:lnTo>
                    <a:pt x="196" y="103"/>
                  </a:lnTo>
                  <a:lnTo>
                    <a:pt x="200" y="95"/>
                  </a:lnTo>
                  <a:lnTo>
                    <a:pt x="202" y="86"/>
                  </a:lnTo>
                  <a:lnTo>
                    <a:pt x="202" y="76"/>
                  </a:lnTo>
                  <a:lnTo>
                    <a:pt x="202" y="67"/>
                  </a:lnTo>
                  <a:lnTo>
                    <a:pt x="201" y="60"/>
                  </a:lnTo>
                  <a:lnTo>
                    <a:pt x="199" y="51"/>
                  </a:lnTo>
                  <a:lnTo>
                    <a:pt x="195" y="44"/>
                  </a:lnTo>
                  <a:lnTo>
                    <a:pt x="192" y="38"/>
                  </a:lnTo>
                  <a:lnTo>
                    <a:pt x="188" y="31"/>
                  </a:lnTo>
                  <a:lnTo>
                    <a:pt x="183" y="26"/>
                  </a:lnTo>
                  <a:lnTo>
                    <a:pt x="177" y="21"/>
                  </a:lnTo>
                  <a:lnTo>
                    <a:pt x="170" y="15"/>
                  </a:lnTo>
                  <a:lnTo>
                    <a:pt x="163" y="12"/>
                  </a:lnTo>
                  <a:lnTo>
                    <a:pt x="155" y="8"/>
                  </a:lnTo>
                  <a:lnTo>
                    <a:pt x="146" y="6"/>
                  </a:lnTo>
                  <a:lnTo>
                    <a:pt x="137" y="3"/>
                  </a:lnTo>
                  <a:lnTo>
                    <a:pt x="126" y="1"/>
                  </a:lnTo>
                  <a:lnTo>
                    <a:pt x="115" y="0"/>
                  </a:lnTo>
                  <a:lnTo>
                    <a:pt x="103" y="0"/>
                  </a:lnTo>
                  <a:lnTo>
                    <a:pt x="93" y="0"/>
                  </a:lnTo>
                  <a:lnTo>
                    <a:pt x="83" y="1"/>
                  </a:lnTo>
                  <a:lnTo>
                    <a:pt x="72" y="4"/>
                  </a:lnTo>
                  <a:lnTo>
                    <a:pt x="63" y="7"/>
                  </a:lnTo>
                  <a:lnTo>
                    <a:pt x="54" y="10"/>
                  </a:lnTo>
                  <a:lnTo>
                    <a:pt x="47" y="14"/>
                  </a:lnTo>
                  <a:lnTo>
                    <a:pt x="39" y="19"/>
                  </a:lnTo>
                  <a:lnTo>
                    <a:pt x="32" y="25"/>
                  </a:lnTo>
                  <a:lnTo>
                    <a:pt x="27" y="31"/>
                  </a:lnTo>
                  <a:lnTo>
                    <a:pt x="21" y="39"/>
                  </a:lnTo>
                  <a:lnTo>
                    <a:pt x="17" y="46"/>
                  </a:lnTo>
                  <a:lnTo>
                    <a:pt x="13" y="54"/>
                  </a:lnTo>
                  <a:lnTo>
                    <a:pt x="10" y="64"/>
                  </a:lnTo>
                  <a:lnTo>
                    <a:pt x="8" y="72"/>
                  </a:lnTo>
                  <a:lnTo>
                    <a:pt x="7" y="83"/>
                  </a:lnTo>
                  <a:lnTo>
                    <a:pt x="7" y="94"/>
                  </a:lnTo>
                  <a:lnTo>
                    <a:pt x="46" y="94"/>
                  </a:lnTo>
                  <a:lnTo>
                    <a:pt x="47" y="80"/>
                  </a:lnTo>
                  <a:lnTo>
                    <a:pt x="49" y="67"/>
                  </a:lnTo>
                  <a:lnTo>
                    <a:pt x="52" y="62"/>
                  </a:lnTo>
                  <a:lnTo>
                    <a:pt x="55" y="57"/>
                  </a:lnTo>
                  <a:lnTo>
                    <a:pt x="57" y="52"/>
                  </a:lnTo>
                  <a:lnTo>
                    <a:pt x="61" y="48"/>
                  </a:lnTo>
                  <a:lnTo>
                    <a:pt x="66" y="45"/>
                  </a:lnTo>
                  <a:lnTo>
                    <a:pt x="70" y="42"/>
                  </a:lnTo>
                  <a:lnTo>
                    <a:pt x="75" y="40"/>
                  </a:lnTo>
                  <a:lnTo>
                    <a:pt x="80" y="38"/>
                  </a:lnTo>
                  <a:lnTo>
                    <a:pt x="92" y="34"/>
                  </a:lnTo>
                  <a:lnTo>
                    <a:pt x="106" y="33"/>
                  </a:lnTo>
                  <a:lnTo>
                    <a:pt x="118" y="34"/>
                  </a:lnTo>
                  <a:lnTo>
                    <a:pt x="129" y="36"/>
                  </a:lnTo>
                  <a:lnTo>
                    <a:pt x="138" y="40"/>
                  </a:lnTo>
                  <a:lnTo>
                    <a:pt x="146" y="45"/>
                  </a:lnTo>
                  <a:lnTo>
                    <a:pt x="152" y="51"/>
                  </a:lnTo>
                  <a:lnTo>
                    <a:pt x="156" y="59"/>
                  </a:lnTo>
                  <a:lnTo>
                    <a:pt x="158" y="67"/>
                  </a:lnTo>
                  <a:lnTo>
                    <a:pt x="160" y="78"/>
                  </a:lnTo>
                  <a:lnTo>
                    <a:pt x="158" y="88"/>
                  </a:lnTo>
                  <a:lnTo>
                    <a:pt x="156" y="97"/>
                  </a:lnTo>
                  <a:lnTo>
                    <a:pt x="152" y="105"/>
                  </a:lnTo>
                  <a:lnTo>
                    <a:pt x="145" y="111"/>
                  </a:lnTo>
                  <a:lnTo>
                    <a:pt x="137" y="116"/>
                  </a:lnTo>
                  <a:lnTo>
                    <a:pt x="126" y="119"/>
                  </a:lnTo>
                  <a:lnTo>
                    <a:pt x="115" y="121"/>
                  </a:lnTo>
                  <a:lnTo>
                    <a:pt x="101" y="121"/>
                  </a:lnTo>
                  <a:lnTo>
                    <a:pt x="100" y="121"/>
                  </a:lnTo>
                  <a:lnTo>
                    <a:pt x="99" y="121"/>
                  </a:lnTo>
                  <a:lnTo>
                    <a:pt x="98" y="121"/>
                  </a:lnTo>
                  <a:lnTo>
                    <a:pt x="95" y="121"/>
                  </a:lnTo>
                  <a:lnTo>
                    <a:pt x="93" y="121"/>
                  </a:lnTo>
                  <a:lnTo>
                    <a:pt x="91" y="121"/>
                  </a:lnTo>
                  <a:lnTo>
                    <a:pt x="87" y="121"/>
                  </a:lnTo>
                  <a:lnTo>
                    <a:pt x="84" y="121"/>
                  </a:lnTo>
                  <a:lnTo>
                    <a:pt x="84" y="153"/>
                  </a:lnTo>
                  <a:lnTo>
                    <a:pt x="86" y="153"/>
                  </a:lnTo>
                  <a:lnTo>
                    <a:pt x="90" y="153"/>
                  </a:lnTo>
                  <a:lnTo>
                    <a:pt x="92" y="153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0" y="153"/>
                  </a:lnTo>
                  <a:lnTo>
                    <a:pt x="102" y="153"/>
                  </a:lnTo>
                  <a:lnTo>
                    <a:pt x="106" y="153"/>
                  </a:lnTo>
                  <a:lnTo>
                    <a:pt x="121" y="153"/>
                  </a:lnTo>
                  <a:lnTo>
                    <a:pt x="133" y="156"/>
                  </a:lnTo>
                  <a:lnTo>
                    <a:pt x="145" y="160"/>
                  </a:lnTo>
                  <a:lnTo>
                    <a:pt x="154" y="166"/>
                  </a:lnTo>
                  <a:lnTo>
                    <a:pt x="162" y="173"/>
                  </a:lnTo>
                  <a:lnTo>
                    <a:pt x="167" y="182"/>
                  </a:lnTo>
                  <a:lnTo>
                    <a:pt x="170" y="191"/>
                  </a:lnTo>
                  <a:lnTo>
                    <a:pt x="171" y="203"/>
                  </a:lnTo>
                  <a:lnTo>
                    <a:pt x="170" y="214"/>
                  </a:lnTo>
                  <a:lnTo>
                    <a:pt x="167" y="226"/>
                  </a:lnTo>
                  <a:lnTo>
                    <a:pt x="164" y="231"/>
                  </a:lnTo>
                  <a:lnTo>
                    <a:pt x="161" y="236"/>
                  </a:lnTo>
                  <a:lnTo>
                    <a:pt x="157" y="240"/>
                  </a:lnTo>
                  <a:lnTo>
                    <a:pt x="154" y="243"/>
                  </a:lnTo>
                  <a:lnTo>
                    <a:pt x="145" y="249"/>
                  </a:lnTo>
                  <a:lnTo>
                    <a:pt x="133" y="255"/>
                  </a:lnTo>
                  <a:lnTo>
                    <a:pt x="121" y="258"/>
                  </a:lnTo>
                  <a:lnTo>
                    <a:pt x="106" y="258"/>
                  </a:lnTo>
                  <a:lnTo>
                    <a:pt x="99" y="258"/>
                  </a:lnTo>
                  <a:lnTo>
                    <a:pt x="92" y="257"/>
                  </a:lnTo>
                  <a:lnTo>
                    <a:pt x="85" y="256"/>
                  </a:lnTo>
                  <a:lnTo>
                    <a:pt x="78" y="255"/>
                  </a:lnTo>
                  <a:lnTo>
                    <a:pt x="72" y="252"/>
                  </a:lnTo>
                  <a:lnTo>
                    <a:pt x="68" y="249"/>
                  </a:lnTo>
                  <a:lnTo>
                    <a:pt x="62" y="246"/>
                  </a:lnTo>
                  <a:lnTo>
                    <a:pt x="59" y="242"/>
                  </a:lnTo>
                  <a:lnTo>
                    <a:pt x="54" y="238"/>
                  </a:lnTo>
                  <a:lnTo>
                    <a:pt x="51" y="233"/>
                  </a:lnTo>
                  <a:lnTo>
                    <a:pt x="48" y="228"/>
                  </a:lnTo>
                  <a:lnTo>
                    <a:pt x="45" y="222"/>
                  </a:lnTo>
                  <a:lnTo>
                    <a:pt x="41" y="210"/>
                  </a:lnTo>
                  <a:lnTo>
                    <a:pt x="40" y="195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117" y="2391"/>
              <a:ext cx="43" cy="71"/>
            </a:xfrm>
            <a:custGeom>
              <a:rect b="b" l="l" r="r" t="t"/>
              <a:pathLst>
                <a:path extrusionOk="0" h="285" w="214">
                  <a:moveTo>
                    <a:pt x="0" y="204"/>
                  </a:moveTo>
                  <a:lnTo>
                    <a:pt x="2" y="212"/>
                  </a:lnTo>
                  <a:lnTo>
                    <a:pt x="4" y="221"/>
                  </a:lnTo>
                  <a:lnTo>
                    <a:pt x="6" y="229"/>
                  </a:lnTo>
                  <a:lnTo>
                    <a:pt x="10" y="237"/>
                  </a:lnTo>
                  <a:lnTo>
                    <a:pt x="14" y="244"/>
                  </a:lnTo>
                  <a:lnTo>
                    <a:pt x="20" y="250"/>
                  </a:lnTo>
                  <a:lnTo>
                    <a:pt x="26" y="257"/>
                  </a:lnTo>
                  <a:lnTo>
                    <a:pt x="31" y="262"/>
                  </a:lnTo>
                  <a:lnTo>
                    <a:pt x="38" y="267"/>
                  </a:lnTo>
                  <a:lnTo>
                    <a:pt x="46" y="273"/>
                  </a:lnTo>
                  <a:lnTo>
                    <a:pt x="54" y="276"/>
                  </a:lnTo>
                  <a:lnTo>
                    <a:pt x="64" y="279"/>
                  </a:lnTo>
                  <a:lnTo>
                    <a:pt x="73" y="282"/>
                  </a:lnTo>
                  <a:lnTo>
                    <a:pt x="83" y="283"/>
                  </a:lnTo>
                  <a:lnTo>
                    <a:pt x="93" y="285"/>
                  </a:lnTo>
                  <a:lnTo>
                    <a:pt x="104" y="285"/>
                  </a:lnTo>
                  <a:lnTo>
                    <a:pt x="115" y="284"/>
                  </a:lnTo>
                  <a:lnTo>
                    <a:pt x="127" y="283"/>
                  </a:lnTo>
                  <a:lnTo>
                    <a:pt x="138" y="281"/>
                  </a:lnTo>
                  <a:lnTo>
                    <a:pt x="148" y="278"/>
                  </a:lnTo>
                  <a:lnTo>
                    <a:pt x="158" y="274"/>
                  </a:lnTo>
                  <a:lnTo>
                    <a:pt x="167" y="269"/>
                  </a:lnTo>
                  <a:lnTo>
                    <a:pt x="176" y="264"/>
                  </a:lnTo>
                  <a:lnTo>
                    <a:pt x="183" y="258"/>
                  </a:lnTo>
                  <a:lnTo>
                    <a:pt x="190" y="250"/>
                  </a:lnTo>
                  <a:lnTo>
                    <a:pt x="196" y="243"/>
                  </a:lnTo>
                  <a:lnTo>
                    <a:pt x="201" y="234"/>
                  </a:lnTo>
                  <a:lnTo>
                    <a:pt x="206" y="226"/>
                  </a:lnTo>
                  <a:lnTo>
                    <a:pt x="209" y="216"/>
                  </a:lnTo>
                  <a:lnTo>
                    <a:pt x="212" y="207"/>
                  </a:lnTo>
                  <a:lnTo>
                    <a:pt x="213" y="196"/>
                  </a:lnTo>
                  <a:lnTo>
                    <a:pt x="214" y="186"/>
                  </a:lnTo>
                  <a:lnTo>
                    <a:pt x="213" y="175"/>
                  </a:lnTo>
                  <a:lnTo>
                    <a:pt x="212" y="166"/>
                  </a:lnTo>
                  <a:lnTo>
                    <a:pt x="209" y="156"/>
                  </a:lnTo>
                  <a:lnTo>
                    <a:pt x="206" y="148"/>
                  </a:lnTo>
                  <a:lnTo>
                    <a:pt x="202" y="139"/>
                  </a:lnTo>
                  <a:lnTo>
                    <a:pt x="197" y="132"/>
                  </a:lnTo>
                  <a:lnTo>
                    <a:pt x="191" y="124"/>
                  </a:lnTo>
                  <a:lnTo>
                    <a:pt x="185" y="118"/>
                  </a:lnTo>
                  <a:lnTo>
                    <a:pt x="177" y="112"/>
                  </a:lnTo>
                  <a:lnTo>
                    <a:pt x="170" y="106"/>
                  </a:lnTo>
                  <a:lnTo>
                    <a:pt x="161" y="102"/>
                  </a:lnTo>
                  <a:lnTo>
                    <a:pt x="152" y="99"/>
                  </a:lnTo>
                  <a:lnTo>
                    <a:pt x="142" y="96"/>
                  </a:lnTo>
                  <a:lnTo>
                    <a:pt x="131" y="94"/>
                  </a:lnTo>
                  <a:lnTo>
                    <a:pt x="121" y="92"/>
                  </a:lnTo>
                  <a:lnTo>
                    <a:pt x="109" y="91"/>
                  </a:lnTo>
                  <a:lnTo>
                    <a:pt x="100" y="92"/>
                  </a:lnTo>
                  <a:lnTo>
                    <a:pt x="92" y="94"/>
                  </a:lnTo>
                  <a:lnTo>
                    <a:pt x="84" y="95"/>
                  </a:lnTo>
                  <a:lnTo>
                    <a:pt x="76" y="97"/>
                  </a:lnTo>
                  <a:lnTo>
                    <a:pt x="69" y="99"/>
                  </a:lnTo>
                  <a:lnTo>
                    <a:pt x="62" y="102"/>
                  </a:lnTo>
                  <a:lnTo>
                    <a:pt x="57" y="106"/>
                  </a:lnTo>
                  <a:lnTo>
                    <a:pt x="51" y="111"/>
                  </a:lnTo>
                  <a:lnTo>
                    <a:pt x="62" y="34"/>
                  </a:lnTo>
                  <a:lnTo>
                    <a:pt x="197" y="34"/>
                  </a:lnTo>
                  <a:lnTo>
                    <a:pt x="197" y="0"/>
                  </a:lnTo>
                  <a:lnTo>
                    <a:pt x="34" y="0"/>
                  </a:lnTo>
                  <a:lnTo>
                    <a:pt x="8" y="151"/>
                  </a:lnTo>
                  <a:lnTo>
                    <a:pt x="44" y="151"/>
                  </a:lnTo>
                  <a:lnTo>
                    <a:pt x="50" y="144"/>
                  </a:lnTo>
                  <a:lnTo>
                    <a:pt x="57" y="139"/>
                  </a:lnTo>
                  <a:lnTo>
                    <a:pt x="62" y="135"/>
                  </a:lnTo>
                  <a:lnTo>
                    <a:pt x="69" y="131"/>
                  </a:lnTo>
                  <a:lnTo>
                    <a:pt x="77" y="129"/>
                  </a:lnTo>
                  <a:lnTo>
                    <a:pt x="85" y="126"/>
                  </a:lnTo>
                  <a:lnTo>
                    <a:pt x="93" y="125"/>
                  </a:lnTo>
                  <a:lnTo>
                    <a:pt x="103" y="124"/>
                  </a:lnTo>
                  <a:lnTo>
                    <a:pt x="111" y="124"/>
                  </a:lnTo>
                  <a:lnTo>
                    <a:pt x="117" y="125"/>
                  </a:lnTo>
                  <a:lnTo>
                    <a:pt x="124" y="127"/>
                  </a:lnTo>
                  <a:lnTo>
                    <a:pt x="131" y="129"/>
                  </a:lnTo>
                  <a:lnTo>
                    <a:pt x="137" y="132"/>
                  </a:lnTo>
                  <a:lnTo>
                    <a:pt x="143" y="134"/>
                  </a:lnTo>
                  <a:lnTo>
                    <a:pt x="147" y="138"/>
                  </a:lnTo>
                  <a:lnTo>
                    <a:pt x="152" y="141"/>
                  </a:lnTo>
                  <a:lnTo>
                    <a:pt x="156" y="145"/>
                  </a:lnTo>
                  <a:lnTo>
                    <a:pt x="160" y="151"/>
                  </a:lnTo>
                  <a:lnTo>
                    <a:pt x="163" y="156"/>
                  </a:lnTo>
                  <a:lnTo>
                    <a:pt x="166" y="161"/>
                  </a:lnTo>
                  <a:lnTo>
                    <a:pt x="168" y="168"/>
                  </a:lnTo>
                  <a:lnTo>
                    <a:pt x="169" y="174"/>
                  </a:lnTo>
                  <a:lnTo>
                    <a:pt x="170" y="180"/>
                  </a:lnTo>
                  <a:lnTo>
                    <a:pt x="170" y="188"/>
                  </a:lnTo>
                  <a:lnTo>
                    <a:pt x="170" y="194"/>
                  </a:lnTo>
                  <a:lnTo>
                    <a:pt x="169" y="201"/>
                  </a:lnTo>
                  <a:lnTo>
                    <a:pt x="168" y="207"/>
                  </a:lnTo>
                  <a:lnTo>
                    <a:pt x="166" y="213"/>
                  </a:lnTo>
                  <a:lnTo>
                    <a:pt x="163" y="219"/>
                  </a:lnTo>
                  <a:lnTo>
                    <a:pt x="160" y="224"/>
                  </a:lnTo>
                  <a:lnTo>
                    <a:pt x="156" y="228"/>
                  </a:lnTo>
                  <a:lnTo>
                    <a:pt x="152" y="232"/>
                  </a:lnTo>
                  <a:lnTo>
                    <a:pt x="147" y="237"/>
                  </a:lnTo>
                  <a:lnTo>
                    <a:pt x="143" y="240"/>
                  </a:lnTo>
                  <a:lnTo>
                    <a:pt x="137" y="243"/>
                  </a:lnTo>
                  <a:lnTo>
                    <a:pt x="130" y="245"/>
                  </a:lnTo>
                  <a:lnTo>
                    <a:pt x="124" y="247"/>
                  </a:lnTo>
                  <a:lnTo>
                    <a:pt x="117" y="249"/>
                  </a:lnTo>
                  <a:lnTo>
                    <a:pt x="109" y="250"/>
                  </a:lnTo>
                  <a:lnTo>
                    <a:pt x="103" y="250"/>
                  </a:lnTo>
                  <a:lnTo>
                    <a:pt x="90" y="249"/>
                  </a:lnTo>
                  <a:lnTo>
                    <a:pt x="80" y="247"/>
                  </a:lnTo>
                  <a:lnTo>
                    <a:pt x="69" y="243"/>
                  </a:lnTo>
                  <a:lnTo>
                    <a:pt x="61" y="238"/>
                  </a:lnTo>
                  <a:lnTo>
                    <a:pt x="54" y="231"/>
                  </a:lnTo>
                  <a:lnTo>
                    <a:pt x="47" y="223"/>
                  </a:lnTo>
                  <a:lnTo>
                    <a:pt x="44" y="213"/>
                  </a:lnTo>
                  <a:lnTo>
                    <a:pt x="41" y="204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306" y="3558"/>
              <a:ext cx="68" cy="76"/>
            </a:xfrm>
            <a:custGeom>
              <a:rect b="b" l="l" r="r" t="t"/>
              <a:pathLst>
                <a:path extrusionOk="0" h="303" w="338">
                  <a:moveTo>
                    <a:pt x="92" y="141"/>
                  </a:moveTo>
                  <a:lnTo>
                    <a:pt x="245" y="141"/>
                  </a:lnTo>
                  <a:lnTo>
                    <a:pt x="245" y="54"/>
                  </a:lnTo>
                  <a:lnTo>
                    <a:pt x="245" y="49"/>
                  </a:lnTo>
                  <a:lnTo>
                    <a:pt x="245" y="44"/>
                  </a:lnTo>
                  <a:lnTo>
                    <a:pt x="244" y="39"/>
                  </a:lnTo>
                  <a:lnTo>
                    <a:pt x="244" y="35"/>
                  </a:lnTo>
                  <a:lnTo>
                    <a:pt x="244" y="31"/>
                  </a:lnTo>
                  <a:lnTo>
                    <a:pt x="243" y="29"/>
                  </a:lnTo>
                  <a:lnTo>
                    <a:pt x="243" y="26"/>
                  </a:lnTo>
                  <a:lnTo>
                    <a:pt x="242" y="24"/>
                  </a:lnTo>
                  <a:lnTo>
                    <a:pt x="242" y="23"/>
                  </a:lnTo>
                  <a:lnTo>
                    <a:pt x="240" y="21"/>
                  </a:lnTo>
                  <a:lnTo>
                    <a:pt x="239" y="19"/>
                  </a:lnTo>
                  <a:lnTo>
                    <a:pt x="238" y="18"/>
                  </a:lnTo>
                  <a:lnTo>
                    <a:pt x="237" y="17"/>
                  </a:lnTo>
                  <a:lnTo>
                    <a:pt x="235" y="16"/>
                  </a:lnTo>
                  <a:lnTo>
                    <a:pt x="234" y="15"/>
                  </a:lnTo>
                  <a:lnTo>
                    <a:pt x="231" y="14"/>
                  </a:lnTo>
                  <a:lnTo>
                    <a:pt x="229" y="13"/>
                  </a:lnTo>
                  <a:lnTo>
                    <a:pt x="227" y="12"/>
                  </a:lnTo>
                  <a:lnTo>
                    <a:pt x="223" y="11"/>
                  </a:lnTo>
                  <a:lnTo>
                    <a:pt x="221" y="10"/>
                  </a:lnTo>
                  <a:lnTo>
                    <a:pt x="219" y="10"/>
                  </a:lnTo>
                  <a:lnTo>
                    <a:pt x="215" y="9"/>
                  </a:lnTo>
                  <a:lnTo>
                    <a:pt x="213" y="9"/>
                  </a:lnTo>
                  <a:lnTo>
                    <a:pt x="210" y="9"/>
                  </a:lnTo>
                  <a:lnTo>
                    <a:pt x="198" y="9"/>
                  </a:lnTo>
                  <a:lnTo>
                    <a:pt x="198" y="0"/>
                  </a:lnTo>
                  <a:lnTo>
                    <a:pt x="338" y="0"/>
                  </a:lnTo>
                  <a:lnTo>
                    <a:pt x="338" y="9"/>
                  </a:lnTo>
                  <a:lnTo>
                    <a:pt x="327" y="9"/>
                  </a:lnTo>
                  <a:lnTo>
                    <a:pt x="324" y="9"/>
                  </a:lnTo>
                  <a:lnTo>
                    <a:pt x="321" y="9"/>
                  </a:lnTo>
                  <a:lnTo>
                    <a:pt x="319" y="10"/>
                  </a:lnTo>
                  <a:lnTo>
                    <a:pt x="315" y="10"/>
                  </a:lnTo>
                  <a:lnTo>
                    <a:pt x="313" y="11"/>
                  </a:lnTo>
                  <a:lnTo>
                    <a:pt x="310" y="12"/>
                  </a:lnTo>
                  <a:lnTo>
                    <a:pt x="307" y="13"/>
                  </a:lnTo>
                  <a:lnTo>
                    <a:pt x="305" y="14"/>
                  </a:lnTo>
                  <a:lnTo>
                    <a:pt x="302" y="15"/>
                  </a:lnTo>
                  <a:lnTo>
                    <a:pt x="301" y="16"/>
                  </a:lnTo>
                  <a:lnTo>
                    <a:pt x="300" y="17"/>
                  </a:lnTo>
                  <a:lnTo>
                    <a:pt x="298" y="18"/>
                  </a:lnTo>
                  <a:lnTo>
                    <a:pt x="297" y="19"/>
                  </a:lnTo>
                  <a:lnTo>
                    <a:pt x="296" y="21"/>
                  </a:lnTo>
                  <a:lnTo>
                    <a:pt x="294" y="23"/>
                  </a:lnTo>
                  <a:lnTo>
                    <a:pt x="294" y="25"/>
                  </a:lnTo>
                  <a:lnTo>
                    <a:pt x="293" y="27"/>
                  </a:lnTo>
                  <a:lnTo>
                    <a:pt x="293" y="29"/>
                  </a:lnTo>
                  <a:lnTo>
                    <a:pt x="292" y="32"/>
                  </a:lnTo>
                  <a:lnTo>
                    <a:pt x="292" y="35"/>
                  </a:lnTo>
                  <a:lnTo>
                    <a:pt x="292" y="39"/>
                  </a:lnTo>
                  <a:lnTo>
                    <a:pt x="292" y="44"/>
                  </a:lnTo>
                  <a:lnTo>
                    <a:pt x="291" y="49"/>
                  </a:lnTo>
                  <a:lnTo>
                    <a:pt x="291" y="54"/>
                  </a:lnTo>
                  <a:lnTo>
                    <a:pt x="291" y="250"/>
                  </a:lnTo>
                  <a:lnTo>
                    <a:pt x="291" y="256"/>
                  </a:lnTo>
                  <a:lnTo>
                    <a:pt x="292" y="261"/>
                  </a:lnTo>
                  <a:lnTo>
                    <a:pt x="292" y="265"/>
                  </a:lnTo>
                  <a:lnTo>
                    <a:pt x="292" y="269"/>
                  </a:lnTo>
                  <a:lnTo>
                    <a:pt x="292" y="273"/>
                  </a:lnTo>
                  <a:lnTo>
                    <a:pt x="293" y="276"/>
                  </a:lnTo>
                  <a:lnTo>
                    <a:pt x="294" y="278"/>
                  </a:lnTo>
                  <a:lnTo>
                    <a:pt x="294" y="280"/>
                  </a:lnTo>
                  <a:lnTo>
                    <a:pt x="296" y="282"/>
                  </a:lnTo>
                  <a:lnTo>
                    <a:pt x="296" y="283"/>
                  </a:lnTo>
                  <a:lnTo>
                    <a:pt x="297" y="284"/>
                  </a:lnTo>
                  <a:lnTo>
                    <a:pt x="298" y="285"/>
                  </a:lnTo>
                  <a:lnTo>
                    <a:pt x="299" y="286"/>
                  </a:lnTo>
                  <a:lnTo>
                    <a:pt x="301" y="287"/>
                  </a:lnTo>
                  <a:lnTo>
                    <a:pt x="302" y="288"/>
                  </a:lnTo>
                  <a:lnTo>
                    <a:pt x="305" y="289"/>
                  </a:lnTo>
                  <a:lnTo>
                    <a:pt x="307" y="292"/>
                  </a:lnTo>
                  <a:lnTo>
                    <a:pt x="309" y="293"/>
                  </a:lnTo>
                  <a:lnTo>
                    <a:pt x="313" y="293"/>
                  </a:lnTo>
                  <a:lnTo>
                    <a:pt x="315" y="294"/>
                  </a:lnTo>
                  <a:lnTo>
                    <a:pt x="319" y="295"/>
                  </a:lnTo>
                  <a:lnTo>
                    <a:pt x="321" y="295"/>
                  </a:lnTo>
                  <a:lnTo>
                    <a:pt x="324" y="295"/>
                  </a:lnTo>
                  <a:lnTo>
                    <a:pt x="327" y="295"/>
                  </a:lnTo>
                  <a:lnTo>
                    <a:pt x="338" y="295"/>
                  </a:lnTo>
                  <a:lnTo>
                    <a:pt x="338" y="303"/>
                  </a:lnTo>
                  <a:lnTo>
                    <a:pt x="198" y="303"/>
                  </a:lnTo>
                  <a:lnTo>
                    <a:pt x="198" y="295"/>
                  </a:lnTo>
                  <a:lnTo>
                    <a:pt x="210" y="295"/>
                  </a:lnTo>
                  <a:lnTo>
                    <a:pt x="214" y="295"/>
                  </a:lnTo>
                  <a:lnTo>
                    <a:pt x="219" y="295"/>
                  </a:lnTo>
                  <a:lnTo>
                    <a:pt x="223" y="294"/>
                  </a:lnTo>
                  <a:lnTo>
                    <a:pt x="227" y="293"/>
                  </a:lnTo>
                  <a:lnTo>
                    <a:pt x="230" y="291"/>
                  </a:lnTo>
                  <a:lnTo>
                    <a:pt x="234" y="289"/>
                  </a:lnTo>
                  <a:lnTo>
                    <a:pt x="236" y="287"/>
                  </a:lnTo>
                  <a:lnTo>
                    <a:pt x="239" y="284"/>
                  </a:lnTo>
                  <a:lnTo>
                    <a:pt x="240" y="282"/>
                  </a:lnTo>
                  <a:lnTo>
                    <a:pt x="242" y="280"/>
                  </a:lnTo>
                  <a:lnTo>
                    <a:pt x="243" y="276"/>
                  </a:lnTo>
                  <a:lnTo>
                    <a:pt x="244" y="273"/>
                  </a:lnTo>
                  <a:lnTo>
                    <a:pt x="244" y="267"/>
                  </a:lnTo>
                  <a:lnTo>
                    <a:pt x="245" y="262"/>
                  </a:lnTo>
                  <a:lnTo>
                    <a:pt x="245" y="257"/>
                  </a:lnTo>
                  <a:lnTo>
                    <a:pt x="245" y="250"/>
                  </a:lnTo>
                  <a:lnTo>
                    <a:pt x="245" y="157"/>
                  </a:lnTo>
                  <a:lnTo>
                    <a:pt x="92" y="157"/>
                  </a:lnTo>
                  <a:lnTo>
                    <a:pt x="92" y="250"/>
                  </a:lnTo>
                  <a:lnTo>
                    <a:pt x="92" y="256"/>
                  </a:lnTo>
                  <a:lnTo>
                    <a:pt x="92" y="261"/>
                  </a:lnTo>
                  <a:lnTo>
                    <a:pt x="92" y="265"/>
                  </a:lnTo>
                  <a:lnTo>
                    <a:pt x="94" y="269"/>
                  </a:lnTo>
                  <a:lnTo>
                    <a:pt x="94" y="273"/>
                  </a:lnTo>
                  <a:lnTo>
                    <a:pt x="94" y="276"/>
                  </a:lnTo>
                  <a:lnTo>
                    <a:pt x="95" y="278"/>
                  </a:lnTo>
                  <a:lnTo>
                    <a:pt x="96" y="280"/>
                  </a:lnTo>
                  <a:lnTo>
                    <a:pt x="96" y="282"/>
                  </a:lnTo>
                  <a:lnTo>
                    <a:pt x="97" y="283"/>
                  </a:lnTo>
                  <a:lnTo>
                    <a:pt x="98" y="284"/>
                  </a:lnTo>
                  <a:lnTo>
                    <a:pt x="99" y="285"/>
                  </a:lnTo>
                  <a:lnTo>
                    <a:pt x="101" y="286"/>
                  </a:lnTo>
                  <a:lnTo>
                    <a:pt x="103" y="287"/>
                  </a:lnTo>
                  <a:lnTo>
                    <a:pt x="104" y="288"/>
                  </a:lnTo>
                  <a:lnTo>
                    <a:pt x="106" y="289"/>
                  </a:lnTo>
                  <a:lnTo>
                    <a:pt x="109" y="292"/>
                  </a:lnTo>
                  <a:lnTo>
                    <a:pt x="111" y="293"/>
                  </a:lnTo>
                  <a:lnTo>
                    <a:pt x="114" y="293"/>
                  </a:lnTo>
                  <a:lnTo>
                    <a:pt x="117" y="294"/>
                  </a:lnTo>
                  <a:lnTo>
                    <a:pt x="119" y="295"/>
                  </a:lnTo>
                  <a:lnTo>
                    <a:pt x="122" y="295"/>
                  </a:lnTo>
                  <a:lnTo>
                    <a:pt x="125" y="295"/>
                  </a:lnTo>
                  <a:lnTo>
                    <a:pt x="128" y="295"/>
                  </a:lnTo>
                  <a:lnTo>
                    <a:pt x="140" y="295"/>
                  </a:lnTo>
                  <a:lnTo>
                    <a:pt x="140" y="303"/>
                  </a:lnTo>
                  <a:lnTo>
                    <a:pt x="0" y="303"/>
                  </a:lnTo>
                  <a:lnTo>
                    <a:pt x="0" y="295"/>
                  </a:lnTo>
                  <a:lnTo>
                    <a:pt x="11" y="295"/>
                  </a:lnTo>
                  <a:lnTo>
                    <a:pt x="16" y="295"/>
                  </a:lnTo>
                  <a:lnTo>
                    <a:pt x="20" y="295"/>
                  </a:lnTo>
                  <a:lnTo>
                    <a:pt x="25" y="294"/>
                  </a:lnTo>
                  <a:lnTo>
                    <a:pt x="28" y="293"/>
                  </a:lnTo>
                  <a:lnTo>
                    <a:pt x="32" y="291"/>
                  </a:lnTo>
                  <a:lnTo>
                    <a:pt x="35" y="289"/>
                  </a:lnTo>
                  <a:lnTo>
                    <a:pt x="37" y="287"/>
                  </a:lnTo>
                  <a:lnTo>
                    <a:pt x="40" y="284"/>
                  </a:lnTo>
                  <a:lnTo>
                    <a:pt x="42" y="282"/>
                  </a:lnTo>
                  <a:lnTo>
                    <a:pt x="43" y="280"/>
                  </a:lnTo>
                  <a:lnTo>
                    <a:pt x="43" y="276"/>
                  </a:lnTo>
                  <a:lnTo>
                    <a:pt x="44" y="273"/>
                  </a:lnTo>
                  <a:lnTo>
                    <a:pt x="45" y="267"/>
                  </a:lnTo>
                  <a:lnTo>
                    <a:pt x="45" y="262"/>
                  </a:lnTo>
                  <a:lnTo>
                    <a:pt x="45" y="257"/>
                  </a:lnTo>
                  <a:lnTo>
                    <a:pt x="45" y="250"/>
                  </a:lnTo>
                  <a:lnTo>
                    <a:pt x="45" y="54"/>
                  </a:lnTo>
                  <a:lnTo>
                    <a:pt x="45" y="49"/>
                  </a:lnTo>
                  <a:lnTo>
                    <a:pt x="45" y="44"/>
                  </a:lnTo>
                  <a:lnTo>
                    <a:pt x="45" y="39"/>
                  </a:lnTo>
                  <a:lnTo>
                    <a:pt x="45" y="35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3" y="26"/>
                  </a:lnTo>
                  <a:lnTo>
                    <a:pt x="43" y="24"/>
                  </a:lnTo>
                  <a:lnTo>
                    <a:pt x="42" y="23"/>
                  </a:lnTo>
                  <a:lnTo>
                    <a:pt x="41" y="21"/>
                  </a:lnTo>
                  <a:lnTo>
                    <a:pt x="41" y="19"/>
                  </a:lnTo>
                  <a:lnTo>
                    <a:pt x="40" y="18"/>
                  </a:lnTo>
                  <a:lnTo>
                    <a:pt x="37" y="17"/>
                  </a:lnTo>
                  <a:lnTo>
                    <a:pt x="36" y="16"/>
                  </a:lnTo>
                  <a:lnTo>
                    <a:pt x="35" y="15"/>
                  </a:lnTo>
                  <a:lnTo>
                    <a:pt x="33" y="14"/>
                  </a:lnTo>
                  <a:lnTo>
                    <a:pt x="31" y="13"/>
                  </a:lnTo>
                  <a:lnTo>
                    <a:pt x="27" y="12"/>
                  </a:lnTo>
                  <a:lnTo>
                    <a:pt x="25" y="11"/>
                  </a:lnTo>
                  <a:lnTo>
                    <a:pt x="22" y="10"/>
                  </a:lnTo>
                  <a:lnTo>
                    <a:pt x="19" y="10"/>
                  </a:lnTo>
                  <a:lnTo>
                    <a:pt x="17" y="9"/>
                  </a:lnTo>
                  <a:lnTo>
                    <a:pt x="13" y="9"/>
                  </a:lnTo>
                  <a:lnTo>
                    <a:pt x="11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40" y="0"/>
                  </a:lnTo>
                  <a:lnTo>
                    <a:pt x="140" y="9"/>
                  </a:lnTo>
                  <a:lnTo>
                    <a:pt x="128" y="9"/>
                  </a:lnTo>
                  <a:lnTo>
                    <a:pt x="125" y="9"/>
                  </a:lnTo>
                  <a:lnTo>
                    <a:pt x="122" y="9"/>
                  </a:lnTo>
                  <a:lnTo>
                    <a:pt x="119" y="10"/>
                  </a:lnTo>
                  <a:lnTo>
                    <a:pt x="117" y="10"/>
                  </a:lnTo>
                  <a:lnTo>
                    <a:pt x="114" y="11"/>
                  </a:lnTo>
                  <a:lnTo>
                    <a:pt x="111" y="12"/>
                  </a:lnTo>
                  <a:lnTo>
                    <a:pt x="109" y="13"/>
                  </a:lnTo>
                  <a:lnTo>
                    <a:pt x="106" y="14"/>
                  </a:lnTo>
                  <a:lnTo>
                    <a:pt x="104" y="15"/>
                  </a:lnTo>
                  <a:lnTo>
                    <a:pt x="103" y="16"/>
                  </a:lnTo>
                  <a:lnTo>
                    <a:pt x="101" y="17"/>
                  </a:lnTo>
                  <a:lnTo>
                    <a:pt x="99" y="18"/>
                  </a:lnTo>
                  <a:lnTo>
                    <a:pt x="98" y="19"/>
                  </a:lnTo>
                  <a:lnTo>
                    <a:pt x="97" y="21"/>
                  </a:lnTo>
                  <a:lnTo>
                    <a:pt x="96" y="23"/>
                  </a:lnTo>
                  <a:lnTo>
                    <a:pt x="96" y="25"/>
                  </a:lnTo>
                  <a:lnTo>
                    <a:pt x="95" y="27"/>
                  </a:lnTo>
                  <a:lnTo>
                    <a:pt x="94" y="29"/>
                  </a:lnTo>
                  <a:lnTo>
                    <a:pt x="94" y="32"/>
                  </a:lnTo>
                  <a:lnTo>
                    <a:pt x="94" y="35"/>
                  </a:lnTo>
                  <a:lnTo>
                    <a:pt x="92" y="39"/>
                  </a:lnTo>
                  <a:lnTo>
                    <a:pt x="92" y="44"/>
                  </a:lnTo>
                  <a:lnTo>
                    <a:pt x="92" y="49"/>
                  </a:lnTo>
                  <a:lnTo>
                    <a:pt x="92" y="54"/>
                  </a:lnTo>
                  <a:lnTo>
                    <a:pt x="92" y="1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4379" y="3581"/>
              <a:ext cx="38" cy="55"/>
            </a:xfrm>
            <a:custGeom>
              <a:rect b="b" l="l" r="r" t="t"/>
              <a:pathLst>
                <a:path extrusionOk="0" h="218" w="188">
                  <a:moveTo>
                    <a:pt x="34" y="84"/>
                  </a:moveTo>
                  <a:lnTo>
                    <a:pt x="34" y="95"/>
                  </a:lnTo>
                  <a:lnTo>
                    <a:pt x="35" y="105"/>
                  </a:lnTo>
                  <a:lnTo>
                    <a:pt x="38" y="115"/>
                  </a:lnTo>
                  <a:lnTo>
                    <a:pt x="40" y="124"/>
                  </a:lnTo>
                  <a:lnTo>
                    <a:pt x="43" y="133"/>
                  </a:lnTo>
                  <a:lnTo>
                    <a:pt x="48" y="141"/>
                  </a:lnTo>
                  <a:lnTo>
                    <a:pt x="53" y="149"/>
                  </a:lnTo>
                  <a:lnTo>
                    <a:pt x="58" y="155"/>
                  </a:lnTo>
                  <a:lnTo>
                    <a:pt x="64" y="161"/>
                  </a:lnTo>
                  <a:lnTo>
                    <a:pt x="71" y="167"/>
                  </a:lnTo>
                  <a:lnTo>
                    <a:pt x="78" y="171"/>
                  </a:lnTo>
                  <a:lnTo>
                    <a:pt x="85" y="175"/>
                  </a:lnTo>
                  <a:lnTo>
                    <a:pt x="92" y="177"/>
                  </a:lnTo>
                  <a:lnTo>
                    <a:pt x="100" y="179"/>
                  </a:lnTo>
                  <a:lnTo>
                    <a:pt x="108" y="181"/>
                  </a:lnTo>
                  <a:lnTo>
                    <a:pt x="116" y="182"/>
                  </a:lnTo>
                  <a:lnTo>
                    <a:pt x="120" y="182"/>
                  </a:lnTo>
                  <a:lnTo>
                    <a:pt x="126" y="181"/>
                  </a:lnTo>
                  <a:lnTo>
                    <a:pt x="131" y="179"/>
                  </a:lnTo>
                  <a:lnTo>
                    <a:pt x="135" y="178"/>
                  </a:lnTo>
                  <a:lnTo>
                    <a:pt x="140" y="177"/>
                  </a:lnTo>
                  <a:lnTo>
                    <a:pt x="144" y="175"/>
                  </a:lnTo>
                  <a:lnTo>
                    <a:pt x="149" y="173"/>
                  </a:lnTo>
                  <a:lnTo>
                    <a:pt x="153" y="170"/>
                  </a:lnTo>
                  <a:lnTo>
                    <a:pt x="157" y="167"/>
                  </a:lnTo>
                  <a:lnTo>
                    <a:pt x="160" y="164"/>
                  </a:lnTo>
                  <a:lnTo>
                    <a:pt x="165" y="159"/>
                  </a:lnTo>
                  <a:lnTo>
                    <a:pt x="168" y="155"/>
                  </a:lnTo>
                  <a:lnTo>
                    <a:pt x="171" y="150"/>
                  </a:lnTo>
                  <a:lnTo>
                    <a:pt x="174" y="145"/>
                  </a:lnTo>
                  <a:lnTo>
                    <a:pt x="178" y="139"/>
                  </a:lnTo>
                  <a:lnTo>
                    <a:pt x="180" y="133"/>
                  </a:lnTo>
                  <a:lnTo>
                    <a:pt x="188" y="137"/>
                  </a:lnTo>
                  <a:lnTo>
                    <a:pt x="186" y="145"/>
                  </a:lnTo>
                  <a:lnTo>
                    <a:pt x="183" y="152"/>
                  </a:lnTo>
                  <a:lnTo>
                    <a:pt x="181" y="159"/>
                  </a:lnTo>
                  <a:lnTo>
                    <a:pt x="178" y="166"/>
                  </a:lnTo>
                  <a:lnTo>
                    <a:pt x="174" y="173"/>
                  </a:lnTo>
                  <a:lnTo>
                    <a:pt x="170" y="179"/>
                  </a:lnTo>
                  <a:lnTo>
                    <a:pt x="164" y="186"/>
                  </a:lnTo>
                  <a:lnTo>
                    <a:pt x="158" y="192"/>
                  </a:lnTo>
                  <a:lnTo>
                    <a:pt x="151" y="199"/>
                  </a:lnTo>
                  <a:lnTo>
                    <a:pt x="145" y="204"/>
                  </a:lnTo>
                  <a:lnTo>
                    <a:pt x="137" y="208"/>
                  </a:lnTo>
                  <a:lnTo>
                    <a:pt x="131" y="211"/>
                  </a:lnTo>
                  <a:lnTo>
                    <a:pt x="123" y="214"/>
                  </a:lnTo>
                  <a:lnTo>
                    <a:pt x="114" y="217"/>
                  </a:lnTo>
                  <a:lnTo>
                    <a:pt x="105" y="218"/>
                  </a:lnTo>
                  <a:lnTo>
                    <a:pt x="97" y="218"/>
                  </a:lnTo>
                  <a:lnTo>
                    <a:pt x="87" y="218"/>
                  </a:lnTo>
                  <a:lnTo>
                    <a:pt x="78" y="215"/>
                  </a:lnTo>
                  <a:lnTo>
                    <a:pt x="69" y="213"/>
                  </a:lnTo>
                  <a:lnTo>
                    <a:pt x="59" y="210"/>
                  </a:lnTo>
                  <a:lnTo>
                    <a:pt x="51" y="207"/>
                  </a:lnTo>
                  <a:lnTo>
                    <a:pt x="43" y="202"/>
                  </a:lnTo>
                  <a:lnTo>
                    <a:pt x="35" y="195"/>
                  </a:lnTo>
                  <a:lnTo>
                    <a:pt x="28" y="189"/>
                  </a:lnTo>
                  <a:lnTo>
                    <a:pt x="22" y="182"/>
                  </a:lnTo>
                  <a:lnTo>
                    <a:pt x="16" y="173"/>
                  </a:lnTo>
                  <a:lnTo>
                    <a:pt x="11" y="165"/>
                  </a:lnTo>
                  <a:lnTo>
                    <a:pt x="7" y="155"/>
                  </a:lnTo>
                  <a:lnTo>
                    <a:pt x="4" y="146"/>
                  </a:lnTo>
                  <a:lnTo>
                    <a:pt x="2" y="135"/>
                  </a:lnTo>
                  <a:lnTo>
                    <a:pt x="1" y="123"/>
                  </a:lnTo>
                  <a:lnTo>
                    <a:pt x="0" y="112"/>
                  </a:lnTo>
                  <a:lnTo>
                    <a:pt x="1" y="99"/>
                  </a:lnTo>
                  <a:lnTo>
                    <a:pt x="2" y="87"/>
                  </a:lnTo>
                  <a:lnTo>
                    <a:pt x="4" y="76"/>
                  </a:lnTo>
                  <a:lnTo>
                    <a:pt x="8" y="65"/>
                  </a:lnTo>
                  <a:lnTo>
                    <a:pt x="11" y="56"/>
                  </a:lnTo>
                  <a:lnTo>
                    <a:pt x="17" y="46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6" y="23"/>
                  </a:lnTo>
                  <a:lnTo>
                    <a:pt x="44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1" y="3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11" y="0"/>
                  </a:lnTo>
                  <a:lnTo>
                    <a:pt x="120" y="1"/>
                  </a:lnTo>
                  <a:lnTo>
                    <a:pt x="128" y="4"/>
                  </a:lnTo>
                  <a:lnTo>
                    <a:pt x="136" y="6"/>
                  </a:lnTo>
                  <a:lnTo>
                    <a:pt x="144" y="9"/>
                  </a:lnTo>
                  <a:lnTo>
                    <a:pt x="151" y="13"/>
                  </a:lnTo>
                  <a:lnTo>
                    <a:pt x="157" y="18"/>
                  </a:lnTo>
                  <a:lnTo>
                    <a:pt x="164" y="24"/>
                  </a:lnTo>
                  <a:lnTo>
                    <a:pt x="170" y="29"/>
                  </a:lnTo>
                  <a:lnTo>
                    <a:pt x="174" y="35"/>
                  </a:lnTo>
                  <a:lnTo>
                    <a:pt x="179" y="43"/>
                  </a:lnTo>
                  <a:lnTo>
                    <a:pt x="181" y="50"/>
                  </a:lnTo>
                  <a:lnTo>
                    <a:pt x="184" y="58"/>
                  </a:lnTo>
                  <a:lnTo>
                    <a:pt x="186" y="66"/>
                  </a:lnTo>
                  <a:lnTo>
                    <a:pt x="187" y="75"/>
                  </a:lnTo>
                  <a:lnTo>
                    <a:pt x="188" y="84"/>
                  </a:lnTo>
                  <a:lnTo>
                    <a:pt x="34" y="84"/>
                  </a:lnTo>
                  <a:close/>
                  <a:moveTo>
                    <a:pt x="34" y="71"/>
                  </a:moveTo>
                  <a:lnTo>
                    <a:pt x="137" y="71"/>
                  </a:lnTo>
                  <a:lnTo>
                    <a:pt x="136" y="66"/>
                  </a:lnTo>
                  <a:lnTo>
                    <a:pt x="136" y="62"/>
                  </a:lnTo>
                  <a:lnTo>
                    <a:pt x="135" y="58"/>
                  </a:lnTo>
                  <a:lnTo>
                    <a:pt x="135" y="54"/>
                  </a:lnTo>
                  <a:lnTo>
                    <a:pt x="134" y="51"/>
                  </a:lnTo>
                  <a:lnTo>
                    <a:pt x="134" y="48"/>
                  </a:lnTo>
                  <a:lnTo>
                    <a:pt x="133" y="45"/>
                  </a:lnTo>
                  <a:lnTo>
                    <a:pt x="132" y="43"/>
                  </a:lnTo>
                  <a:lnTo>
                    <a:pt x="131" y="41"/>
                  </a:lnTo>
                  <a:lnTo>
                    <a:pt x="128" y="38"/>
                  </a:lnTo>
                  <a:lnTo>
                    <a:pt x="127" y="34"/>
                  </a:lnTo>
                  <a:lnTo>
                    <a:pt x="125" y="32"/>
                  </a:lnTo>
                  <a:lnTo>
                    <a:pt x="123" y="30"/>
                  </a:lnTo>
                  <a:lnTo>
                    <a:pt x="119" y="28"/>
                  </a:lnTo>
                  <a:lnTo>
                    <a:pt x="117" y="26"/>
                  </a:lnTo>
                  <a:lnTo>
                    <a:pt x="113" y="24"/>
                  </a:lnTo>
                  <a:lnTo>
                    <a:pt x="111" y="22"/>
                  </a:lnTo>
                  <a:lnTo>
                    <a:pt x="108" y="21"/>
                  </a:lnTo>
                  <a:lnTo>
                    <a:pt x="104" y="19"/>
                  </a:lnTo>
                  <a:lnTo>
                    <a:pt x="102" y="18"/>
                  </a:lnTo>
                  <a:lnTo>
                    <a:pt x="98" y="17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9" y="16"/>
                  </a:lnTo>
                  <a:lnTo>
                    <a:pt x="83" y="16"/>
                  </a:lnTo>
                  <a:lnTo>
                    <a:pt x="79" y="17"/>
                  </a:lnTo>
                  <a:lnTo>
                    <a:pt x="74" y="18"/>
                  </a:lnTo>
                  <a:lnTo>
                    <a:pt x="70" y="19"/>
                  </a:lnTo>
                  <a:lnTo>
                    <a:pt x="65" y="22"/>
                  </a:lnTo>
                  <a:lnTo>
                    <a:pt x="61" y="25"/>
                  </a:lnTo>
                  <a:lnTo>
                    <a:pt x="57" y="27"/>
                  </a:lnTo>
                  <a:lnTo>
                    <a:pt x="53" y="31"/>
                  </a:lnTo>
                  <a:lnTo>
                    <a:pt x="49" y="34"/>
                  </a:lnTo>
                  <a:lnTo>
                    <a:pt x="46" y="39"/>
                  </a:lnTo>
                  <a:lnTo>
                    <a:pt x="43" y="43"/>
                  </a:lnTo>
                  <a:lnTo>
                    <a:pt x="40" y="48"/>
                  </a:lnTo>
                  <a:lnTo>
                    <a:pt x="39" y="53"/>
                  </a:lnTo>
                  <a:lnTo>
                    <a:pt x="36" y="59"/>
                  </a:lnTo>
                  <a:lnTo>
                    <a:pt x="35" y="65"/>
                  </a:lnTo>
                  <a:lnTo>
                    <a:pt x="34" y="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4423" y="3581"/>
              <a:ext cx="41" cy="54"/>
            </a:xfrm>
            <a:custGeom>
              <a:rect b="b" l="l" r="r" t="t"/>
              <a:pathLst>
                <a:path extrusionOk="0" h="215" w="202">
                  <a:moveTo>
                    <a:pt x="124" y="182"/>
                  </a:moveTo>
                  <a:lnTo>
                    <a:pt x="116" y="188"/>
                  </a:lnTo>
                  <a:lnTo>
                    <a:pt x="108" y="193"/>
                  </a:lnTo>
                  <a:lnTo>
                    <a:pt x="102" y="197"/>
                  </a:lnTo>
                  <a:lnTo>
                    <a:pt x="96" y="202"/>
                  </a:lnTo>
                  <a:lnTo>
                    <a:pt x="91" y="205"/>
                  </a:lnTo>
                  <a:lnTo>
                    <a:pt x="87" y="207"/>
                  </a:lnTo>
                  <a:lnTo>
                    <a:pt x="84" y="209"/>
                  </a:lnTo>
                  <a:lnTo>
                    <a:pt x="81" y="210"/>
                  </a:lnTo>
                  <a:lnTo>
                    <a:pt x="78" y="211"/>
                  </a:lnTo>
                  <a:lnTo>
                    <a:pt x="74" y="212"/>
                  </a:lnTo>
                  <a:lnTo>
                    <a:pt x="71" y="213"/>
                  </a:lnTo>
                  <a:lnTo>
                    <a:pt x="68" y="214"/>
                  </a:lnTo>
                  <a:lnTo>
                    <a:pt x="64" y="215"/>
                  </a:lnTo>
                  <a:lnTo>
                    <a:pt x="61" y="215"/>
                  </a:lnTo>
                  <a:lnTo>
                    <a:pt x="57" y="215"/>
                  </a:lnTo>
                  <a:lnTo>
                    <a:pt x="53" y="215"/>
                  </a:lnTo>
                  <a:lnTo>
                    <a:pt x="47" y="215"/>
                  </a:lnTo>
                  <a:lnTo>
                    <a:pt x="42" y="214"/>
                  </a:lnTo>
                  <a:lnTo>
                    <a:pt x="37" y="213"/>
                  </a:lnTo>
                  <a:lnTo>
                    <a:pt x="32" y="212"/>
                  </a:lnTo>
                  <a:lnTo>
                    <a:pt x="27" y="210"/>
                  </a:lnTo>
                  <a:lnTo>
                    <a:pt x="23" y="208"/>
                  </a:lnTo>
                  <a:lnTo>
                    <a:pt x="19" y="205"/>
                  </a:lnTo>
                  <a:lnTo>
                    <a:pt x="15" y="202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6" y="189"/>
                  </a:lnTo>
                  <a:lnTo>
                    <a:pt x="4" y="185"/>
                  </a:lnTo>
                  <a:lnTo>
                    <a:pt x="2" y="179"/>
                  </a:lnTo>
                  <a:lnTo>
                    <a:pt x="1" y="174"/>
                  </a:lnTo>
                  <a:lnTo>
                    <a:pt x="1" y="169"/>
                  </a:lnTo>
                  <a:lnTo>
                    <a:pt x="0" y="163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1" y="152"/>
                  </a:lnTo>
                  <a:lnTo>
                    <a:pt x="2" y="149"/>
                  </a:lnTo>
                  <a:lnTo>
                    <a:pt x="3" y="146"/>
                  </a:lnTo>
                  <a:lnTo>
                    <a:pt x="4" y="142"/>
                  </a:lnTo>
                  <a:lnTo>
                    <a:pt x="6" y="140"/>
                  </a:lnTo>
                  <a:lnTo>
                    <a:pt x="8" y="137"/>
                  </a:lnTo>
                  <a:lnTo>
                    <a:pt x="10" y="133"/>
                  </a:lnTo>
                  <a:lnTo>
                    <a:pt x="14" y="130"/>
                  </a:lnTo>
                  <a:lnTo>
                    <a:pt x="17" y="126"/>
                  </a:lnTo>
                  <a:lnTo>
                    <a:pt x="22" y="122"/>
                  </a:lnTo>
                  <a:lnTo>
                    <a:pt x="25" y="119"/>
                  </a:lnTo>
                  <a:lnTo>
                    <a:pt x="31" y="115"/>
                  </a:lnTo>
                  <a:lnTo>
                    <a:pt x="37" y="112"/>
                  </a:lnTo>
                  <a:lnTo>
                    <a:pt x="42" y="108"/>
                  </a:lnTo>
                  <a:lnTo>
                    <a:pt x="48" y="105"/>
                  </a:lnTo>
                  <a:lnTo>
                    <a:pt x="56" y="101"/>
                  </a:lnTo>
                  <a:lnTo>
                    <a:pt x="65" y="98"/>
                  </a:lnTo>
                  <a:lnTo>
                    <a:pt x="74" y="94"/>
                  </a:lnTo>
                  <a:lnTo>
                    <a:pt x="86" y="89"/>
                  </a:lnTo>
                  <a:lnTo>
                    <a:pt x="97" y="85"/>
                  </a:lnTo>
                  <a:lnTo>
                    <a:pt x="110" y="81"/>
                  </a:lnTo>
                  <a:lnTo>
                    <a:pt x="124" y="76"/>
                  </a:lnTo>
                  <a:lnTo>
                    <a:pt x="124" y="68"/>
                  </a:lnTo>
                  <a:lnTo>
                    <a:pt x="124" y="61"/>
                  </a:lnTo>
                  <a:lnTo>
                    <a:pt x="123" y="53"/>
                  </a:lnTo>
                  <a:lnTo>
                    <a:pt x="123" y="47"/>
                  </a:lnTo>
                  <a:lnTo>
                    <a:pt x="122" y="42"/>
                  </a:lnTo>
                  <a:lnTo>
                    <a:pt x="119" y="38"/>
                  </a:lnTo>
                  <a:lnTo>
                    <a:pt x="118" y="32"/>
                  </a:lnTo>
                  <a:lnTo>
                    <a:pt x="116" y="29"/>
                  </a:lnTo>
                  <a:lnTo>
                    <a:pt x="113" y="26"/>
                  </a:lnTo>
                  <a:lnTo>
                    <a:pt x="110" y="23"/>
                  </a:lnTo>
                  <a:lnTo>
                    <a:pt x="108" y="21"/>
                  </a:lnTo>
                  <a:lnTo>
                    <a:pt x="104" y="18"/>
                  </a:lnTo>
                  <a:lnTo>
                    <a:pt x="100" y="17"/>
                  </a:lnTo>
                  <a:lnTo>
                    <a:pt x="96" y="16"/>
                  </a:lnTo>
                  <a:lnTo>
                    <a:pt x="92" y="15"/>
                  </a:lnTo>
                  <a:lnTo>
                    <a:pt x="87" y="14"/>
                  </a:lnTo>
                  <a:lnTo>
                    <a:pt x="83" y="14"/>
                  </a:lnTo>
                  <a:lnTo>
                    <a:pt x="79" y="14"/>
                  </a:lnTo>
                  <a:lnTo>
                    <a:pt x="76" y="15"/>
                  </a:lnTo>
                  <a:lnTo>
                    <a:pt x="72" y="15"/>
                  </a:lnTo>
                  <a:lnTo>
                    <a:pt x="69" y="16"/>
                  </a:lnTo>
                  <a:lnTo>
                    <a:pt x="66" y="17"/>
                  </a:lnTo>
                  <a:lnTo>
                    <a:pt x="63" y="18"/>
                  </a:lnTo>
                  <a:lnTo>
                    <a:pt x="61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4" y="26"/>
                  </a:lnTo>
                  <a:lnTo>
                    <a:pt x="53" y="28"/>
                  </a:lnTo>
                  <a:lnTo>
                    <a:pt x="52" y="30"/>
                  </a:lnTo>
                  <a:lnTo>
                    <a:pt x="50" y="32"/>
                  </a:lnTo>
                  <a:lnTo>
                    <a:pt x="49" y="34"/>
                  </a:lnTo>
                  <a:lnTo>
                    <a:pt x="49" y="38"/>
                  </a:lnTo>
                  <a:lnTo>
                    <a:pt x="49" y="40"/>
                  </a:lnTo>
                  <a:lnTo>
                    <a:pt x="49" y="52"/>
                  </a:lnTo>
                  <a:lnTo>
                    <a:pt x="49" y="54"/>
                  </a:lnTo>
                  <a:lnTo>
                    <a:pt x="49" y="58"/>
                  </a:lnTo>
                  <a:lnTo>
                    <a:pt x="49" y="60"/>
                  </a:lnTo>
                  <a:lnTo>
                    <a:pt x="48" y="62"/>
                  </a:lnTo>
                  <a:lnTo>
                    <a:pt x="47" y="63"/>
                  </a:lnTo>
                  <a:lnTo>
                    <a:pt x="47" y="65"/>
                  </a:lnTo>
                  <a:lnTo>
                    <a:pt x="46" y="67"/>
                  </a:lnTo>
                  <a:lnTo>
                    <a:pt x="44" y="68"/>
                  </a:lnTo>
                  <a:lnTo>
                    <a:pt x="42" y="69"/>
                  </a:lnTo>
                  <a:lnTo>
                    <a:pt x="41" y="70"/>
                  </a:lnTo>
                  <a:lnTo>
                    <a:pt x="39" y="71"/>
                  </a:lnTo>
                  <a:lnTo>
                    <a:pt x="38" y="72"/>
                  </a:lnTo>
                  <a:lnTo>
                    <a:pt x="35" y="74"/>
                  </a:lnTo>
                  <a:lnTo>
                    <a:pt x="33" y="74"/>
                  </a:lnTo>
                  <a:lnTo>
                    <a:pt x="31" y="74"/>
                  </a:lnTo>
                  <a:lnTo>
                    <a:pt x="29" y="74"/>
                  </a:lnTo>
                  <a:lnTo>
                    <a:pt x="27" y="74"/>
                  </a:lnTo>
                  <a:lnTo>
                    <a:pt x="25" y="74"/>
                  </a:lnTo>
                  <a:lnTo>
                    <a:pt x="23" y="74"/>
                  </a:lnTo>
                  <a:lnTo>
                    <a:pt x="21" y="72"/>
                  </a:lnTo>
                  <a:lnTo>
                    <a:pt x="19" y="71"/>
                  </a:lnTo>
                  <a:lnTo>
                    <a:pt x="17" y="70"/>
                  </a:lnTo>
                  <a:lnTo>
                    <a:pt x="16" y="69"/>
                  </a:lnTo>
                  <a:lnTo>
                    <a:pt x="15" y="68"/>
                  </a:lnTo>
                  <a:lnTo>
                    <a:pt x="13" y="66"/>
                  </a:lnTo>
                  <a:lnTo>
                    <a:pt x="11" y="65"/>
                  </a:lnTo>
                  <a:lnTo>
                    <a:pt x="11" y="63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9" y="57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9" y="47"/>
                  </a:lnTo>
                  <a:lnTo>
                    <a:pt x="10" y="43"/>
                  </a:lnTo>
                  <a:lnTo>
                    <a:pt x="11" y="39"/>
                  </a:lnTo>
                  <a:lnTo>
                    <a:pt x="14" y="33"/>
                  </a:lnTo>
                  <a:lnTo>
                    <a:pt x="17" y="29"/>
                  </a:lnTo>
                  <a:lnTo>
                    <a:pt x="21" y="25"/>
                  </a:lnTo>
                  <a:lnTo>
                    <a:pt x="25" y="21"/>
                  </a:lnTo>
                  <a:lnTo>
                    <a:pt x="30" y="16"/>
                  </a:lnTo>
                  <a:lnTo>
                    <a:pt x="35" y="13"/>
                  </a:lnTo>
                  <a:lnTo>
                    <a:pt x="41" y="10"/>
                  </a:lnTo>
                  <a:lnTo>
                    <a:pt x="48" y="7"/>
                  </a:lnTo>
                  <a:lnTo>
                    <a:pt x="56" y="5"/>
                  </a:lnTo>
                  <a:lnTo>
                    <a:pt x="63" y="3"/>
                  </a:lnTo>
                  <a:lnTo>
                    <a:pt x="72" y="1"/>
                  </a:lnTo>
                  <a:lnTo>
                    <a:pt x="80" y="1"/>
                  </a:lnTo>
                  <a:lnTo>
                    <a:pt x="89" y="0"/>
                  </a:lnTo>
                  <a:lnTo>
                    <a:pt x="97" y="0"/>
                  </a:lnTo>
                  <a:lnTo>
                    <a:pt x="104" y="1"/>
                  </a:lnTo>
                  <a:lnTo>
                    <a:pt x="110" y="3"/>
                  </a:lnTo>
                  <a:lnTo>
                    <a:pt x="117" y="3"/>
                  </a:lnTo>
                  <a:lnTo>
                    <a:pt x="123" y="5"/>
                  </a:lnTo>
                  <a:lnTo>
                    <a:pt x="128" y="6"/>
                  </a:lnTo>
                  <a:lnTo>
                    <a:pt x="133" y="8"/>
                  </a:lnTo>
                  <a:lnTo>
                    <a:pt x="139" y="10"/>
                  </a:lnTo>
                  <a:lnTo>
                    <a:pt x="142" y="12"/>
                  </a:lnTo>
                  <a:lnTo>
                    <a:pt x="144" y="14"/>
                  </a:lnTo>
                  <a:lnTo>
                    <a:pt x="148" y="16"/>
                  </a:lnTo>
                  <a:lnTo>
                    <a:pt x="150" y="18"/>
                  </a:lnTo>
                  <a:lnTo>
                    <a:pt x="154" y="22"/>
                  </a:lnTo>
                  <a:lnTo>
                    <a:pt x="156" y="25"/>
                  </a:lnTo>
                  <a:lnTo>
                    <a:pt x="157" y="28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62" y="38"/>
                  </a:lnTo>
                  <a:lnTo>
                    <a:pt x="162" y="42"/>
                  </a:lnTo>
                  <a:lnTo>
                    <a:pt x="163" y="46"/>
                  </a:lnTo>
                  <a:lnTo>
                    <a:pt x="163" y="51"/>
                  </a:lnTo>
                  <a:lnTo>
                    <a:pt x="163" y="58"/>
                  </a:lnTo>
                  <a:lnTo>
                    <a:pt x="164" y="64"/>
                  </a:lnTo>
                  <a:lnTo>
                    <a:pt x="164" y="71"/>
                  </a:lnTo>
                  <a:lnTo>
                    <a:pt x="164" y="140"/>
                  </a:lnTo>
                  <a:lnTo>
                    <a:pt x="164" y="148"/>
                  </a:lnTo>
                  <a:lnTo>
                    <a:pt x="164" y="154"/>
                  </a:lnTo>
                  <a:lnTo>
                    <a:pt x="164" y="159"/>
                  </a:lnTo>
                  <a:lnTo>
                    <a:pt x="164" y="164"/>
                  </a:lnTo>
                  <a:lnTo>
                    <a:pt x="164" y="168"/>
                  </a:lnTo>
                  <a:lnTo>
                    <a:pt x="164" y="172"/>
                  </a:lnTo>
                  <a:lnTo>
                    <a:pt x="165" y="174"/>
                  </a:lnTo>
                  <a:lnTo>
                    <a:pt x="165" y="176"/>
                  </a:lnTo>
                  <a:lnTo>
                    <a:pt x="165" y="178"/>
                  </a:lnTo>
                  <a:lnTo>
                    <a:pt x="165" y="179"/>
                  </a:lnTo>
                  <a:lnTo>
                    <a:pt x="166" y="181"/>
                  </a:lnTo>
                  <a:lnTo>
                    <a:pt x="166" y="182"/>
                  </a:lnTo>
                  <a:lnTo>
                    <a:pt x="167" y="183"/>
                  </a:lnTo>
                  <a:lnTo>
                    <a:pt x="167" y="184"/>
                  </a:lnTo>
                  <a:lnTo>
                    <a:pt x="169" y="185"/>
                  </a:lnTo>
                  <a:lnTo>
                    <a:pt x="170" y="186"/>
                  </a:lnTo>
                  <a:lnTo>
                    <a:pt x="171" y="186"/>
                  </a:lnTo>
                  <a:lnTo>
                    <a:pt x="171" y="187"/>
                  </a:lnTo>
                  <a:lnTo>
                    <a:pt x="172" y="187"/>
                  </a:lnTo>
                  <a:lnTo>
                    <a:pt x="173" y="187"/>
                  </a:lnTo>
                  <a:lnTo>
                    <a:pt x="174" y="187"/>
                  </a:lnTo>
                  <a:lnTo>
                    <a:pt x="175" y="187"/>
                  </a:lnTo>
                  <a:lnTo>
                    <a:pt x="177" y="187"/>
                  </a:lnTo>
                  <a:lnTo>
                    <a:pt x="178" y="187"/>
                  </a:lnTo>
                  <a:lnTo>
                    <a:pt x="179" y="187"/>
                  </a:lnTo>
                  <a:lnTo>
                    <a:pt x="180" y="187"/>
                  </a:lnTo>
                  <a:lnTo>
                    <a:pt x="181" y="186"/>
                  </a:lnTo>
                  <a:lnTo>
                    <a:pt x="182" y="186"/>
                  </a:lnTo>
                  <a:lnTo>
                    <a:pt x="183" y="185"/>
                  </a:lnTo>
                  <a:lnTo>
                    <a:pt x="185" y="184"/>
                  </a:lnTo>
                  <a:lnTo>
                    <a:pt x="187" y="183"/>
                  </a:lnTo>
                  <a:lnTo>
                    <a:pt x="189" y="181"/>
                  </a:lnTo>
                  <a:lnTo>
                    <a:pt x="192" y="178"/>
                  </a:lnTo>
                  <a:lnTo>
                    <a:pt x="195" y="175"/>
                  </a:lnTo>
                  <a:lnTo>
                    <a:pt x="198" y="173"/>
                  </a:lnTo>
                  <a:lnTo>
                    <a:pt x="202" y="170"/>
                  </a:lnTo>
                  <a:lnTo>
                    <a:pt x="202" y="182"/>
                  </a:lnTo>
                  <a:lnTo>
                    <a:pt x="195" y="190"/>
                  </a:lnTo>
                  <a:lnTo>
                    <a:pt x="188" y="196"/>
                  </a:lnTo>
                  <a:lnTo>
                    <a:pt x="181" y="203"/>
                  </a:lnTo>
                  <a:lnTo>
                    <a:pt x="175" y="207"/>
                  </a:lnTo>
                  <a:lnTo>
                    <a:pt x="169" y="211"/>
                  </a:lnTo>
                  <a:lnTo>
                    <a:pt x="163" y="213"/>
                  </a:lnTo>
                  <a:lnTo>
                    <a:pt x="156" y="215"/>
                  </a:lnTo>
                  <a:lnTo>
                    <a:pt x="150" y="215"/>
                  </a:lnTo>
                  <a:lnTo>
                    <a:pt x="147" y="215"/>
                  </a:lnTo>
                  <a:lnTo>
                    <a:pt x="144" y="215"/>
                  </a:lnTo>
                  <a:lnTo>
                    <a:pt x="142" y="214"/>
                  </a:lnTo>
                  <a:lnTo>
                    <a:pt x="139" y="213"/>
                  </a:lnTo>
                  <a:lnTo>
                    <a:pt x="136" y="212"/>
                  </a:lnTo>
                  <a:lnTo>
                    <a:pt x="135" y="211"/>
                  </a:lnTo>
                  <a:lnTo>
                    <a:pt x="133" y="210"/>
                  </a:lnTo>
                  <a:lnTo>
                    <a:pt x="131" y="208"/>
                  </a:lnTo>
                  <a:lnTo>
                    <a:pt x="130" y="206"/>
                  </a:lnTo>
                  <a:lnTo>
                    <a:pt x="128" y="204"/>
                  </a:lnTo>
                  <a:lnTo>
                    <a:pt x="126" y="201"/>
                  </a:lnTo>
                  <a:lnTo>
                    <a:pt x="126" y="197"/>
                  </a:lnTo>
                  <a:lnTo>
                    <a:pt x="125" y="194"/>
                  </a:lnTo>
                  <a:lnTo>
                    <a:pt x="124" y="190"/>
                  </a:lnTo>
                  <a:lnTo>
                    <a:pt x="124" y="187"/>
                  </a:lnTo>
                  <a:lnTo>
                    <a:pt x="124" y="182"/>
                  </a:lnTo>
                  <a:close/>
                  <a:moveTo>
                    <a:pt x="124" y="168"/>
                  </a:moveTo>
                  <a:lnTo>
                    <a:pt x="124" y="89"/>
                  </a:lnTo>
                  <a:lnTo>
                    <a:pt x="115" y="93"/>
                  </a:lnTo>
                  <a:lnTo>
                    <a:pt x="107" y="96"/>
                  </a:lnTo>
                  <a:lnTo>
                    <a:pt x="100" y="99"/>
                  </a:lnTo>
                  <a:lnTo>
                    <a:pt x="94" y="101"/>
                  </a:lnTo>
                  <a:lnTo>
                    <a:pt x="88" y="103"/>
                  </a:lnTo>
                  <a:lnTo>
                    <a:pt x="84" y="105"/>
                  </a:lnTo>
                  <a:lnTo>
                    <a:pt x="79" y="107"/>
                  </a:lnTo>
                  <a:lnTo>
                    <a:pt x="77" y="108"/>
                  </a:lnTo>
                  <a:lnTo>
                    <a:pt x="72" y="111"/>
                  </a:lnTo>
                  <a:lnTo>
                    <a:pt x="68" y="114"/>
                  </a:lnTo>
                  <a:lnTo>
                    <a:pt x="64" y="116"/>
                  </a:lnTo>
                  <a:lnTo>
                    <a:pt x="60" y="118"/>
                  </a:lnTo>
                  <a:lnTo>
                    <a:pt x="57" y="121"/>
                  </a:lnTo>
                  <a:lnTo>
                    <a:pt x="54" y="123"/>
                  </a:lnTo>
                  <a:lnTo>
                    <a:pt x="52" y="126"/>
                  </a:lnTo>
                  <a:lnTo>
                    <a:pt x="49" y="129"/>
                  </a:lnTo>
                  <a:lnTo>
                    <a:pt x="47" y="132"/>
                  </a:lnTo>
                  <a:lnTo>
                    <a:pt x="46" y="135"/>
                  </a:lnTo>
                  <a:lnTo>
                    <a:pt x="45" y="137"/>
                  </a:lnTo>
                  <a:lnTo>
                    <a:pt x="44" y="140"/>
                  </a:lnTo>
                  <a:lnTo>
                    <a:pt x="42" y="143"/>
                  </a:lnTo>
                  <a:lnTo>
                    <a:pt x="41" y="147"/>
                  </a:lnTo>
                  <a:lnTo>
                    <a:pt x="41" y="150"/>
                  </a:lnTo>
                  <a:lnTo>
                    <a:pt x="41" y="153"/>
                  </a:lnTo>
                  <a:lnTo>
                    <a:pt x="41" y="156"/>
                  </a:lnTo>
                  <a:lnTo>
                    <a:pt x="41" y="160"/>
                  </a:lnTo>
                  <a:lnTo>
                    <a:pt x="42" y="164"/>
                  </a:lnTo>
                  <a:lnTo>
                    <a:pt x="44" y="167"/>
                  </a:lnTo>
                  <a:lnTo>
                    <a:pt x="45" y="171"/>
                  </a:lnTo>
                  <a:lnTo>
                    <a:pt x="47" y="173"/>
                  </a:lnTo>
                  <a:lnTo>
                    <a:pt x="49" y="176"/>
                  </a:lnTo>
                  <a:lnTo>
                    <a:pt x="52" y="179"/>
                  </a:lnTo>
                  <a:lnTo>
                    <a:pt x="54" y="182"/>
                  </a:lnTo>
                  <a:lnTo>
                    <a:pt x="57" y="184"/>
                  </a:lnTo>
                  <a:lnTo>
                    <a:pt x="60" y="186"/>
                  </a:lnTo>
                  <a:lnTo>
                    <a:pt x="63" y="187"/>
                  </a:lnTo>
                  <a:lnTo>
                    <a:pt x="65" y="188"/>
                  </a:lnTo>
                  <a:lnTo>
                    <a:pt x="69" y="189"/>
                  </a:lnTo>
                  <a:lnTo>
                    <a:pt x="72" y="190"/>
                  </a:lnTo>
                  <a:lnTo>
                    <a:pt x="76" y="190"/>
                  </a:lnTo>
                  <a:lnTo>
                    <a:pt x="80" y="189"/>
                  </a:lnTo>
                  <a:lnTo>
                    <a:pt x="85" y="188"/>
                  </a:lnTo>
                  <a:lnTo>
                    <a:pt x="91" y="187"/>
                  </a:lnTo>
                  <a:lnTo>
                    <a:pt x="96" y="185"/>
                  </a:lnTo>
                  <a:lnTo>
                    <a:pt x="103" y="182"/>
                  </a:lnTo>
                  <a:lnTo>
                    <a:pt x="109" y="177"/>
                  </a:lnTo>
                  <a:lnTo>
                    <a:pt x="117" y="173"/>
                  </a:lnTo>
                  <a:lnTo>
                    <a:pt x="124" y="1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4463" y="3581"/>
              <a:ext cx="47" cy="78"/>
            </a:xfrm>
            <a:custGeom>
              <a:rect b="b" l="l" r="r" t="t"/>
              <a:pathLst>
                <a:path extrusionOk="0" h="310" w="233">
                  <a:moveTo>
                    <a:pt x="1" y="27"/>
                  </a:moveTo>
                  <a:lnTo>
                    <a:pt x="70" y="1"/>
                  </a:lnTo>
                  <a:lnTo>
                    <a:pt x="79" y="1"/>
                  </a:lnTo>
                  <a:lnTo>
                    <a:pt x="79" y="49"/>
                  </a:lnTo>
                  <a:lnTo>
                    <a:pt x="83" y="43"/>
                  </a:lnTo>
                  <a:lnTo>
                    <a:pt x="87" y="38"/>
                  </a:lnTo>
                  <a:lnTo>
                    <a:pt x="92" y="31"/>
                  </a:lnTo>
                  <a:lnTo>
                    <a:pt x="96" y="27"/>
                  </a:lnTo>
                  <a:lnTo>
                    <a:pt x="101" y="22"/>
                  </a:lnTo>
                  <a:lnTo>
                    <a:pt x="104" y="18"/>
                  </a:lnTo>
                  <a:lnTo>
                    <a:pt x="109" y="14"/>
                  </a:lnTo>
                  <a:lnTo>
                    <a:pt x="113" y="12"/>
                  </a:lnTo>
                  <a:lnTo>
                    <a:pt x="118" y="9"/>
                  </a:lnTo>
                  <a:lnTo>
                    <a:pt x="121" y="7"/>
                  </a:lnTo>
                  <a:lnTo>
                    <a:pt x="126" y="5"/>
                  </a:lnTo>
                  <a:lnTo>
                    <a:pt x="131" y="4"/>
                  </a:lnTo>
                  <a:lnTo>
                    <a:pt x="135" y="3"/>
                  </a:lnTo>
                  <a:lnTo>
                    <a:pt x="140" y="1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8" y="1"/>
                  </a:lnTo>
                  <a:lnTo>
                    <a:pt x="166" y="3"/>
                  </a:lnTo>
                  <a:lnTo>
                    <a:pt x="173" y="5"/>
                  </a:lnTo>
                  <a:lnTo>
                    <a:pt x="180" y="7"/>
                  </a:lnTo>
                  <a:lnTo>
                    <a:pt x="187" y="10"/>
                  </a:lnTo>
                  <a:lnTo>
                    <a:pt x="194" y="14"/>
                  </a:lnTo>
                  <a:lnTo>
                    <a:pt x="199" y="19"/>
                  </a:lnTo>
                  <a:lnTo>
                    <a:pt x="205" y="25"/>
                  </a:lnTo>
                  <a:lnTo>
                    <a:pt x="212" y="32"/>
                  </a:lnTo>
                  <a:lnTo>
                    <a:pt x="218" y="41"/>
                  </a:lnTo>
                  <a:lnTo>
                    <a:pt x="222" y="49"/>
                  </a:lnTo>
                  <a:lnTo>
                    <a:pt x="226" y="59"/>
                  </a:lnTo>
                  <a:lnTo>
                    <a:pt x="229" y="69"/>
                  </a:lnTo>
                  <a:lnTo>
                    <a:pt x="230" y="79"/>
                  </a:lnTo>
                  <a:lnTo>
                    <a:pt x="233" y="90"/>
                  </a:lnTo>
                  <a:lnTo>
                    <a:pt x="233" y="102"/>
                  </a:lnTo>
                  <a:lnTo>
                    <a:pt x="233" y="115"/>
                  </a:lnTo>
                  <a:lnTo>
                    <a:pt x="230" y="128"/>
                  </a:lnTo>
                  <a:lnTo>
                    <a:pt x="228" y="139"/>
                  </a:lnTo>
                  <a:lnTo>
                    <a:pt x="225" y="150"/>
                  </a:lnTo>
                  <a:lnTo>
                    <a:pt x="220" y="160"/>
                  </a:lnTo>
                  <a:lnTo>
                    <a:pt x="214" y="171"/>
                  </a:lnTo>
                  <a:lnTo>
                    <a:pt x="207" y="181"/>
                  </a:lnTo>
                  <a:lnTo>
                    <a:pt x="199" y="189"/>
                  </a:lnTo>
                  <a:lnTo>
                    <a:pt x="192" y="196"/>
                  </a:lnTo>
                  <a:lnTo>
                    <a:pt x="186" y="202"/>
                  </a:lnTo>
                  <a:lnTo>
                    <a:pt x="178" y="207"/>
                  </a:lnTo>
                  <a:lnTo>
                    <a:pt x="170" y="210"/>
                  </a:lnTo>
                  <a:lnTo>
                    <a:pt x="160" y="213"/>
                  </a:lnTo>
                  <a:lnTo>
                    <a:pt x="151" y="215"/>
                  </a:lnTo>
                  <a:lnTo>
                    <a:pt x="142" y="218"/>
                  </a:lnTo>
                  <a:lnTo>
                    <a:pt x="132" y="218"/>
                  </a:lnTo>
                  <a:lnTo>
                    <a:pt x="127" y="218"/>
                  </a:lnTo>
                  <a:lnTo>
                    <a:pt x="122" y="218"/>
                  </a:lnTo>
                  <a:lnTo>
                    <a:pt x="119" y="218"/>
                  </a:lnTo>
                  <a:lnTo>
                    <a:pt x="114" y="217"/>
                  </a:lnTo>
                  <a:lnTo>
                    <a:pt x="111" y="215"/>
                  </a:lnTo>
                  <a:lnTo>
                    <a:pt x="108" y="215"/>
                  </a:lnTo>
                  <a:lnTo>
                    <a:pt x="104" y="214"/>
                  </a:lnTo>
                  <a:lnTo>
                    <a:pt x="101" y="213"/>
                  </a:lnTo>
                  <a:lnTo>
                    <a:pt x="98" y="212"/>
                  </a:lnTo>
                  <a:lnTo>
                    <a:pt x="95" y="211"/>
                  </a:lnTo>
                  <a:lnTo>
                    <a:pt x="93" y="209"/>
                  </a:lnTo>
                  <a:lnTo>
                    <a:pt x="90" y="208"/>
                  </a:lnTo>
                  <a:lnTo>
                    <a:pt x="87" y="206"/>
                  </a:lnTo>
                  <a:lnTo>
                    <a:pt x="85" y="204"/>
                  </a:lnTo>
                  <a:lnTo>
                    <a:pt x="81" y="202"/>
                  </a:lnTo>
                  <a:lnTo>
                    <a:pt x="79" y="200"/>
                  </a:lnTo>
                  <a:lnTo>
                    <a:pt x="79" y="262"/>
                  </a:lnTo>
                  <a:lnTo>
                    <a:pt x="79" y="267"/>
                  </a:lnTo>
                  <a:lnTo>
                    <a:pt x="79" y="272"/>
                  </a:lnTo>
                  <a:lnTo>
                    <a:pt x="79" y="276"/>
                  </a:lnTo>
                  <a:lnTo>
                    <a:pt x="79" y="279"/>
                  </a:lnTo>
                  <a:lnTo>
                    <a:pt x="80" y="282"/>
                  </a:lnTo>
                  <a:lnTo>
                    <a:pt x="80" y="285"/>
                  </a:lnTo>
                  <a:lnTo>
                    <a:pt x="81" y="288"/>
                  </a:lnTo>
                  <a:lnTo>
                    <a:pt x="81" y="289"/>
                  </a:lnTo>
                  <a:lnTo>
                    <a:pt x="82" y="290"/>
                  </a:lnTo>
                  <a:lnTo>
                    <a:pt x="83" y="292"/>
                  </a:lnTo>
                  <a:lnTo>
                    <a:pt x="85" y="293"/>
                  </a:lnTo>
                  <a:lnTo>
                    <a:pt x="86" y="294"/>
                  </a:lnTo>
                  <a:lnTo>
                    <a:pt x="87" y="295"/>
                  </a:lnTo>
                  <a:lnTo>
                    <a:pt x="88" y="296"/>
                  </a:lnTo>
                  <a:lnTo>
                    <a:pt x="89" y="297"/>
                  </a:lnTo>
                  <a:lnTo>
                    <a:pt x="92" y="298"/>
                  </a:lnTo>
                  <a:lnTo>
                    <a:pt x="93" y="298"/>
                  </a:lnTo>
                  <a:lnTo>
                    <a:pt x="95" y="299"/>
                  </a:lnTo>
                  <a:lnTo>
                    <a:pt x="98" y="300"/>
                  </a:lnTo>
                  <a:lnTo>
                    <a:pt x="101" y="300"/>
                  </a:lnTo>
                  <a:lnTo>
                    <a:pt x="104" y="300"/>
                  </a:lnTo>
                  <a:lnTo>
                    <a:pt x="108" y="301"/>
                  </a:lnTo>
                  <a:lnTo>
                    <a:pt x="112" y="301"/>
                  </a:lnTo>
                  <a:lnTo>
                    <a:pt x="116" y="301"/>
                  </a:lnTo>
                  <a:lnTo>
                    <a:pt x="116" y="310"/>
                  </a:lnTo>
                  <a:lnTo>
                    <a:pt x="0" y="310"/>
                  </a:lnTo>
                  <a:lnTo>
                    <a:pt x="0" y="301"/>
                  </a:lnTo>
                  <a:lnTo>
                    <a:pt x="7" y="301"/>
                  </a:lnTo>
                  <a:lnTo>
                    <a:pt x="9" y="301"/>
                  </a:lnTo>
                  <a:lnTo>
                    <a:pt x="12" y="301"/>
                  </a:lnTo>
                  <a:lnTo>
                    <a:pt x="16" y="300"/>
                  </a:lnTo>
                  <a:lnTo>
                    <a:pt x="18" y="300"/>
                  </a:lnTo>
                  <a:lnTo>
                    <a:pt x="22" y="299"/>
                  </a:lnTo>
                  <a:lnTo>
                    <a:pt x="24" y="298"/>
                  </a:lnTo>
                  <a:lnTo>
                    <a:pt x="26" y="297"/>
                  </a:lnTo>
                  <a:lnTo>
                    <a:pt x="28" y="296"/>
                  </a:lnTo>
                  <a:lnTo>
                    <a:pt x="30" y="296"/>
                  </a:lnTo>
                  <a:lnTo>
                    <a:pt x="31" y="295"/>
                  </a:lnTo>
                  <a:lnTo>
                    <a:pt x="32" y="294"/>
                  </a:lnTo>
                  <a:lnTo>
                    <a:pt x="33" y="293"/>
                  </a:lnTo>
                  <a:lnTo>
                    <a:pt x="34" y="292"/>
                  </a:lnTo>
                  <a:lnTo>
                    <a:pt x="34" y="291"/>
                  </a:lnTo>
                  <a:lnTo>
                    <a:pt x="35" y="290"/>
                  </a:lnTo>
                  <a:lnTo>
                    <a:pt x="36" y="289"/>
                  </a:lnTo>
                  <a:lnTo>
                    <a:pt x="36" y="286"/>
                  </a:lnTo>
                  <a:lnTo>
                    <a:pt x="38" y="284"/>
                  </a:lnTo>
                  <a:lnTo>
                    <a:pt x="38" y="282"/>
                  </a:lnTo>
                  <a:lnTo>
                    <a:pt x="38" y="279"/>
                  </a:lnTo>
                  <a:lnTo>
                    <a:pt x="38" y="275"/>
                  </a:lnTo>
                  <a:lnTo>
                    <a:pt x="39" y="271"/>
                  </a:lnTo>
                  <a:lnTo>
                    <a:pt x="39" y="266"/>
                  </a:lnTo>
                  <a:lnTo>
                    <a:pt x="39" y="261"/>
                  </a:lnTo>
                  <a:lnTo>
                    <a:pt x="39" y="67"/>
                  </a:lnTo>
                  <a:lnTo>
                    <a:pt x="39" y="62"/>
                  </a:lnTo>
                  <a:lnTo>
                    <a:pt x="39" y="58"/>
                  </a:lnTo>
                  <a:lnTo>
                    <a:pt x="38" y="54"/>
                  </a:lnTo>
                  <a:lnTo>
                    <a:pt x="38" y="51"/>
                  </a:lnTo>
                  <a:lnTo>
                    <a:pt x="38" y="48"/>
                  </a:lnTo>
                  <a:lnTo>
                    <a:pt x="38" y="46"/>
                  </a:lnTo>
                  <a:lnTo>
                    <a:pt x="36" y="44"/>
                  </a:lnTo>
                  <a:lnTo>
                    <a:pt x="36" y="42"/>
                  </a:lnTo>
                  <a:lnTo>
                    <a:pt x="36" y="41"/>
                  </a:lnTo>
                  <a:lnTo>
                    <a:pt x="35" y="40"/>
                  </a:lnTo>
                  <a:lnTo>
                    <a:pt x="35" y="39"/>
                  </a:lnTo>
                  <a:lnTo>
                    <a:pt x="34" y="38"/>
                  </a:lnTo>
                  <a:lnTo>
                    <a:pt x="33" y="36"/>
                  </a:lnTo>
                  <a:lnTo>
                    <a:pt x="32" y="35"/>
                  </a:lnTo>
                  <a:lnTo>
                    <a:pt x="32" y="34"/>
                  </a:lnTo>
                  <a:lnTo>
                    <a:pt x="31" y="34"/>
                  </a:lnTo>
                  <a:lnTo>
                    <a:pt x="30" y="33"/>
                  </a:lnTo>
                  <a:lnTo>
                    <a:pt x="28" y="32"/>
                  </a:lnTo>
                  <a:lnTo>
                    <a:pt x="27" y="32"/>
                  </a:lnTo>
                  <a:lnTo>
                    <a:pt x="25" y="32"/>
                  </a:lnTo>
                  <a:lnTo>
                    <a:pt x="24" y="31"/>
                  </a:lnTo>
                  <a:lnTo>
                    <a:pt x="23" y="31"/>
                  </a:lnTo>
                  <a:lnTo>
                    <a:pt x="20" y="31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1"/>
                  </a:lnTo>
                  <a:lnTo>
                    <a:pt x="13" y="31"/>
                  </a:lnTo>
                  <a:lnTo>
                    <a:pt x="12" y="32"/>
                  </a:lnTo>
                  <a:lnTo>
                    <a:pt x="10" y="32"/>
                  </a:lnTo>
                  <a:lnTo>
                    <a:pt x="9" y="33"/>
                  </a:lnTo>
                  <a:lnTo>
                    <a:pt x="7" y="33"/>
                  </a:lnTo>
                  <a:lnTo>
                    <a:pt x="4" y="34"/>
                  </a:lnTo>
                  <a:lnTo>
                    <a:pt x="1" y="27"/>
                  </a:lnTo>
                  <a:close/>
                  <a:moveTo>
                    <a:pt x="79" y="63"/>
                  </a:moveTo>
                  <a:lnTo>
                    <a:pt x="79" y="139"/>
                  </a:lnTo>
                  <a:lnTo>
                    <a:pt x="79" y="146"/>
                  </a:lnTo>
                  <a:lnTo>
                    <a:pt x="79" y="151"/>
                  </a:lnTo>
                  <a:lnTo>
                    <a:pt x="79" y="155"/>
                  </a:lnTo>
                  <a:lnTo>
                    <a:pt x="79" y="159"/>
                  </a:lnTo>
                  <a:lnTo>
                    <a:pt x="79" y="164"/>
                  </a:lnTo>
                  <a:lnTo>
                    <a:pt x="80" y="167"/>
                  </a:lnTo>
                  <a:lnTo>
                    <a:pt x="80" y="170"/>
                  </a:lnTo>
                  <a:lnTo>
                    <a:pt x="81" y="172"/>
                  </a:lnTo>
                  <a:lnTo>
                    <a:pt x="82" y="175"/>
                  </a:lnTo>
                  <a:lnTo>
                    <a:pt x="83" y="178"/>
                  </a:lnTo>
                  <a:lnTo>
                    <a:pt x="85" y="181"/>
                  </a:lnTo>
                  <a:lnTo>
                    <a:pt x="87" y="184"/>
                  </a:lnTo>
                  <a:lnTo>
                    <a:pt x="89" y="187"/>
                  </a:lnTo>
                  <a:lnTo>
                    <a:pt x="92" y="189"/>
                  </a:lnTo>
                  <a:lnTo>
                    <a:pt x="94" y="192"/>
                  </a:lnTo>
                  <a:lnTo>
                    <a:pt x="97" y="194"/>
                  </a:lnTo>
                  <a:lnTo>
                    <a:pt x="101" y="196"/>
                  </a:lnTo>
                  <a:lnTo>
                    <a:pt x="104" y="199"/>
                  </a:lnTo>
                  <a:lnTo>
                    <a:pt x="109" y="201"/>
                  </a:lnTo>
                  <a:lnTo>
                    <a:pt x="112" y="202"/>
                  </a:lnTo>
                  <a:lnTo>
                    <a:pt x="117" y="203"/>
                  </a:lnTo>
                  <a:lnTo>
                    <a:pt x="121" y="204"/>
                  </a:lnTo>
                  <a:lnTo>
                    <a:pt x="126" y="204"/>
                  </a:lnTo>
                  <a:lnTo>
                    <a:pt x="131" y="204"/>
                  </a:lnTo>
                  <a:lnTo>
                    <a:pt x="136" y="204"/>
                  </a:lnTo>
                  <a:lnTo>
                    <a:pt x="142" y="203"/>
                  </a:lnTo>
                  <a:lnTo>
                    <a:pt x="148" y="202"/>
                  </a:lnTo>
                  <a:lnTo>
                    <a:pt x="152" y="200"/>
                  </a:lnTo>
                  <a:lnTo>
                    <a:pt x="157" y="197"/>
                  </a:lnTo>
                  <a:lnTo>
                    <a:pt x="162" y="194"/>
                  </a:lnTo>
                  <a:lnTo>
                    <a:pt x="166" y="191"/>
                  </a:lnTo>
                  <a:lnTo>
                    <a:pt x="170" y="187"/>
                  </a:lnTo>
                  <a:lnTo>
                    <a:pt x="174" y="181"/>
                  </a:lnTo>
                  <a:lnTo>
                    <a:pt x="179" y="174"/>
                  </a:lnTo>
                  <a:lnTo>
                    <a:pt x="182" y="167"/>
                  </a:lnTo>
                  <a:lnTo>
                    <a:pt x="184" y="159"/>
                  </a:lnTo>
                  <a:lnTo>
                    <a:pt x="187" y="151"/>
                  </a:lnTo>
                  <a:lnTo>
                    <a:pt x="188" y="142"/>
                  </a:lnTo>
                  <a:lnTo>
                    <a:pt x="189" y="133"/>
                  </a:lnTo>
                  <a:lnTo>
                    <a:pt x="189" y="122"/>
                  </a:lnTo>
                  <a:lnTo>
                    <a:pt x="189" y="112"/>
                  </a:lnTo>
                  <a:lnTo>
                    <a:pt x="188" y="101"/>
                  </a:lnTo>
                  <a:lnTo>
                    <a:pt x="187" y="90"/>
                  </a:lnTo>
                  <a:lnTo>
                    <a:pt x="184" y="81"/>
                  </a:lnTo>
                  <a:lnTo>
                    <a:pt x="181" y="72"/>
                  </a:lnTo>
                  <a:lnTo>
                    <a:pt x="176" y="65"/>
                  </a:lnTo>
                  <a:lnTo>
                    <a:pt x="173" y="58"/>
                  </a:lnTo>
                  <a:lnTo>
                    <a:pt x="167" y="50"/>
                  </a:lnTo>
                  <a:lnTo>
                    <a:pt x="164" y="47"/>
                  </a:lnTo>
                  <a:lnTo>
                    <a:pt x="159" y="43"/>
                  </a:lnTo>
                  <a:lnTo>
                    <a:pt x="155" y="40"/>
                  </a:lnTo>
                  <a:lnTo>
                    <a:pt x="150" y="38"/>
                  </a:lnTo>
                  <a:lnTo>
                    <a:pt x="145" y="35"/>
                  </a:lnTo>
                  <a:lnTo>
                    <a:pt x="141" y="34"/>
                  </a:lnTo>
                  <a:lnTo>
                    <a:pt x="135" y="33"/>
                  </a:lnTo>
                  <a:lnTo>
                    <a:pt x="131" y="33"/>
                  </a:lnTo>
                  <a:lnTo>
                    <a:pt x="127" y="33"/>
                  </a:lnTo>
                  <a:lnTo>
                    <a:pt x="125" y="33"/>
                  </a:lnTo>
                  <a:lnTo>
                    <a:pt x="121" y="34"/>
                  </a:lnTo>
                  <a:lnTo>
                    <a:pt x="119" y="34"/>
                  </a:lnTo>
                  <a:lnTo>
                    <a:pt x="116" y="35"/>
                  </a:lnTo>
                  <a:lnTo>
                    <a:pt x="113" y="36"/>
                  </a:lnTo>
                  <a:lnTo>
                    <a:pt x="110" y="38"/>
                  </a:lnTo>
                  <a:lnTo>
                    <a:pt x="108" y="39"/>
                  </a:lnTo>
                  <a:lnTo>
                    <a:pt x="105" y="40"/>
                  </a:lnTo>
                  <a:lnTo>
                    <a:pt x="102" y="42"/>
                  </a:lnTo>
                  <a:lnTo>
                    <a:pt x="100" y="44"/>
                  </a:lnTo>
                  <a:lnTo>
                    <a:pt x="96" y="47"/>
                  </a:lnTo>
                  <a:lnTo>
                    <a:pt x="93" y="50"/>
                  </a:lnTo>
                  <a:lnTo>
                    <a:pt x="88" y="53"/>
                  </a:lnTo>
                  <a:lnTo>
                    <a:pt x="83" y="58"/>
                  </a:lnTo>
                  <a:lnTo>
                    <a:pt x="79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2152" y="2390"/>
              <a:ext cx="40" cy="71"/>
            </a:xfrm>
            <a:custGeom>
              <a:rect b="b" l="l" r="r" t="t"/>
              <a:pathLst>
                <a:path extrusionOk="0" h="283" w="199">
                  <a:moveTo>
                    <a:pt x="0" y="283"/>
                  </a:moveTo>
                  <a:lnTo>
                    <a:pt x="42" y="283"/>
                  </a:lnTo>
                  <a:lnTo>
                    <a:pt x="42" y="163"/>
                  </a:lnTo>
                  <a:lnTo>
                    <a:pt x="86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2" y="162"/>
                  </a:lnTo>
                  <a:lnTo>
                    <a:pt x="132" y="161"/>
                  </a:lnTo>
                  <a:lnTo>
                    <a:pt x="141" y="159"/>
                  </a:lnTo>
                  <a:lnTo>
                    <a:pt x="151" y="157"/>
                  </a:lnTo>
                  <a:lnTo>
                    <a:pt x="160" y="153"/>
                  </a:lnTo>
                  <a:lnTo>
                    <a:pt x="168" y="147"/>
                  </a:lnTo>
                  <a:lnTo>
                    <a:pt x="175" y="141"/>
                  </a:lnTo>
                  <a:lnTo>
                    <a:pt x="182" y="135"/>
                  </a:lnTo>
                  <a:lnTo>
                    <a:pt x="187" y="127"/>
                  </a:lnTo>
                  <a:lnTo>
                    <a:pt x="191" y="120"/>
                  </a:lnTo>
                  <a:lnTo>
                    <a:pt x="194" y="111"/>
                  </a:lnTo>
                  <a:lnTo>
                    <a:pt x="198" y="102"/>
                  </a:lnTo>
                  <a:lnTo>
                    <a:pt x="199" y="92"/>
                  </a:lnTo>
                  <a:lnTo>
                    <a:pt x="199" y="82"/>
                  </a:lnTo>
                  <a:lnTo>
                    <a:pt x="199" y="72"/>
                  </a:lnTo>
                  <a:lnTo>
                    <a:pt x="198" y="63"/>
                  </a:lnTo>
                  <a:lnTo>
                    <a:pt x="195" y="54"/>
                  </a:lnTo>
                  <a:lnTo>
                    <a:pt x="193" y="47"/>
                  </a:lnTo>
                  <a:lnTo>
                    <a:pt x="190" y="39"/>
                  </a:lnTo>
                  <a:lnTo>
                    <a:pt x="186" y="33"/>
                  </a:lnTo>
                  <a:lnTo>
                    <a:pt x="182" y="27"/>
                  </a:lnTo>
                  <a:lnTo>
                    <a:pt x="176" y="21"/>
                  </a:lnTo>
                  <a:lnTo>
                    <a:pt x="169" y="16"/>
                  </a:lnTo>
                  <a:lnTo>
                    <a:pt x="162" y="12"/>
                  </a:lnTo>
                  <a:lnTo>
                    <a:pt x="155" y="9"/>
                  </a:lnTo>
                  <a:lnTo>
                    <a:pt x="147" y="6"/>
                  </a:lnTo>
                  <a:lnTo>
                    <a:pt x="138" y="3"/>
                  </a:lnTo>
                  <a:lnTo>
                    <a:pt x="128" y="2"/>
                  </a:lnTo>
                  <a:lnTo>
                    <a:pt x="117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4" y="0"/>
                  </a:lnTo>
                  <a:lnTo>
                    <a:pt x="92" y="0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283"/>
                  </a:lnTo>
                  <a:close/>
                  <a:moveTo>
                    <a:pt x="95" y="35"/>
                  </a:moveTo>
                  <a:lnTo>
                    <a:pt x="110" y="35"/>
                  </a:lnTo>
                  <a:lnTo>
                    <a:pt x="122" y="37"/>
                  </a:lnTo>
                  <a:lnTo>
                    <a:pt x="133" y="40"/>
                  </a:lnTo>
                  <a:lnTo>
                    <a:pt x="141" y="45"/>
                  </a:lnTo>
                  <a:lnTo>
                    <a:pt x="145" y="48"/>
                  </a:lnTo>
                  <a:lnTo>
                    <a:pt x="148" y="51"/>
                  </a:lnTo>
                  <a:lnTo>
                    <a:pt x="151" y="55"/>
                  </a:lnTo>
                  <a:lnTo>
                    <a:pt x="153" y="60"/>
                  </a:lnTo>
                  <a:lnTo>
                    <a:pt x="156" y="69"/>
                  </a:lnTo>
                  <a:lnTo>
                    <a:pt x="156" y="82"/>
                  </a:lnTo>
                  <a:lnTo>
                    <a:pt x="156" y="94"/>
                  </a:lnTo>
                  <a:lnTo>
                    <a:pt x="153" y="105"/>
                  </a:lnTo>
                  <a:lnTo>
                    <a:pt x="151" y="109"/>
                  </a:lnTo>
                  <a:lnTo>
                    <a:pt x="147" y="114"/>
                  </a:lnTo>
                  <a:lnTo>
                    <a:pt x="145" y="117"/>
                  </a:lnTo>
                  <a:lnTo>
                    <a:pt x="140" y="120"/>
                  </a:lnTo>
                  <a:lnTo>
                    <a:pt x="131" y="124"/>
                  </a:lnTo>
                  <a:lnTo>
                    <a:pt x="121" y="127"/>
                  </a:lnTo>
                  <a:lnTo>
                    <a:pt x="107" y="128"/>
                  </a:lnTo>
                  <a:lnTo>
                    <a:pt x="92" y="129"/>
                  </a:lnTo>
                  <a:lnTo>
                    <a:pt x="42" y="129"/>
                  </a:lnTo>
                  <a:lnTo>
                    <a:pt x="42" y="35"/>
                  </a:lnTo>
                  <a:lnTo>
                    <a:pt x="95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2205" y="2406"/>
              <a:ext cx="37" cy="57"/>
            </a:xfrm>
            <a:custGeom>
              <a:rect b="b" l="l" r="r" t="t"/>
              <a:pathLst>
                <a:path extrusionOk="0" h="225" w="184">
                  <a:moveTo>
                    <a:pt x="184" y="0"/>
                  </a:moveTo>
                  <a:lnTo>
                    <a:pt x="145" y="0"/>
                  </a:lnTo>
                  <a:lnTo>
                    <a:pt x="145" y="126"/>
                  </a:lnTo>
                  <a:lnTo>
                    <a:pt x="144" y="141"/>
                  </a:lnTo>
                  <a:lnTo>
                    <a:pt x="142" y="155"/>
                  </a:lnTo>
                  <a:lnTo>
                    <a:pt x="139" y="161"/>
                  </a:lnTo>
                  <a:lnTo>
                    <a:pt x="136" y="166"/>
                  </a:lnTo>
                  <a:lnTo>
                    <a:pt x="132" y="171"/>
                  </a:lnTo>
                  <a:lnTo>
                    <a:pt x="129" y="176"/>
                  </a:lnTo>
                  <a:lnTo>
                    <a:pt x="124" y="180"/>
                  </a:lnTo>
                  <a:lnTo>
                    <a:pt x="120" y="183"/>
                  </a:lnTo>
                  <a:lnTo>
                    <a:pt x="114" y="186"/>
                  </a:lnTo>
                  <a:lnTo>
                    <a:pt x="109" y="188"/>
                  </a:lnTo>
                  <a:lnTo>
                    <a:pt x="103" y="191"/>
                  </a:lnTo>
                  <a:lnTo>
                    <a:pt x="97" y="192"/>
                  </a:lnTo>
                  <a:lnTo>
                    <a:pt x="90" y="193"/>
                  </a:lnTo>
                  <a:lnTo>
                    <a:pt x="83" y="193"/>
                  </a:lnTo>
                  <a:lnTo>
                    <a:pt x="72" y="193"/>
                  </a:lnTo>
                  <a:lnTo>
                    <a:pt x="62" y="189"/>
                  </a:lnTo>
                  <a:lnTo>
                    <a:pt x="54" y="185"/>
                  </a:lnTo>
                  <a:lnTo>
                    <a:pt x="49" y="180"/>
                  </a:lnTo>
                  <a:lnTo>
                    <a:pt x="44" y="173"/>
                  </a:lnTo>
                  <a:lnTo>
                    <a:pt x="42" y="163"/>
                  </a:lnTo>
                  <a:lnTo>
                    <a:pt x="39" y="152"/>
                  </a:lnTo>
                  <a:lnTo>
                    <a:pt x="39" y="140"/>
                  </a:lnTo>
                  <a:lnTo>
                    <a:pt x="39" y="139"/>
                  </a:lnTo>
                  <a:lnTo>
                    <a:pt x="39" y="138"/>
                  </a:lnTo>
                  <a:lnTo>
                    <a:pt x="39" y="136"/>
                  </a:lnTo>
                  <a:lnTo>
                    <a:pt x="39" y="135"/>
                  </a:lnTo>
                  <a:lnTo>
                    <a:pt x="39" y="0"/>
                  </a:lnTo>
                  <a:lnTo>
                    <a:pt x="0" y="0"/>
                  </a:lnTo>
                  <a:lnTo>
                    <a:pt x="0" y="132"/>
                  </a:lnTo>
                  <a:lnTo>
                    <a:pt x="0" y="142"/>
                  </a:lnTo>
                  <a:lnTo>
                    <a:pt x="0" y="151"/>
                  </a:lnTo>
                  <a:lnTo>
                    <a:pt x="0" y="160"/>
                  </a:lnTo>
                  <a:lnTo>
                    <a:pt x="2" y="167"/>
                  </a:lnTo>
                  <a:lnTo>
                    <a:pt x="3" y="176"/>
                  </a:lnTo>
                  <a:lnTo>
                    <a:pt x="4" y="182"/>
                  </a:lnTo>
                  <a:lnTo>
                    <a:pt x="6" y="189"/>
                  </a:lnTo>
                  <a:lnTo>
                    <a:pt x="11" y="196"/>
                  </a:lnTo>
                  <a:lnTo>
                    <a:pt x="15" y="203"/>
                  </a:lnTo>
                  <a:lnTo>
                    <a:pt x="21" y="209"/>
                  </a:lnTo>
                  <a:lnTo>
                    <a:pt x="28" y="214"/>
                  </a:lnTo>
                  <a:lnTo>
                    <a:pt x="36" y="218"/>
                  </a:lnTo>
                  <a:lnTo>
                    <a:pt x="45" y="221"/>
                  </a:lnTo>
                  <a:lnTo>
                    <a:pt x="54" y="223"/>
                  </a:lnTo>
                  <a:lnTo>
                    <a:pt x="65" y="225"/>
                  </a:lnTo>
                  <a:lnTo>
                    <a:pt x="77" y="225"/>
                  </a:lnTo>
                  <a:lnTo>
                    <a:pt x="89" y="225"/>
                  </a:lnTo>
                  <a:lnTo>
                    <a:pt x="99" y="223"/>
                  </a:lnTo>
                  <a:lnTo>
                    <a:pt x="109" y="220"/>
                  </a:lnTo>
                  <a:lnTo>
                    <a:pt x="119" y="215"/>
                  </a:lnTo>
                  <a:lnTo>
                    <a:pt x="127" y="210"/>
                  </a:lnTo>
                  <a:lnTo>
                    <a:pt x="135" y="202"/>
                  </a:lnTo>
                  <a:lnTo>
                    <a:pt x="142" y="194"/>
                  </a:lnTo>
                  <a:lnTo>
                    <a:pt x="147" y="184"/>
                  </a:lnTo>
                  <a:lnTo>
                    <a:pt x="147" y="218"/>
                  </a:lnTo>
                  <a:lnTo>
                    <a:pt x="184" y="218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2259" y="2404"/>
              <a:ext cx="36" cy="57"/>
            </a:xfrm>
            <a:custGeom>
              <a:rect b="b" l="l" r="r" t="t"/>
              <a:pathLst>
                <a:path extrusionOk="0" h="227" w="184">
                  <a:moveTo>
                    <a:pt x="0" y="227"/>
                  </a:moveTo>
                  <a:lnTo>
                    <a:pt x="39" y="227"/>
                  </a:lnTo>
                  <a:lnTo>
                    <a:pt x="39" y="101"/>
                  </a:lnTo>
                  <a:lnTo>
                    <a:pt x="40" y="85"/>
                  </a:lnTo>
                  <a:lnTo>
                    <a:pt x="43" y="71"/>
                  </a:lnTo>
                  <a:lnTo>
                    <a:pt x="46" y="66"/>
                  </a:lnTo>
                  <a:lnTo>
                    <a:pt x="49" y="60"/>
                  </a:lnTo>
                  <a:lnTo>
                    <a:pt x="52" y="55"/>
                  </a:lnTo>
                  <a:lnTo>
                    <a:pt x="56" y="50"/>
                  </a:lnTo>
                  <a:lnTo>
                    <a:pt x="60" y="46"/>
                  </a:lnTo>
                  <a:lnTo>
                    <a:pt x="65" y="43"/>
                  </a:lnTo>
                  <a:lnTo>
                    <a:pt x="70" y="40"/>
                  </a:lnTo>
                  <a:lnTo>
                    <a:pt x="75" y="37"/>
                  </a:lnTo>
                  <a:lnTo>
                    <a:pt x="81" y="35"/>
                  </a:lnTo>
                  <a:lnTo>
                    <a:pt x="88" y="34"/>
                  </a:lnTo>
                  <a:lnTo>
                    <a:pt x="95" y="33"/>
                  </a:lnTo>
                  <a:lnTo>
                    <a:pt x="102" y="33"/>
                  </a:lnTo>
                  <a:lnTo>
                    <a:pt x="113" y="34"/>
                  </a:lnTo>
                  <a:lnTo>
                    <a:pt x="124" y="36"/>
                  </a:lnTo>
                  <a:lnTo>
                    <a:pt x="127" y="38"/>
                  </a:lnTo>
                  <a:lnTo>
                    <a:pt x="130" y="42"/>
                  </a:lnTo>
                  <a:lnTo>
                    <a:pt x="134" y="44"/>
                  </a:lnTo>
                  <a:lnTo>
                    <a:pt x="136" y="48"/>
                  </a:lnTo>
                  <a:lnTo>
                    <a:pt x="141" y="55"/>
                  </a:lnTo>
                  <a:lnTo>
                    <a:pt x="143" y="66"/>
                  </a:lnTo>
                  <a:lnTo>
                    <a:pt x="144" y="78"/>
                  </a:lnTo>
                  <a:lnTo>
                    <a:pt x="145" y="90"/>
                  </a:lnTo>
                  <a:lnTo>
                    <a:pt x="145" y="227"/>
                  </a:lnTo>
                  <a:lnTo>
                    <a:pt x="184" y="227"/>
                  </a:lnTo>
                  <a:lnTo>
                    <a:pt x="184" y="95"/>
                  </a:lnTo>
                  <a:lnTo>
                    <a:pt x="184" y="85"/>
                  </a:lnTo>
                  <a:lnTo>
                    <a:pt x="184" y="76"/>
                  </a:lnTo>
                  <a:lnTo>
                    <a:pt x="183" y="67"/>
                  </a:lnTo>
                  <a:lnTo>
                    <a:pt x="183" y="59"/>
                  </a:lnTo>
                  <a:lnTo>
                    <a:pt x="182" y="51"/>
                  </a:lnTo>
                  <a:lnTo>
                    <a:pt x="180" y="44"/>
                  </a:lnTo>
                  <a:lnTo>
                    <a:pt x="178" y="37"/>
                  </a:lnTo>
                  <a:lnTo>
                    <a:pt x="174" y="30"/>
                  </a:lnTo>
                  <a:lnTo>
                    <a:pt x="170" y="24"/>
                  </a:lnTo>
                  <a:lnTo>
                    <a:pt x="164" y="17"/>
                  </a:lnTo>
                  <a:lnTo>
                    <a:pt x="157" y="13"/>
                  </a:lnTo>
                  <a:lnTo>
                    <a:pt x="149" y="9"/>
                  </a:lnTo>
                  <a:lnTo>
                    <a:pt x="140" y="5"/>
                  </a:lnTo>
                  <a:lnTo>
                    <a:pt x="130" y="2"/>
                  </a:lnTo>
                  <a:lnTo>
                    <a:pt x="119" y="1"/>
                  </a:lnTo>
                  <a:lnTo>
                    <a:pt x="108" y="0"/>
                  </a:lnTo>
                  <a:lnTo>
                    <a:pt x="96" y="1"/>
                  </a:lnTo>
                  <a:lnTo>
                    <a:pt x="86" y="4"/>
                  </a:lnTo>
                  <a:lnTo>
                    <a:pt x="75" y="7"/>
                  </a:lnTo>
                  <a:lnTo>
                    <a:pt x="66" y="11"/>
                  </a:lnTo>
                  <a:lnTo>
                    <a:pt x="58" y="17"/>
                  </a:lnTo>
                  <a:lnTo>
                    <a:pt x="50" y="24"/>
                  </a:lnTo>
                  <a:lnTo>
                    <a:pt x="43" y="32"/>
                  </a:lnTo>
                  <a:lnTo>
                    <a:pt x="38" y="42"/>
                  </a:lnTo>
                  <a:lnTo>
                    <a:pt x="38" y="9"/>
                  </a:lnTo>
                  <a:lnTo>
                    <a:pt x="0" y="9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2309" y="2392"/>
              <a:ext cx="39" cy="71"/>
            </a:xfrm>
            <a:custGeom>
              <a:rect b="b" l="l" r="r" t="t"/>
              <a:pathLst>
                <a:path extrusionOk="0" h="282" w="194">
                  <a:moveTo>
                    <a:pt x="67" y="94"/>
                  </a:moveTo>
                  <a:lnTo>
                    <a:pt x="67" y="204"/>
                  </a:lnTo>
                  <a:lnTo>
                    <a:pt x="68" y="223"/>
                  </a:lnTo>
                  <a:lnTo>
                    <a:pt x="70" y="239"/>
                  </a:lnTo>
                  <a:lnTo>
                    <a:pt x="71" y="246"/>
                  </a:lnTo>
                  <a:lnTo>
                    <a:pt x="75" y="253"/>
                  </a:lnTo>
                  <a:lnTo>
                    <a:pt x="77" y="258"/>
                  </a:lnTo>
                  <a:lnTo>
                    <a:pt x="81" y="263"/>
                  </a:lnTo>
                  <a:lnTo>
                    <a:pt x="86" y="268"/>
                  </a:lnTo>
                  <a:lnTo>
                    <a:pt x="92" y="272"/>
                  </a:lnTo>
                  <a:lnTo>
                    <a:pt x="99" y="275"/>
                  </a:lnTo>
                  <a:lnTo>
                    <a:pt x="107" y="278"/>
                  </a:lnTo>
                  <a:lnTo>
                    <a:pt x="115" y="280"/>
                  </a:lnTo>
                  <a:lnTo>
                    <a:pt x="125" y="281"/>
                  </a:lnTo>
                  <a:lnTo>
                    <a:pt x="135" y="282"/>
                  </a:lnTo>
                  <a:lnTo>
                    <a:pt x="148" y="282"/>
                  </a:lnTo>
                  <a:lnTo>
                    <a:pt x="153" y="282"/>
                  </a:lnTo>
                  <a:lnTo>
                    <a:pt x="157" y="282"/>
                  </a:lnTo>
                  <a:lnTo>
                    <a:pt x="163" y="282"/>
                  </a:lnTo>
                  <a:lnTo>
                    <a:pt x="169" y="282"/>
                  </a:lnTo>
                  <a:lnTo>
                    <a:pt x="174" y="281"/>
                  </a:lnTo>
                  <a:lnTo>
                    <a:pt x="180" y="281"/>
                  </a:lnTo>
                  <a:lnTo>
                    <a:pt x="187" y="281"/>
                  </a:lnTo>
                  <a:lnTo>
                    <a:pt x="194" y="280"/>
                  </a:lnTo>
                  <a:lnTo>
                    <a:pt x="194" y="250"/>
                  </a:lnTo>
                  <a:lnTo>
                    <a:pt x="188" y="251"/>
                  </a:lnTo>
                  <a:lnTo>
                    <a:pt x="184" y="251"/>
                  </a:lnTo>
                  <a:lnTo>
                    <a:pt x="179" y="251"/>
                  </a:lnTo>
                  <a:lnTo>
                    <a:pt x="174" y="252"/>
                  </a:lnTo>
                  <a:lnTo>
                    <a:pt x="171" y="252"/>
                  </a:lnTo>
                  <a:lnTo>
                    <a:pt x="168" y="252"/>
                  </a:lnTo>
                  <a:lnTo>
                    <a:pt x="164" y="252"/>
                  </a:lnTo>
                  <a:lnTo>
                    <a:pt x="161" y="252"/>
                  </a:lnTo>
                  <a:lnTo>
                    <a:pt x="143" y="252"/>
                  </a:lnTo>
                  <a:lnTo>
                    <a:pt x="130" y="249"/>
                  </a:lnTo>
                  <a:lnTo>
                    <a:pt x="125" y="246"/>
                  </a:lnTo>
                  <a:lnTo>
                    <a:pt x="120" y="244"/>
                  </a:lnTo>
                  <a:lnTo>
                    <a:pt x="117" y="242"/>
                  </a:lnTo>
                  <a:lnTo>
                    <a:pt x="114" y="239"/>
                  </a:lnTo>
                  <a:lnTo>
                    <a:pt x="109" y="231"/>
                  </a:lnTo>
                  <a:lnTo>
                    <a:pt x="107" y="222"/>
                  </a:lnTo>
                  <a:lnTo>
                    <a:pt x="106" y="210"/>
                  </a:lnTo>
                  <a:lnTo>
                    <a:pt x="106" y="198"/>
                  </a:lnTo>
                  <a:lnTo>
                    <a:pt x="106" y="94"/>
                  </a:lnTo>
                  <a:lnTo>
                    <a:pt x="194" y="94"/>
                  </a:lnTo>
                  <a:lnTo>
                    <a:pt x="194" y="64"/>
                  </a:lnTo>
                  <a:lnTo>
                    <a:pt x="106" y="64"/>
                  </a:lnTo>
                  <a:lnTo>
                    <a:pt x="106" y="0"/>
                  </a:lnTo>
                  <a:lnTo>
                    <a:pt x="67" y="0"/>
                  </a:lnTo>
                  <a:lnTo>
                    <a:pt x="67" y="64"/>
                  </a:lnTo>
                  <a:lnTo>
                    <a:pt x="0" y="64"/>
                  </a:lnTo>
                  <a:lnTo>
                    <a:pt x="0" y="94"/>
                  </a:lnTo>
                  <a:lnTo>
                    <a:pt x="67" y="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2367" y="2390"/>
              <a:ext cx="22" cy="71"/>
            </a:xfrm>
            <a:custGeom>
              <a:rect b="b" l="l" r="r" t="t"/>
              <a:pathLst>
                <a:path extrusionOk="0" h="285" w="112">
                  <a:moveTo>
                    <a:pt x="72" y="285"/>
                  </a:moveTo>
                  <a:lnTo>
                    <a:pt x="112" y="285"/>
                  </a:lnTo>
                  <a:lnTo>
                    <a:pt x="112" y="0"/>
                  </a:lnTo>
                  <a:lnTo>
                    <a:pt x="82" y="0"/>
                  </a:lnTo>
                  <a:lnTo>
                    <a:pt x="80" y="14"/>
                  </a:lnTo>
                  <a:lnTo>
                    <a:pt x="75" y="26"/>
                  </a:lnTo>
                  <a:lnTo>
                    <a:pt x="72" y="30"/>
                  </a:lnTo>
                  <a:lnTo>
                    <a:pt x="68" y="35"/>
                  </a:lnTo>
                  <a:lnTo>
                    <a:pt x="64" y="38"/>
                  </a:lnTo>
                  <a:lnTo>
                    <a:pt x="59" y="42"/>
                  </a:lnTo>
                  <a:lnTo>
                    <a:pt x="47" y="48"/>
                  </a:lnTo>
                  <a:lnTo>
                    <a:pt x="35" y="52"/>
                  </a:lnTo>
                  <a:lnTo>
                    <a:pt x="19" y="54"/>
                  </a:lnTo>
                  <a:lnTo>
                    <a:pt x="0" y="55"/>
                  </a:lnTo>
                  <a:lnTo>
                    <a:pt x="0" y="84"/>
                  </a:lnTo>
                  <a:lnTo>
                    <a:pt x="72" y="84"/>
                  </a:lnTo>
                  <a:lnTo>
                    <a:pt x="72" y="2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2152" y="2512"/>
              <a:ext cx="40" cy="71"/>
            </a:xfrm>
            <a:custGeom>
              <a:rect b="b" l="l" r="r" t="t"/>
              <a:pathLst>
                <a:path extrusionOk="0" h="281" w="199">
                  <a:moveTo>
                    <a:pt x="0" y="281"/>
                  </a:moveTo>
                  <a:lnTo>
                    <a:pt x="42" y="281"/>
                  </a:lnTo>
                  <a:lnTo>
                    <a:pt x="42" y="163"/>
                  </a:lnTo>
                  <a:lnTo>
                    <a:pt x="86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2" y="162"/>
                  </a:lnTo>
                  <a:lnTo>
                    <a:pt x="132" y="161"/>
                  </a:lnTo>
                  <a:lnTo>
                    <a:pt x="141" y="159"/>
                  </a:lnTo>
                  <a:lnTo>
                    <a:pt x="151" y="155"/>
                  </a:lnTo>
                  <a:lnTo>
                    <a:pt x="160" y="151"/>
                  </a:lnTo>
                  <a:lnTo>
                    <a:pt x="168" y="146"/>
                  </a:lnTo>
                  <a:lnTo>
                    <a:pt x="175" y="140"/>
                  </a:lnTo>
                  <a:lnTo>
                    <a:pt x="182" y="134"/>
                  </a:lnTo>
                  <a:lnTo>
                    <a:pt x="187" y="127"/>
                  </a:lnTo>
                  <a:lnTo>
                    <a:pt x="191" y="118"/>
                  </a:lnTo>
                  <a:lnTo>
                    <a:pt x="194" y="110"/>
                  </a:lnTo>
                  <a:lnTo>
                    <a:pt x="198" y="101"/>
                  </a:lnTo>
                  <a:lnTo>
                    <a:pt x="199" y="91"/>
                  </a:lnTo>
                  <a:lnTo>
                    <a:pt x="199" y="81"/>
                  </a:lnTo>
                  <a:lnTo>
                    <a:pt x="199" y="71"/>
                  </a:lnTo>
                  <a:lnTo>
                    <a:pt x="198" y="62"/>
                  </a:lnTo>
                  <a:lnTo>
                    <a:pt x="195" y="54"/>
                  </a:lnTo>
                  <a:lnTo>
                    <a:pt x="193" y="45"/>
                  </a:lnTo>
                  <a:lnTo>
                    <a:pt x="190" y="39"/>
                  </a:lnTo>
                  <a:lnTo>
                    <a:pt x="186" y="31"/>
                  </a:lnTo>
                  <a:lnTo>
                    <a:pt x="182" y="26"/>
                  </a:lnTo>
                  <a:lnTo>
                    <a:pt x="176" y="20"/>
                  </a:lnTo>
                  <a:lnTo>
                    <a:pt x="169" y="15"/>
                  </a:lnTo>
                  <a:lnTo>
                    <a:pt x="162" y="11"/>
                  </a:lnTo>
                  <a:lnTo>
                    <a:pt x="155" y="7"/>
                  </a:lnTo>
                  <a:lnTo>
                    <a:pt x="147" y="5"/>
                  </a:lnTo>
                  <a:lnTo>
                    <a:pt x="138" y="3"/>
                  </a:lnTo>
                  <a:lnTo>
                    <a:pt x="128" y="1"/>
                  </a:lnTo>
                  <a:lnTo>
                    <a:pt x="117" y="0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4" y="0"/>
                  </a:lnTo>
                  <a:lnTo>
                    <a:pt x="92" y="0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0" y="0"/>
                  </a:lnTo>
                  <a:lnTo>
                    <a:pt x="0" y="281"/>
                  </a:lnTo>
                  <a:close/>
                  <a:moveTo>
                    <a:pt x="95" y="33"/>
                  </a:moveTo>
                  <a:lnTo>
                    <a:pt x="110" y="35"/>
                  </a:lnTo>
                  <a:lnTo>
                    <a:pt x="122" y="37"/>
                  </a:lnTo>
                  <a:lnTo>
                    <a:pt x="133" y="39"/>
                  </a:lnTo>
                  <a:lnTo>
                    <a:pt x="141" y="44"/>
                  </a:lnTo>
                  <a:lnTo>
                    <a:pt x="145" y="46"/>
                  </a:lnTo>
                  <a:lnTo>
                    <a:pt x="148" y="50"/>
                  </a:lnTo>
                  <a:lnTo>
                    <a:pt x="151" y="54"/>
                  </a:lnTo>
                  <a:lnTo>
                    <a:pt x="153" y="58"/>
                  </a:lnTo>
                  <a:lnTo>
                    <a:pt x="156" y="68"/>
                  </a:lnTo>
                  <a:lnTo>
                    <a:pt x="156" y="81"/>
                  </a:lnTo>
                  <a:lnTo>
                    <a:pt x="156" y="94"/>
                  </a:lnTo>
                  <a:lnTo>
                    <a:pt x="153" y="104"/>
                  </a:lnTo>
                  <a:lnTo>
                    <a:pt x="151" y="109"/>
                  </a:lnTo>
                  <a:lnTo>
                    <a:pt x="147" y="112"/>
                  </a:lnTo>
                  <a:lnTo>
                    <a:pt x="145" y="116"/>
                  </a:lnTo>
                  <a:lnTo>
                    <a:pt x="140" y="118"/>
                  </a:lnTo>
                  <a:lnTo>
                    <a:pt x="131" y="122"/>
                  </a:lnTo>
                  <a:lnTo>
                    <a:pt x="121" y="126"/>
                  </a:lnTo>
                  <a:lnTo>
                    <a:pt x="107" y="128"/>
                  </a:lnTo>
                  <a:lnTo>
                    <a:pt x="92" y="128"/>
                  </a:lnTo>
                  <a:lnTo>
                    <a:pt x="42" y="128"/>
                  </a:lnTo>
                  <a:lnTo>
                    <a:pt x="42" y="33"/>
                  </a:lnTo>
                  <a:lnTo>
                    <a:pt x="95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205" y="2528"/>
              <a:ext cx="37" cy="57"/>
            </a:xfrm>
            <a:custGeom>
              <a:rect b="b" l="l" r="r" t="t"/>
              <a:pathLst>
                <a:path extrusionOk="0" h="227" w="184">
                  <a:moveTo>
                    <a:pt x="184" y="0"/>
                  </a:moveTo>
                  <a:lnTo>
                    <a:pt x="145" y="0"/>
                  </a:lnTo>
                  <a:lnTo>
                    <a:pt x="145" y="126"/>
                  </a:lnTo>
                  <a:lnTo>
                    <a:pt x="144" y="142"/>
                  </a:lnTo>
                  <a:lnTo>
                    <a:pt x="142" y="155"/>
                  </a:lnTo>
                  <a:lnTo>
                    <a:pt x="139" y="161"/>
                  </a:lnTo>
                  <a:lnTo>
                    <a:pt x="136" y="166"/>
                  </a:lnTo>
                  <a:lnTo>
                    <a:pt x="132" y="172"/>
                  </a:lnTo>
                  <a:lnTo>
                    <a:pt x="129" y="176"/>
                  </a:lnTo>
                  <a:lnTo>
                    <a:pt x="124" y="180"/>
                  </a:lnTo>
                  <a:lnTo>
                    <a:pt x="120" y="184"/>
                  </a:lnTo>
                  <a:lnTo>
                    <a:pt x="114" y="187"/>
                  </a:lnTo>
                  <a:lnTo>
                    <a:pt x="109" y="190"/>
                  </a:lnTo>
                  <a:lnTo>
                    <a:pt x="103" y="192"/>
                  </a:lnTo>
                  <a:lnTo>
                    <a:pt x="97" y="193"/>
                  </a:lnTo>
                  <a:lnTo>
                    <a:pt x="90" y="194"/>
                  </a:lnTo>
                  <a:lnTo>
                    <a:pt x="83" y="194"/>
                  </a:lnTo>
                  <a:lnTo>
                    <a:pt x="72" y="193"/>
                  </a:lnTo>
                  <a:lnTo>
                    <a:pt x="62" y="191"/>
                  </a:lnTo>
                  <a:lnTo>
                    <a:pt x="54" y="187"/>
                  </a:lnTo>
                  <a:lnTo>
                    <a:pt x="49" y="180"/>
                  </a:lnTo>
                  <a:lnTo>
                    <a:pt x="44" y="173"/>
                  </a:lnTo>
                  <a:lnTo>
                    <a:pt x="42" y="164"/>
                  </a:lnTo>
                  <a:lnTo>
                    <a:pt x="39" y="153"/>
                  </a:lnTo>
                  <a:lnTo>
                    <a:pt x="39" y="141"/>
                  </a:lnTo>
                  <a:lnTo>
                    <a:pt x="39" y="140"/>
                  </a:lnTo>
                  <a:lnTo>
                    <a:pt x="39" y="139"/>
                  </a:lnTo>
                  <a:lnTo>
                    <a:pt x="39" y="138"/>
                  </a:lnTo>
                  <a:lnTo>
                    <a:pt x="39" y="137"/>
                  </a:lnTo>
                  <a:lnTo>
                    <a:pt x="39" y="0"/>
                  </a:lnTo>
                  <a:lnTo>
                    <a:pt x="0" y="0"/>
                  </a:lnTo>
                  <a:lnTo>
                    <a:pt x="0" y="133"/>
                  </a:lnTo>
                  <a:lnTo>
                    <a:pt x="0" y="142"/>
                  </a:lnTo>
                  <a:lnTo>
                    <a:pt x="0" y="152"/>
                  </a:lnTo>
                  <a:lnTo>
                    <a:pt x="0" y="160"/>
                  </a:lnTo>
                  <a:lnTo>
                    <a:pt x="2" y="169"/>
                  </a:lnTo>
                  <a:lnTo>
                    <a:pt x="3" y="176"/>
                  </a:lnTo>
                  <a:lnTo>
                    <a:pt x="4" y="183"/>
                  </a:lnTo>
                  <a:lnTo>
                    <a:pt x="6" y="190"/>
                  </a:lnTo>
                  <a:lnTo>
                    <a:pt x="11" y="197"/>
                  </a:lnTo>
                  <a:lnTo>
                    <a:pt x="15" y="204"/>
                  </a:lnTo>
                  <a:lnTo>
                    <a:pt x="21" y="210"/>
                  </a:lnTo>
                  <a:lnTo>
                    <a:pt x="28" y="214"/>
                  </a:lnTo>
                  <a:lnTo>
                    <a:pt x="36" y="218"/>
                  </a:lnTo>
                  <a:lnTo>
                    <a:pt x="45" y="223"/>
                  </a:lnTo>
                  <a:lnTo>
                    <a:pt x="54" y="225"/>
                  </a:lnTo>
                  <a:lnTo>
                    <a:pt x="65" y="226"/>
                  </a:lnTo>
                  <a:lnTo>
                    <a:pt x="77" y="227"/>
                  </a:lnTo>
                  <a:lnTo>
                    <a:pt x="89" y="226"/>
                  </a:lnTo>
                  <a:lnTo>
                    <a:pt x="99" y="224"/>
                  </a:lnTo>
                  <a:lnTo>
                    <a:pt x="109" y="221"/>
                  </a:lnTo>
                  <a:lnTo>
                    <a:pt x="119" y="216"/>
                  </a:lnTo>
                  <a:lnTo>
                    <a:pt x="127" y="210"/>
                  </a:lnTo>
                  <a:lnTo>
                    <a:pt x="135" y="204"/>
                  </a:lnTo>
                  <a:lnTo>
                    <a:pt x="142" y="195"/>
                  </a:lnTo>
                  <a:lnTo>
                    <a:pt x="147" y="186"/>
                  </a:lnTo>
                  <a:lnTo>
                    <a:pt x="147" y="218"/>
                  </a:lnTo>
                  <a:lnTo>
                    <a:pt x="184" y="218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2259" y="2526"/>
              <a:ext cx="36" cy="57"/>
            </a:xfrm>
            <a:custGeom>
              <a:rect b="b" l="l" r="r" t="t"/>
              <a:pathLst>
                <a:path extrusionOk="0" h="225" w="184">
                  <a:moveTo>
                    <a:pt x="0" y="225"/>
                  </a:moveTo>
                  <a:lnTo>
                    <a:pt x="39" y="225"/>
                  </a:lnTo>
                  <a:lnTo>
                    <a:pt x="39" y="99"/>
                  </a:lnTo>
                  <a:lnTo>
                    <a:pt x="40" y="84"/>
                  </a:lnTo>
                  <a:lnTo>
                    <a:pt x="43" y="71"/>
                  </a:lnTo>
                  <a:lnTo>
                    <a:pt x="46" y="64"/>
                  </a:lnTo>
                  <a:lnTo>
                    <a:pt x="49" y="59"/>
                  </a:lnTo>
                  <a:lnTo>
                    <a:pt x="52" y="54"/>
                  </a:lnTo>
                  <a:lnTo>
                    <a:pt x="56" y="50"/>
                  </a:lnTo>
                  <a:lnTo>
                    <a:pt x="60" y="45"/>
                  </a:lnTo>
                  <a:lnTo>
                    <a:pt x="65" y="42"/>
                  </a:lnTo>
                  <a:lnTo>
                    <a:pt x="70" y="39"/>
                  </a:lnTo>
                  <a:lnTo>
                    <a:pt x="75" y="36"/>
                  </a:lnTo>
                  <a:lnTo>
                    <a:pt x="81" y="35"/>
                  </a:lnTo>
                  <a:lnTo>
                    <a:pt x="88" y="33"/>
                  </a:lnTo>
                  <a:lnTo>
                    <a:pt x="95" y="32"/>
                  </a:lnTo>
                  <a:lnTo>
                    <a:pt x="102" y="32"/>
                  </a:lnTo>
                  <a:lnTo>
                    <a:pt x="113" y="33"/>
                  </a:lnTo>
                  <a:lnTo>
                    <a:pt x="124" y="36"/>
                  </a:lnTo>
                  <a:lnTo>
                    <a:pt x="127" y="38"/>
                  </a:lnTo>
                  <a:lnTo>
                    <a:pt x="130" y="40"/>
                  </a:lnTo>
                  <a:lnTo>
                    <a:pt x="134" y="43"/>
                  </a:lnTo>
                  <a:lnTo>
                    <a:pt x="136" y="46"/>
                  </a:lnTo>
                  <a:lnTo>
                    <a:pt x="141" y="55"/>
                  </a:lnTo>
                  <a:lnTo>
                    <a:pt x="143" y="64"/>
                  </a:lnTo>
                  <a:lnTo>
                    <a:pt x="144" y="76"/>
                  </a:lnTo>
                  <a:lnTo>
                    <a:pt x="145" y="90"/>
                  </a:lnTo>
                  <a:lnTo>
                    <a:pt x="145" y="225"/>
                  </a:lnTo>
                  <a:lnTo>
                    <a:pt x="184" y="225"/>
                  </a:lnTo>
                  <a:lnTo>
                    <a:pt x="184" y="93"/>
                  </a:lnTo>
                  <a:lnTo>
                    <a:pt x="184" y="83"/>
                  </a:lnTo>
                  <a:lnTo>
                    <a:pt x="184" y="74"/>
                  </a:lnTo>
                  <a:lnTo>
                    <a:pt x="183" y="65"/>
                  </a:lnTo>
                  <a:lnTo>
                    <a:pt x="183" y="58"/>
                  </a:lnTo>
                  <a:lnTo>
                    <a:pt x="182" y="50"/>
                  </a:lnTo>
                  <a:lnTo>
                    <a:pt x="180" y="43"/>
                  </a:lnTo>
                  <a:lnTo>
                    <a:pt x="178" y="36"/>
                  </a:lnTo>
                  <a:lnTo>
                    <a:pt x="174" y="29"/>
                  </a:lnTo>
                  <a:lnTo>
                    <a:pt x="170" y="22"/>
                  </a:lnTo>
                  <a:lnTo>
                    <a:pt x="164" y="17"/>
                  </a:lnTo>
                  <a:lnTo>
                    <a:pt x="157" y="11"/>
                  </a:lnTo>
                  <a:lnTo>
                    <a:pt x="149" y="7"/>
                  </a:lnTo>
                  <a:lnTo>
                    <a:pt x="140" y="4"/>
                  </a:lnTo>
                  <a:lnTo>
                    <a:pt x="130" y="2"/>
                  </a:lnTo>
                  <a:lnTo>
                    <a:pt x="119" y="0"/>
                  </a:lnTo>
                  <a:lnTo>
                    <a:pt x="108" y="0"/>
                  </a:lnTo>
                  <a:lnTo>
                    <a:pt x="96" y="0"/>
                  </a:lnTo>
                  <a:lnTo>
                    <a:pt x="86" y="2"/>
                  </a:lnTo>
                  <a:lnTo>
                    <a:pt x="75" y="5"/>
                  </a:lnTo>
                  <a:lnTo>
                    <a:pt x="66" y="10"/>
                  </a:lnTo>
                  <a:lnTo>
                    <a:pt x="58" y="16"/>
                  </a:lnTo>
                  <a:lnTo>
                    <a:pt x="50" y="23"/>
                  </a:lnTo>
                  <a:lnTo>
                    <a:pt x="43" y="32"/>
                  </a:lnTo>
                  <a:lnTo>
                    <a:pt x="38" y="41"/>
                  </a:lnTo>
                  <a:lnTo>
                    <a:pt x="38" y="7"/>
                  </a:lnTo>
                  <a:lnTo>
                    <a:pt x="0" y="7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2309" y="2514"/>
              <a:ext cx="39" cy="71"/>
            </a:xfrm>
            <a:custGeom>
              <a:rect b="b" l="l" r="r" t="t"/>
              <a:pathLst>
                <a:path extrusionOk="0" h="283" w="194">
                  <a:moveTo>
                    <a:pt x="67" y="94"/>
                  </a:moveTo>
                  <a:lnTo>
                    <a:pt x="67" y="203"/>
                  </a:lnTo>
                  <a:lnTo>
                    <a:pt x="68" y="222"/>
                  </a:lnTo>
                  <a:lnTo>
                    <a:pt x="70" y="238"/>
                  </a:lnTo>
                  <a:lnTo>
                    <a:pt x="71" y="246"/>
                  </a:lnTo>
                  <a:lnTo>
                    <a:pt x="75" y="252"/>
                  </a:lnTo>
                  <a:lnTo>
                    <a:pt x="77" y="259"/>
                  </a:lnTo>
                  <a:lnTo>
                    <a:pt x="81" y="264"/>
                  </a:lnTo>
                  <a:lnTo>
                    <a:pt x="86" y="268"/>
                  </a:lnTo>
                  <a:lnTo>
                    <a:pt x="92" y="272"/>
                  </a:lnTo>
                  <a:lnTo>
                    <a:pt x="99" y="275"/>
                  </a:lnTo>
                  <a:lnTo>
                    <a:pt x="107" y="278"/>
                  </a:lnTo>
                  <a:lnTo>
                    <a:pt x="115" y="280"/>
                  </a:lnTo>
                  <a:lnTo>
                    <a:pt x="125" y="282"/>
                  </a:lnTo>
                  <a:lnTo>
                    <a:pt x="135" y="282"/>
                  </a:lnTo>
                  <a:lnTo>
                    <a:pt x="148" y="283"/>
                  </a:lnTo>
                  <a:lnTo>
                    <a:pt x="153" y="283"/>
                  </a:lnTo>
                  <a:lnTo>
                    <a:pt x="157" y="283"/>
                  </a:lnTo>
                  <a:lnTo>
                    <a:pt x="163" y="282"/>
                  </a:lnTo>
                  <a:lnTo>
                    <a:pt x="169" y="282"/>
                  </a:lnTo>
                  <a:lnTo>
                    <a:pt x="174" y="282"/>
                  </a:lnTo>
                  <a:lnTo>
                    <a:pt x="180" y="282"/>
                  </a:lnTo>
                  <a:lnTo>
                    <a:pt x="187" y="281"/>
                  </a:lnTo>
                  <a:lnTo>
                    <a:pt x="194" y="281"/>
                  </a:lnTo>
                  <a:lnTo>
                    <a:pt x="194" y="250"/>
                  </a:lnTo>
                  <a:lnTo>
                    <a:pt x="188" y="250"/>
                  </a:lnTo>
                  <a:lnTo>
                    <a:pt x="184" y="251"/>
                  </a:lnTo>
                  <a:lnTo>
                    <a:pt x="179" y="251"/>
                  </a:lnTo>
                  <a:lnTo>
                    <a:pt x="174" y="251"/>
                  </a:lnTo>
                  <a:lnTo>
                    <a:pt x="171" y="252"/>
                  </a:lnTo>
                  <a:lnTo>
                    <a:pt x="168" y="252"/>
                  </a:lnTo>
                  <a:lnTo>
                    <a:pt x="164" y="252"/>
                  </a:lnTo>
                  <a:lnTo>
                    <a:pt x="161" y="252"/>
                  </a:lnTo>
                  <a:lnTo>
                    <a:pt x="143" y="251"/>
                  </a:lnTo>
                  <a:lnTo>
                    <a:pt x="130" y="249"/>
                  </a:lnTo>
                  <a:lnTo>
                    <a:pt x="125" y="247"/>
                  </a:lnTo>
                  <a:lnTo>
                    <a:pt x="120" y="245"/>
                  </a:lnTo>
                  <a:lnTo>
                    <a:pt x="117" y="242"/>
                  </a:lnTo>
                  <a:lnTo>
                    <a:pt x="114" y="238"/>
                  </a:lnTo>
                  <a:lnTo>
                    <a:pt x="109" y="231"/>
                  </a:lnTo>
                  <a:lnTo>
                    <a:pt x="107" y="221"/>
                  </a:lnTo>
                  <a:lnTo>
                    <a:pt x="106" y="210"/>
                  </a:lnTo>
                  <a:lnTo>
                    <a:pt x="106" y="197"/>
                  </a:lnTo>
                  <a:lnTo>
                    <a:pt x="106" y="94"/>
                  </a:lnTo>
                  <a:lnTo>
                    <a:pt x="194" y="94"/>
                  </a:lnTo>
                  <a:lnTo>
                    <a:pt x="194" y="64"/>
                  </a:lnTo>
                  <a:lnTo>
                    <a:pt x="106" y="64"/>
                  </a:lnTo>
                  <a:lnTo>
                    <a:pt x="106" y="0"/>
                  </a:lnTo>
                  <a:lnTo>
                    <a:pt x="67" y="0"/>
                  </a:lnTo>
                  <a:lnTo>
                    <a:pt x="67" y="64"/>
                  </a:lnTo>
                  <a:lnTo>
                    <a:pt x="0" y="64"/>
                  </a:lnTo>
                  <a:lnTo>
                    <a:pt x="0" y="94"/>
                  </a:lnTo>
                  <a:lnTo>
                    <a:pt x="67" y="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2362" y="2512"/>
              <a:ext cx="42" cy="71"/>
            </a:xfrm>
            <a:custGeom>
              <a:rect b="b" l="l" r="r" t="t"/>
              <a:pathLst>
                <a:path extrusionOk="0" h="284" w="210">
                  <a:moveTo>
                    <a:pt x="0" y="284"/>
                  </a:moveTo>
                  <a:lnTo>
                    <a:pt x="210" y="284"/>
                  </a:lnTo>
                  <a:lnTo>
                    <a:pt x="210" y="249"/>
                  </a:lnTo>
                  <a:lnTo>
                    <a:pt x="44" y="249"/>
                  </a:lnTo>
                  <a:lnTo>
                    <a:pt x="47" y="240"/>
                  </a:lnTo>
                  <a:lnTo>
                    <a:pt x="53" y="230"/>
                  </a:lnTo>
                  <a:lnTo>
                    <a:pt x="61" y="222"/>
                  </a:lnTo>
                  <a:lnTo>
                    <a:pt x="69" y="214"/>
                  </a:lnTo>
                  <a:lnTo>
                    <a:pt x="79" y="207"/>
                  </a:lnTo>
                  <a:lnTo>
                    <a:pt x="91" y="200"/>
                  </a:lnTo>
                  <a:lnTo>
                    <a:pt x="103" y="193"/>
                  </a:lnTo>
                  <a:lnTo>
                    <a:pt x="118" y="186"/>
                  </a:lnTo>
                  <a:lnTo>
                    <a:pt x="143" y="173"/>
                  </a:lnTo>
                  <a:lnTo>
                    <a:pt x="159" y="166"/>
                  </a:lnTo>
                  <a:lnTo>
                    <a:pt x="173" y="156"/>
                  </a:lnTo>
                  <a:lnTo>
                    <a:pt x="185" y="147"/>
                  </a:lnTo>
                  <a:lnTo>
                    <a:pt x="194" y="135"/>
                  </a:lnTo>
                  <a:lnTo>
                    <a:pt x="201" y="124"/>
                  </a:lnTo>
                  <a:lnTo>
                    <a:pt x="205" y="112"/>
                  </a:lnTo>
                  <a:lnTo>
                    <a:pt x="209" y="99"/>
                  </a:lnTo>
                  <a:lnTo>
                    <a:pt x="210" y="84"/>
                  </a:lnTo>
                  <a:lnTo>
                    <a:pt x="209" y="76"/>
                  </a:lnTo>
                  <a:lnTo>
                    <a:pt x="208" y="66"/>
                  </a:lnTo>
                  <a:lnTo>
                    <a:pt x="205" y="58"/>
                  </a:lnTo>
                  <a:lnTo>
                    <a:pt x="202" y="50"/>
                  </a:lnTo>
                  <a:lnTo>
                    <a:pt x="198" y="43"/>
                  </a:lnTo>
                  <a:lnTo>
                    <a:pt x="194" y="35"/>
                  </a:lnTo>
                  <a:lnTo>
                    <a:pt x="188" y="29"/>
                  </a:lnTo>
                  <a:lnTo>
                    <a:pt x="182" y="24"/>
                  </a:lnTo>
                  <a:lnTo>
                    <a:pt x="174" y="18"/>
                  </a:lnTo>
                  <a:lnTo>
                    <a:pt x="167" y="13"/>
                  </a:lnTo>
                  <a:lnTo>
                    <a:pt x="159" y="10"/>
                  </a:lnTo>
                  <a:lnTo>
                    <a:pt x="150" y="7"/>
                  </a:lnTo>
                  <a:lnTo>
                    <a:pt x="141" y="4"/>
                  </a:lnTo>
                  <a:lnTo>
                    <a:pt x="131" y="2"/>
                  </a:lnTo>
                  <a:lnTo>
                    <a:pt x="120" y="0"/>
                  </a:lnTo>
                  <a:lnTo>
                    <a:pt x="109" y="0"/>
                  </a:lnTo>
                  <a:lnTo>
                    <a:pt x="97" y="0"/>
                  </a:lnTo>
                  <a:lnTo>
                    <a:pt x="86" y="3"/>
                  </a:lnTo>
                  <a:lnTo>
                    <a:pt x="76" y="5"/>
                  </a:lnTo>
                  <a:lnTo>
                    <a:pt x="65" y="8"/>
                  </a:lnTo>
                  <a:lnTo>
                    <a:pt x="56" y="11"/>
                  </a:lnTo>
                  <a:lnTo>
                    <a:pt x="48" y="16"/>
                  </a:lnTo>
                  <a:lnTo>
                    <a:pt x="40" y="22"/>
                  </a:lnTo>
                  <a:lnTo>
                    <a:pt x="33" y="28"/>
                  </a:lnTo>
                  <a:lnTo>
                    <a:pt x="26" y="34"/>
                  </a:lnTo>
                  <a:lnTo>
                    <a:pt x="21" y="43"/>
                  </a:lnTo>
                  <a:lnTo>
                    <a:pt x="16" y="51"/>
                  </a:lnTo>
                  <a:lnTo>
                    <a:pt x="13" y="60"/>
                  </a:lnTo>
                  <a:lnTo>
                    <a:pt x="9" y="69"/>
                  </a:lnTo>
                  <a:lnTo>
                    <a:pt x="8" y="80"/>
                  </a:lnTo>
                  <a:lnTo>
                    <a:pt x="7" y="92"/>
                  </a:lnTo>
                  <a:lnTo>
                    <a:pt x="7" y="103"/>
                  </a:lnTo>
                  <a:lnTo>
                    <a:pt x="47" y="103"/>
                  </a:lnTo>
                  <a:lnTo>
                    <a:pt x="47" y="95"/>
                  </a:lnTo>
                  <a:lnTo>
                    <a:pt x="47" y="87"/>
                  </a:lnTo>
                  <a:lnTo>
                    <a:pt x="48" y="80"/>
                  </a:lnTo>
                  <a:lnTo>
                    <a:pt x="50" y="74"/>
                  </a:lnTo>
                  <a:lnTo>
                    <a:pt x="53" y="67"/>
                  </a:lnTo>
                  <a:lnTo>
                    <a:pt x="55" y="62"/>
                  </a:lnTo>
                  <a:lnTo>
                    <a:pt x="58" y="57"/>
                  </a:lnTo>
                  <a:lnTo>
                    <a:pt x="62" y="52"/>
                  </a:lnTo>
                  <a:lnTo>
                    <a:pt x="66" y="48"/>
                  </a:lnTo>
                  <a:lnTo>
                    <a:pt x="71" y="44"/>
                  </a:lnTo>
                  <a:lnTo>
                    <a:pt x="76" y="42"/>
                  </a:lnTo>
                  <a:lnTo>
                    <a:pt x="81" y="39"/>
                  </a:lnTo>
                  <a:lnTo>
                    <a:pt x="87" y="36"/>
                  </a:lnTo>
                  <a:lnTo>
                    <a:pt x="93" y="35"/>
                  </a:lnTo>
                  <a:lnTo>
                    <a:pt x="100" y="34"/>
                  </a:lnTo>
                  <a:lnTo>
                    <a:pt x="107" y="34"/>
                  </a:lnTo>
                  <a:lnTo>
                    <a:pt x="120" y="35"/>
                  </a:lnTo>
                  <a:lnTo>
                    <a:pt x="132" y="38"/>
                  </a:lnTo>
                  <a:lnTo>
                    <a:pt x="142" y="42"/>
                  </a:lnTo>
                  <a:lnTo>
                    <a:pt x="151" y="48"/>
                  </a:lnTo>
                  <a:lnTo>
                    <a:pt x="158" y="56"/>
                  </a:lnTo>
                  <a:lnTo>
                    <a:pt x="164" y="64"/>
                  </a:lnTo>
                  <a:lnTo>
                    <a:pt x="166" y="74"/>
                  </a:lnTo>
                  <a:lnTo>
                    <a:pt x="167" y="84"/>
                  </a:lnTo>
                  <a:lnTo>
                    <a:pt x="167" y="94"/>
                  </a:lnTo>
                  <a:lnTo>
                    <a:pt x="165" y="103"/>
                  </a:lnTo>
                  <a:lnTo>
                    <a:pt x="162" y="111"/>
                  </a:lnTo>
                  <a:lnTo>
                    <a:pt x="157" y="119"/>
                  </a:lnTo>
                  <a:lnTo>
                    <a:pt x="150" y="125"/>
                  </a:lnTo>
                  <a:lnTo>
                    <a:pt x="142" y="133"/>
                  </a:lnTo>
                  <a:lnTo>
                    <a:pt x="133" y="139"/>
                  </a:lnTo>
                  <a:lnTo>
                    <a:pt x="123" y="145"/>
                  </a:lnTo>
                  <a:lnTo>
                    <a:pt x="97" y="158"/>
                  </a:lnTo>
                  <a:lnTo>
                    <a:pt x="73" y="170"/>
                  </a:lnTo>
                  <a:lnTo>
                    <a:pt x="54" y="183"/>
                  </a:lnTo>
                  <a:lnTo>
                    <a:pt x="45" y="189"/>
                  </a:lnTo>
                  <a:lnTo>
                    <a:pt x="37" y="196"/>
                  </a:lnTo>
                  <a:lnTo>
                    <a:pt x="30" y="203"/>
                  </a:lnTo>
                  <a:lnTo>
                    <a:pt x="23" y="210"/>
                  </a:lnTo>
                  <a:lnTo>
                    <a:pt x="17" y="218"/>
                  </a:lnTo>
                  <a:lnTo>
                    <a:pt x="13" y="226"/>
                  </a:lnTo>
                  <a:lnTo>
                    <a:pt x="9" y="235"/>
                  </a:lnTo>
                  <a:lnTo>
                    <a:pt x="6" y="243"/>
                  </a:lnTo>
                  <a:lnTo>
                    <a:pt x="2" y="253"/>
                  </a:lnTo>
                  <a:lnTo>
                    <a:pt x="1" y="263"/>
                  </a:lnTo>
                  <a:lnTo>
                    <a:pt x="0" y="274"/>
                  </a:lnTo>
                  <a:lnTo>
                    <a:pt x="0" y="2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2607" y="3603"/>
              <a:ext cx="44" cy="79"/>
            </a:xfrm>
            <a:custGeom>
              <a:rect b="b" l="l" r="r" t="t"/>
              <a:pathLst>
                <a:path extrusionOk="0" h="317" w="218">
                  <a:moveTo>
                    <a:pt x="196" y="0"/>
                  </a:moveTo>
                  <a:lnTo>
                    <a:pt x="196" y="105"/>
                  </a:lnTo>
                  <a:lnTo>
                    <a:pt x="188" y="105"/>
                  </a:lnTo>
                  <a:lnTo>
                    <a:pt x="187" y="98"/>
                  </a:lnTo>
                  <a:lnTo>
                    <a:pt x="184" y="90"/>
                  </a:lnTo>
                  <a:lnTo>
                    <a:pt x="183" y="84"/>
                  </a:lnTo>
                  <a:lnTo>
                    <a:pt x="181" y="78"/>
                  </a:lnTo>
                  <a:lnTo>
                    <a:pt x="179" y="72"/>
                  </a:lnTo>
                  <a:lnTo>
                    <a:pt x="176" y="67"/>
                  </a:lnTo>
                  <a:lnTo>
                    <a:pt x="174" y="62"/>
                  </a:lnTo>
                  <a:lnTo>
                    <a:pt x="172" y="56"/>
                  </a:lnTo>
                  <a:lnTo>
                    <a:pt x="168" y="52"/>
                  </a:lnTo>
                  <a:lnTo>
                    <a:pt x="166" y="48"/>
                  </a:lnTo>
                  <a:lnTo>
                    <a:pt x="161" y="45"/>
                  </a:lnTo>
                  <a:lnTo>
                    <a:pt x="158" y="40"/>
                  </a:lnTo>
                  <a:lnTo>
                    <a:pt x="153" y="37"/>
                  </a:lnTo>
                  <a:lnTo>
                    <a:pt x="150" y="34"/>
                  </a:lnTo>
                  <a:lnTo>
                    <a:pt x="144" y="31"/>
                  </a:lnTo>
                  <a:lnTo>
                    <a:pt x="140" y="29"/>
                  </a:lnTo>
                  <a:lnTo>
                    <a:pt x="134" y="26"/>
                  </a:lnTo>
                  <a:lnTo>
                    <a:pt x="129" y="24"/>
                  </a:lnTo>
                  <a:lnTo>
                    <a:pt x="124" y="22"/>
                  </a:lnTo>
                  <a:lnTo>
                    <a:pt x="119" y="20"/>
                  </a:lnTo>
                  <a:lnTo>
                    <a:pt x="113" y="19"/>
                  </a:lnTo>
                  <a:lnTo>
                    <a:pt x="107" y="18"/>
                  </a:lnTo>
                  <a:lnTo>
                    <a:pt x="102" y="18"/>
                  </a:lnTo>
                  <a:lnTo>
                    <a:pt x="96" y="18"/>
                  </a:lnTo>
                  <a:lnTo>
                    <a:pt x="90" y="18"/>
                  </a:lnTo>
                  <a:lnTo>
                    <a:pt x="84" y="19"/>
                  </a:lnTo>
                  <a:lnTo>
                    <a:pt x="79" y="20"/>
                  </a:lnTo>
                  <a:lnTo>
                    <a:pt x="73" y="21"/>
                  </a:lnTo>
                  <a:lnTo>
                    <a:pt x="68" y="24"/>
                  </a:lnTo>
                  <a:lnTo>
                    <a:pt x="64" y="26"/>
                  </a:lnTo>
                  <a:lnTo>
                    <a:pt x="59" y="29"/>
                  </a:lnTo>
                  <a:lnTo>
                    <a:pt x="55" y="32"/>
                  </a:lnTo>
                  <a:lnTo>
                    <a:pt x="51" y="36"/>
                  </a:lnTo>
                  <a:lnTo>
                    <a:pt x="48" y="39"/>
                  </a:lnTo>
                  <a:lnTo>
                    <a:pt x="44" y="44"/>
                  </a:lnTo>
                  <a:lnTo>
                    <a:pt x="42" y="47"/>
                  </a:lnTo>
                  <a:lnTo>
                    <a:pt x="41" y="51"/>
                  </a:lnTo>
                  <a:lnTo>
                    <a:pt x="40" y="55"/>
                  </a:lnTo>
                  <a:lnTo>
                    <a:pt x="39" y="60"/>
                  </a:lnTo>
                  <a:lnTo>
                    <a:pt x="39" y="65"/>
                  </a:lnTo>
                  <a:lnTo>
                    <a:pt x="39" y="68"/>
                  </a:lnTo>
                  <a:lnTo>
                    <a:pt x="39" y="71"/>
                  </a:lnTo>
                  <a:lnTo>
                    <a:pt x="40" y="74"/>
                  </a:lnTo>
                  <a:lnTo>
                    <a:pt x="41" y="78"/>
                  </a:lnTo>
                  <a:lnTo>
                    <a:pt x="42" y="81"/>
                  </a:lnTo>
                  <a:lnTo>
                    <a:pt x="44" y="84"/>
                  </a:lnTo>
                  <a:lnTo>
                    <a:pt x="47" y="87"/>
                  </a:lnTo>
                  <a:lnTo>
                    <a:pt x="49" y="89"/>
                  </a:lnTo>
                  <a:lnTo>
                    <a:pt x="54" y="95"/>
                  </a:lnTo>
                  <a:lnTo>
                    <a:pt x="59" y="99"/>
                  </a:lnTo>
                  <a:lnTo>
                    <a:pt x="66" y="104"/>
                  </a:lnTo>
                  <a:lnTo>
                    <a:pt x="74" y="109"/>
                  </a:lnTo>
                  <a:lnTo>
                    <a:pt x="83" y="115"/>
                  </a:lnTo>
                  <a:lnTo>
                    <a:pt x="95" y="121"/>
                  </a:lnTo>
                  <a:lnTo>
                    <a:pt x="106" y="127"/>
                  </a:lnTo>
                  <a:lnTo>
                    <a:pt x="120" y="135"/>
                  </a:lnTo>
                  <a:lnTo>
                    <a:pt x="132" y="140"/>
                  </a:lnTo>
                  <a:lnTo>
                    <a:pt x="142" y="145"/>
                  </a:lnTo>
                  <a:lnTo>
                    <a:pt x="151" y="150"/>
                  </a:lnTo>
                  <a:lnTo>
                    <a:pt x="159" y="155"/>
                  </a:lnTo>
                  <a:lnTo>
                    <a:pt x="166" y="159"/>
                  </a:lnTo>
                  <a:lnTo>
                    <a:pt x="173" y="162"/>
                  </a:lnTo>
                  <a:lnTo>
                    <a:pt x="179" y="167"/>
                  </a:lnTo>
                  <a:lnTo>
                    <a:pt x="183" y="170"/>
                  </a:lnTo>
                  <a:lnTo>
                    <a:pt x="187" y="173"/>
                  </a:lnTo>
                  <a:lnTo>
                    <a:pt x="191" y="176"/>
                  </a:lnTo>
                  <a:lnTo>
                    <a:pt x="195" y="179"/>
                  </a:lnTo>
                  <a:lnTo>
                    <a:pt x="198" y="182"/>
                  </a:lnTo>
                  <a:lnTo>
                    <a:pt x="202" y="187"/>
                  </a:lnTo>
                  <a:lnTo>
                    <a:pt x="204" y="190"/>
                  </a:lnTo>
                  <a:lnTo>
                    <a:pt x="206" y="194"/>
                  </a:lnTo>
                  <a:lnTo>
                    <a:pt x="208" y="198"/>
                  </a:lnTo>
                  <a:lnTo>
                    <a:pt x="211" y="203"/>
                  </a:lnTo>
                  <a:lnTo>
                    <a:pt x="213" y="207"/>
                  </a:lnTo>
                  <a:lnTo>
                    <a:pt x="214" y="211"/>
                  </a:lnTo>
                  <a:lnTo>
                    <a:pt x="215" y="215"/>
                  </a:lnTo>
                  <a:lnTo>
                    <a:pt x="216" y="220"/>
                  </a:lnTo>
                  <a:lnTo>
                    <a:pt x="218" y="224"/>
                  </a:lnTo>
                  <a:lnTo>
                    <a:pt x="218" y="228"/>
                  </a:lnTo>
                  <a:lnTo>
                    <a:pt x="218" y="232"/>
                  </a:lnTo>
                  <a:lnTo>
                    <a:pt x="218" y="241"/>
                  </a:lnTo>
                  <a:lnTo>
                    <a:pt x="216" y="249"/>
                  </a:lnTo>
                  <a:lnTo>
                    <a:pt x="214" y="258"/>
                  </a:lnTo>
                  <a:lnTo>
                    <a:pt x="211" y="265"/>
                  </a:lnTo>
                  <a:lnTo>
                    <a:pt x="207" y="273"/>
                  </a:lnTo>
                  <a:lnTo>
                    <a:pt x="202" y="279"/>
                  </a:lnTo>
                  <a:lnTo>
                    <a:pt x="196" y="285"/>
                  </a:lnTo>
                  <a:lnTo>
                    <a:pt x="189" y="292"/>
                  </a:lnTo>
                  <a:lnTo>
                    <a:pt x="182" y="298"/>
                  </a:lnTo>
                  <a:lnTo>
                    <a:pt x="174" y="303"/>
                  </a:lnTo>
                  <a:lnTo>
                    <a:pt x="165" y="307"/>
                  </a:lnTo>
                  <a:lnTo>
                    <a:pt x="156" y="311"/>
                  </a:lnTo>
                  <a:lnTo>
                    <a:pt x="146" y="314"/>
                  </a:lnTo>
                  <a:lnTo>
                    <a:pt x="136" y="316"/>
                  </a:lnTo>
                  <a:lnTo>
                    <a:pt x="126" y="317"/>
                  </a:lnTo>
                  <a:lnTo>
                    <a:pt x="114" y="317"/>
                  </a:lnTo>
                  <a:lnTo>
                    <a:pt x="111" y="317"/>
                  </a:lnTo>
                  <a:lnTo>
                    <a:pt x="107" y="317"/>
                  </a:lnTo>
                  <a:lnTo>
                    <a:pt x="104" y="317"/>
                  </a:lnTo>
                  <a:lnTo>
                    <a:pt x="101" y="317"/>
                  </a:lnTo>
                  <a:lnTo>
                    <a:pt x="97" y="316"/>
                  </a:lnTo>
                  <a:lnTo>
                    <a:pt x="94" y="316"/>
                  </a:lnTo>
                  <a:lnTo>
                    <a:pt x="91" y="316"/>
                  </a:lnTo>
                  <a:lnTo>
                    <a:pt x="88" y="315"/>
                  </a:lnTo>
                  <a:lnTo>
                    <a:pt x="86" y="315"/>
                  </a:lnTo>
                  <a:lnTo>
                    <a:pt x="83" y="314"/>
                  </a:lnTo>
                  <a:lnTo>
                    <a:pt x="80" y="314"/>
                  </a:lnTo>
                  <a:lnTo>
                    <a:pt x="76" y="313"/>
                  </a:lnTo>
                  <a:lnTo>
                    <a:pt x="72" y="312"/>
                  </a:lnTo>
                  <a:lnTo>
                    <a:pt x="67" y="310"/>
                  </a:lnTo>
                  <a:lnTo>
                    <a:pt x="63" y="309"/>
                  </a:lnTo>
                  <a:lnTo>
                    <a:pt x="57" y="306"/>
                  </a:lnTo>
                  <a:lnTo>
                    <a:pt x="51" y="305"/>
                  </a:lnTo>
                  <a:lnTo>
                    <a:pt x="45" y="304"/>
                  </a:lnTo>
                  <a:lnTo>
                    <a:pt x="41" y="302"/>
                  </a:lnTo>
                  <a:lnTo>
                    <a:pt x="37" y="301"/>
                  </a:lnTo>
                  <a:lnTo>
                    <a:pt x="34" y="301"/>
                  </a:lnTo>
                  <a:lnTo>
                    <a:pt x="31" y="300"/>
                  </a:lnTo>
                  <a:lnTo>
                    <a:pt x="28" y="300"/>
                  </a:lnTo>
                  <a:lnTo>
                    <a:pt x="27" y="300"/>
                  </a:lnTo>
                  <a:lnTo>
                    <a:pt x="25" y="300"/>
                  </a:lnTo>
                  <a:lnTo>
                    <a:pt x="24" y="300"/>
                  </a:lnTo>
                  <a:lnTo>
                    <a:pt x="23" y="300"/>
                  </a:lnTo>
                  <a:lnTo>
                    <a:pt x="21" y="301"/>
                  </a:lnTo>
                  <a:lnTo>
                    <a:pt x="20" y="301"/>
                  </a:lnTo>
                  <a:lnTo>
                    <a:pt x="19" y="302"/>
                  </a:lnTo>
                  <a:lnTo>
                    <a:pt x="18" y="302"/>
                  </a:lnTo>
                  <a:lnTo>
                    <a:pt x="17" y="303"/>
                  </a:lnTo>
                  <a:lnTo>
                    <a:pt x="17" y="304"/>
                  </a:lnTo>
                  <a:lnTo>
                    <a:pt x="16" y="305"/>
                  </a:lnTo>
                  <a:lnTo>
                    <a:pt x="14" y="306"/>
                  </a:lnTo>
                  <a:lnTo>
                    <a:pt x="14" y="309"/>
                  </a:lnTo>
                  <a:lnTo>
                    <a:pt x="13" y="311"/>
                  </a:lnTo>
                  <a:lnTo>
                    <a:pt x="13" y="312"/>
                  </a:lnTo>
                  <a:lnTo>
                    <a:pt x="12" y="315"/>
                  </a:lnTo>
                  <a:lnTo>
                    <a:pt x="12" y="317"/>
                  </a:lnTo>
                  <a:lnTo>
                    <a:pt x="3" y="317"/>
                  </a:lnTo>
                  <a:lnTo>
                    <a:pt x="3" y="213"/>
                  </a:lnTo>
                  <a:lnTo>
                    <a:pt x="12" y="213"/>
                  </a:lnTo>
                  <a:lnTo>
                    <a:pt x="13" y="221"/>
                  </a:lnTo>
                  <a:lnTo>
                    <a:pt x="16" y="228"/>
                  </a:lnTo>
                  <a:lnTo>
                    <a:pt x="17" y="235"/>
                  </a:lnTo>
                  <a:lnTo>
                    <a:pt x="19" y="242"/>
                  </a:lnTo>
                  <a:lnTo>
                    <a:pt x="21" y="247"/>
                  </a:lnTo>
                  <a:lnTo>
                    <a:pt x="24" y="252"/>
                  </a:lnTo>
                  <a:lnTo>
                    <a:pt x="26" y="258"/>
                  </a:lnTo>
                  <a:lnTo>
                    <a:pt x="29" y="262"/>
                  </a:lnTo>
                  <a:lnTo>
                    <a:pt x="32" y="266"/>
                  </a:lnTo>
                  <a:lnTo>
                    <a:pt x="35" y="269"/>
                  </a:lnTo>
                  <a:lnTo>
                    <a:pt x="39" y="274"/>
                  </a:lnTo>
                  <a:lnTo>
                    <a:pt x="42" y="277"/>
                  </a:lnTo>
                  <a:lnTo>
                    <a:pt x="47" y="280"/>
                  </a:lnTo>
                  <a:lnTo>
                    <a:pt x="51" y="283"/>
                  </a:lnTo>
                  <a:lnTo>
                    <a:pt x="56" y="286"/>
                  </a:lnTo>
                  <a:lnTo>
                    <a:pt x="62" y="288"/>
                  </a:lnTo>
                  <a:lnTo>
                    <a:pt x="67" y="292"/>
                  </a:lnTo>
                  <a:lnTo>
                    <a:pt x="73" y="294"/>
                  </a:lnTo>
                  <a:lnTo>
                    <a:pt x="79" y="296"/>
                  </a:lnTo>
                  <a:lnTo>
                    <a:pt x="84" y="297"/>
                  </a:lnTo>
                  <a:lnTo>
                    <a:pt x="90" y="298"/>
                  </a:lnTo>
                  <a:lnTo>
                    <a:pt x="97" y="299"/>
                  </a:lnTo>
                  <a:lnTo>
                    <a:pt x="103" y="299"/>
                  </a:lnTo>
                  <a:lnTo>
                    <a:pt x="110" y="300"/>
                  </a:lnTo>
                  <a:lnTo>
                    <a:pt x="117" y="299"/>
                  </a:lnTo>
                  <a:lnTo>
                    <a:pt x="124" y="299"/>
                  </a:lnTo>
                  <a:lnTo>
                    <a:pt x="130" y="298"/>
                  </a:lnTo>
                  <a:lnTo>
                    <a:pt x="136" y="296"/>
                  </a:lnTo>
                  <a:lnTo>
                    <a:pt x="142" y="294"/>
                  </a:lnTo>
                  <a:lnTo>
                    <a:pt x="148" y="292"/>
                  </a:lnTo>
                  <a:lnTo>
                    <a:pt x="153" y="288"/>
                  </a:lnTo>
                  <a:lnTo>
                    <a:pt x="158" y="285"/>
                  </a:lnTo>
                  <a:lnTo>
                    <a:pt x="161" y="281"/>
                  </a:lnTo>
                  <a:lnTo>
                    <a:pt x="165" y="277"/>
                  </a:lnTo>
                  <a:lnTo>
                    <a:pt x="168" y="273"/>
                  </a:lnTo>
                  <a:lnTo>
                    <a:pt x="171" y="268"/>
                  </a:lnTo>
                  <a:lnTo>
                    <a:pt x="173" y="264"/>
                  </a:lnTo>
                  <a:lnTo>
                    <a:pt x="174" y="260"/>
                  </a:lnTo>
                  <a:lnTo>
                    <a:pt x="175" y="254"/>
                  </a:lnTo>
                  <a:lnTo>
                    <a:pt x="175" y="250"/>
                  </a:lnTo>
                  <a:lnTo>
                    <a:pt x="175" y="247"/>
                  </a:lnTo>
                  <a:lnTo>
                    <a:pt x="174" y="244"/>
                  </a:lnTo>
                  <a:lnTo>
                    <a:pt x="174" y="242"/>
                  </a:lnTo>
                  <a:lnTo>
                    <a:pt x="173" y="239"/>
                  </a:lnTo>
                  <a:lnTo>
                    <a:pt x="173" y="235"/>
                  </a:lnTo>
                  <a:lnTo>
                    <a:pt x="172" y="233"/>
                  </a:lnTo>
                  <a:lnTo>
                    <a:pt x="169" y="230"/>
                  </a:lnTo>
                  <a:lnTo>
                    <a:pt x="168" y="227"/>
                  </a:lnTo>
                  <a:lnTo>
                    <a:pt x="166" y="225"/>
                  </a:lnTo>
                  <a:lnTo>
                    <a:pt x="165" y="222"/>
                  </a:lnTo>
                  <a:lnTo>
                    <a:pt x="163" y="220"/>
                  </a:lnTo>
                  <a:lnTo>
                    <a:pt x="160" y="216"/>
                  </a:lnTo>
                  <a:lnTo>
                    <a:pt x="157" y="214"/>
                  </a:lnTo>
                  <a:lnTo>
                    <a:pt x="154" y="211"/>
                  </a:lnTo>
                  <a:lnTo>
                    <a:pt x="151" y="209"/>
                  </a:lnTo>
                  <a:lnTo>
                    <a:pt x="148" y="206"/>
                  </a:lnTo>
                  <a:lnTo>
                    <a:pt x="144" y="205"/>
                  </a:lnTo>
                  <a:lnTo>
                    <a:pt x="141" y="202"/>
                  </a:lnTo>
                  <a:lnTo>
                    <a:pt x="136" y="199"/>
                  </a:lnTo>
                  <a:lnTo>
                    <a:pt x="130" y="195"/>
                  </a:lnTo>
                  <a:lnTo>
                    <a:pt x="124" y="192"/>
                  </a:lnTo>
                  <a:lnTo>
                    <a:pt x="115" y="188"/>
                  </a:lnTo>
                  <a:lnTo>
                    <a:pt x="106" y="182"/>
                  </a:lnTo>
                  <a:lnTo>
                    <a:pt x="96" y="177"/>
                  </a:lnTo>
                  <a:lnTo>
                    <a:pt x="86" y="172"/>
                  </a:lnTo>
                  <a:lnTo>
                    <a:pt x="76" y="168"/>
                  </a:lnTo>
                  <a:lnTo>
                    <a:pt x="67" y="162"/>
                  </a:lnTo>
                  <a:lnTo>
                    <a:pt x="60" y="158"/>
                  </a:lnTo>
                  <a:lnTo>
                    <a:pt x="52" y="154"/>
                  </a:lnTo>
                  <a:lnTo>
                    <a:pt x="47" y="150"/>
                  </a:lnTo>
                  <a:lnTo>
                    <a:pt x="41" y="146"/>
                  </a:lnTo>
                  <a:lnTo>
                    <a:pt x="36" y="143"/>
                  </a:lnTo>
                  <a:lnTo>
                    <a:pt x="32" y="140"/>
                  </a:lnTo>
                  <a:lnTo>
                    <a:pt x="28" y="136"/>
                  </a:lnTo>
                  <a:lnTo>
                    <a:pt x="24" y="133"/>
                  </a:lnTo>
                  <a:lnTo>
                    <a:pt x="20" y="129"/>
                  </a:lnTo>
                  <a:lnTo>
                    <a:pt x="17" y="125"/>
                  </a:lnTo>
                  <a:lnTo>
                    <a:pt x="14" y="122"/>
                  </a:lnTo>
                  <a:lnTo>
                    <a:pt x="11" y="118"/>
                  </a:lnTo>
                  <a:lnTo>
                    <a:pt x="9" y="115"/>
                  </a:lnTo>
                  <a:lnTo>
                    <a:pt x="6" y="110"/>
                  </a:lnTo>
                  <a:lnTo>
                    <a:pt x="5" y="106"/>
                  </a:lnTo>
                  <a:lnTo>
                    <a:pt x="3" y="102"/>
                  </a:lnTo>
                  <a:lnTo>
                    <a:pt x="2" y="98"/>
                  </a:lnTo>
                  <a:lnTo>
                    <a:pt x="1" y="93"/>
                  </a:lnTo>
                  <a:lnTo>
                    <a:pt x="1" y="89"/>
                  </a:lnTo>
                  <a:lnTo>
                    <a:pt x="0" y="85"/>
                  </a:lnTo>
                  <a:lnTo>
                    <a:pt x="0" y="80"/>
                  </a:lnTo>
                  <a:lnTo>
                    <a:pt x="1" y="72"/>
                  </a:lnTo>
                  <a:lnTo>
                    <a:pt x="2" y="64"/>
                  </a:lnTo>
                  <a:lnTo>
                    <a:pt x="4" y="56"/>
                  </a:lnTo>
                  <a:lnTo>
                    <a:pt x="6" y="49"/>
                  </a:lnTo>
                  <a:lnTo>
                    <a:pt x="11" y="43"/>
                  </a:lnTo>
                  <a:lnTo>
                    <a:pt x="16" y="36"/>
                  </a:lnTo>
                  <a:lnTo>
                    <a:pt x="20" y="30"/>
                  </a:lnTo>
                  <a:lnTo>
                    <a:pt x="27" y="24"/>
                  </a:lnTo>
                  <a:lnTo>
                    <a:pt x="34" y="18"/>
                  </a:lnTo>
                  <a:lnTo>
                    <a:pt x="42" y="13"/>
                  </a:lnTo>
                  <a:lnTo>
                    <a:pt x="49" y="10"/>
                  </a:lnTo>
                  <a:lnTo>
                    <a:pt x="58" y="6"/>
                  </a:lnTo>
                  <a:lnTo>
                    <a:pt x="66" y="3"/>
                  </a:lnTo>
                  <a:lnTo>
                    <a:pt x="76" y="1"/>
                  </a:lnTo>
                  <a:lnTo>
                    <a:pt x="86" y="0"/>
                  </a:lnTo>
                  <a:lnTo>
                    <a:pt x="96" y="0"/>
                  </a:lnTo>
                  <a:lnTo>
                    <a:pt x="103" y="0"/>
                  </a:lnTo>
                  <a:lnTo>
                    <a:pt x="110" y="1"/>
                  </a:lnTo>
                  <a:lnTo>
                    <a:pt x="117" y="1"/>
                  </a:lnTo>
                  <a:lnTo>
                    <a:pt x="124" y="3"/>
                  </a:lnTo>
                  <a:lnTo>
                    <a:pt x="130" y="4"/>
                  </a:lnTo>
                  <a:lnTo>
                    <a:pt x="137" y="7"/>
                  </a:lnTo>
                  <a:lnTo>
                    <a:pt x="144" y="9"/>
                  </a:lnTo>
                  <a:lnTo>
                    <a:pt x="151" y="12"/>
                  </a:lnTo>
                  <a:lnTo>
                    <a:pt x="154" y="13"/>
                  </a:lnTo>
                  <a:lnTo>
                    <a:pt x="158" y="14"/>
                  </a:lnTo>
                  <a:lnTo>
                    <a:pt x="160" y="15"/>
                  </a:lnTo>
                  <a:lnTo>
                    <a:pt x="163" y="16"/>
                  </a:lnTo>
                  <a:lnTo>
                    <a:pt x="165" y="17"/>
                  </a:lnTo>
                  <a:lnTo>
                    <a:pt x="167" y="17"/>
                  </a:lnTo>
                  <a:lnTo>
                    <a:pt x="169" y="17"/>
                  </a:lnTo>
                  <a:lnTo>
                    <a:pt x="171" y="17"/>
                  </a:lnTo>
                  <a:lnTo>
                    <a:pt x="172" y="17"/>
                  </a:lnTo>
                  <a:lnTo>
                    <a:pt x="174" y="17"/>
                  </a:lnTo>
                  <a:lnTo>
                    <a:pt x="175" y="17"/>
                  </a:lnTo>
                  <a:lnTo>
                    <a:pt x="176" y="16"/>
                  </a:lnTo>
                  <a:lnTo>
                    <a:pt x="177" y="16"/>
                  </a:lnTo>
                  <a:lnTo>
                    <a:pt x="179" y="15"/>
                  </a:lnTo>
                  <a:lnTo>
                    <a:pt x="180" y="15"/>
                  </a:lnTo>
                  <a:lnTo>
                    <a:pt x="181" y="14"/>
                  </a:lnTo>
                  <a:lnTo>
                    <a:pt x="182" y="13"/>
                  </a:lnTo>
                  <a:lnTo>
                    <a:pt x="183" y="12"/>
                  </a:lnTo>
                  <a:lnTo>
                    <a:pt x="183" y="11"/>
                  </a:lnTo>
                  <a:lnTo>
                    <a:pt x="184" y="9"/>
                  </a:lnTo>
                  <a:lnTo>
                    <a:pt x="185" y="7"/>
                  </a:lnTo>
                  <a:lnTo>
                    <a:pt x="185" y="4"/>
                  </a:lnTo>
                  <a:lnTo>
                    <a:pt x="187" y="2"/>
                  </a:lnTo>
                  <a:lnTo>
                    <a:pt x="188" y="0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2657" y="3612"/>
              <a:ext cx="27" cy="69"/>
            </a:xfrm>
            <a:custGeom>
              <a:rect b="b" l="l" r="r" t="t"/>
              <a:pathLst>
                <a:path extrusionOk="0" h="276" w="133">
                  <a:moveTo>
                    <a:pt x="74" y="0"/>
                  </a:moveTo>
                  <a:lnTo>
                    <a:pt x="74" y="67"/>
                  </a:lnTo>
                  <a:lnTo>
                    <a:pt x="126" y="67"/>
                  </a:lnTo>
                  <a:lnTo>
                    <a:pt x="126" y="83"/>
                  </a:lnTo>
                  <a:lnTo>
                    <a:pt x="74" y="83"/>
                  </a:lnTo>
                  <a:lnTo>
                    <a:pt x="74" y="215"/>
                  </a:lnTo>
                  <a:lnTo>
                    <a:pt x="74" y="221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2"/>
                  </a:lnTo>
                  <a:lnTo>
                    <a:pt x="77" y="236"/>
                  </a:lnTo>
                  <a:lnTo>
                    <a:pt x="78" y="239"/>
                  </a:lnTo>
                  <a:lnTo>
                    <a:pt x="79" y="241"/>
                  </a:lnTo>
                  <a:lnTo>
                    <a:pt x="81" y="243"/>
                  </a:lnTo>
                  <a:lnTo>
                    <a:pt x="82" y="244"/>
                  </a:lnTo>
                  <a:lnTo>
                    <a:pt x="84" y="245"/>
                  </a:lnTo>
                  <a:lnTo>
                    <a:pt x="86" y="247"/>
                  </a:lnTo>
                  <a:lnTo>
                    <a:pt x="88" y="248"/>
                  </a:lnTo>
                  <a:lnTo>
                    <a:pt x="89" y="248"/>
                  </a:lnTo>
                  <a:lnTo>
                    <a:pt x="92" y="249"/>
                  </a:lnTo>
                  <a:lnTo>
                    <a:pt x="94" y="249"/>
                  </a:lnTo>
                  <a:lnTo>
                    <a:pt x="96" y="249"/>
                  </a:lnTo>
                  <a:lnTo>
                    <a:pt x="98" y="249"/>
                  </a:lnTo>
                  <a:lnTo>
                    <a:pt x="101" y="249"/>
                  </a:lnTo>
                  <a:lnTo>
                    <a:pt x="103" y="249"/>
                  </a:lnTo>
                  <a:lnTo>
                    <a:pt x="104" y="248"/>
                  </a:lnTo>
                  <a:lnTo>
                    <a:pt x="106" y="247"/>
                  </a:lnTo>
                  <a:lnTo>
                    <a:pt x="109" y="247"/>
                  </a:lnTo>
                  <a:lnTo>
                    <a:pt x="110" y="246"/>
                  </a:lnTo>
                  <a:lnTo>
                    <a:pt x="112" y="245"/>
                  </a:lnTo>
                  <a:lnTo>
                    <a:pt x="113" y="244"/>
                  </a:lnTo>
                  <a:lnTo>
                    <a:pt x="116" y="242"/>
                  </a:lnTo>
                  <a:lnTo>
                    <a:pt x="117" y="241"/>
                  </a:lnTo>
                  <a:lnTo>
                    <a:pt x="119" y="239"/>
                  </a:lnTo>
                  <a:lnTo>
                    <a:pt x="120" y="238"/>
                  </a:lnTo>
                  <a:lnTo>
                    <a:pt x="121" y="236"/>
                  </a:lnTo>
                  <a:lnTo>
                    <a:pt x="123" y="233"/>
                  </a:lnTo>
                  <a:lnTo>
                    <a:pt x="124" y="231"/>
                  </a:lnTo>
                  <a:lnTo>
                    <a:pt x="133" y="231"/>
                  </a:lnTo>
                  <a:lnTo>
                    <a:pt x="131" y="237"/>
                  </a:lnTo>
                  <a:lnTo>
                    <a:pt x="128" y="242"/>
                  </a:lnTo>
                  <a:lnTo>
                    <a:pt x="126" y="246"/>
                  </a:lnTo>
                  <a:lnTo>
                    <a:pt x="123" y="250"/>
                  </a:lnTo>
                  <a:lnTo>
                    <a:pt x="120" y="255"/>
                  </a:lnTo>
                  <a:lnTo>
                    <a:pt x="117" y="258"/>
                  </a:lnTo>
                  <a:lnTo>
                    <a:pt x="113" y="261"/>
                  </a:lnTo>
                  <a:lnTo>
                    <a:pt x="109" y="264"/>
                  </a:lnTo>
                  <a:lnTo>
                    <a:pt x="105" y="267"/>
                  </a:lnTo>
                  <a:lnTo>
                    <a:pt x="102" y="269"/>
                  </a:lnTo>
                  <a:lnTo>
                    <a:pt x="97" y="272"/>
                  </a:lnTo>
                  <a:lnTo>
                    <a:pt x="94" y="273"/>
                  </a:lnTo>
                  <a:lnTo>
                    <a:pt x="89" y="274"/>
                  </a:lnTo>
                  <a:lnTo>
                    <a:pt x="86" y="275"/>
                  </a:lnTo>
                  <a:lnTo>
                    <a:pt x="81" y="275"/>
                  </a:lnTo>
                  <a:lnTo>
                    <a:pt x="78" y="276"/>
                  </a:lnTo>
                  <a:lnTo>
                    <a:pt x="74" y="276"/>
                  </a:lnTo>
                  <a:lnTo>
                    <a:pt x="72" y="275"/>
                  </a:lnTo>
                  <a:lnTo>
                    <a:pt x="69" y="275"/>
                  </a:lnTo>
                  <a:lnTo>
                    <a:pt x="66" y="274"/>
                  </a:lnTo>
                  <a:lnTo>
                    <a:pt x="64" y="274"/>
                  </a:lnTo>
                  <a:lnTo>
                    <a:pt x="61" y="273"/>
                  </a:lnTo>
                  <a:lnTo>
                    <a:pt x="58" y="271"/>
                  </a:lnTo>
                  <a:lnTo>
                    <a:pt x="56" y="269"/>
                  </a:lnTo>
                  <a:lnTo>
                    <a:pt x="53" y="268"/>
                  </a:lnTo>
                  <a:lnTo>
                    <a:pt x="50" y="266"/>
                  </a:lnTo>
                  <a:lnTo>
                    <a:pt x="48" y="265"/>
                  </a:lnTo>
                  <a:lnTo>
                    <a:pt x="46" y="263"/>
                  </a:lnTo>
                  <a:lnTo>
                    <a:pt x="44" y="261"/>
                  </a:lnTo>
                  <a:lnTo>
                    <a:pt x="42" y="259"/>
                  </a:lnTo>
                  <a:lnTo>
                    <a:pt x="41" y="256"/>
                  </a:lnTo>
                  <a:lnTo>
                    <a:pt x="40" y="254"/>
                  </a:lnTo>
                  <a:lnTo>
                    <a:pt x="39" y="250"/>
                  </a:lnTo>
                  <a:lnTo>
                    <a:pt x="38" y="247"/>
                  </a:lnTo>
                  <a:lnTo>
                    <a:pt x="36" y="244"/>
                  </a:lnTo>
                  <a:lnTo>
                    <a:pt x="35" y="240"/>
                  </a:lnTo>
                  <a:lnTo>
                    <a:pt x="35" y="236"/>
                  </a:lnTo>
                  <a:lnTo>
                    <a:pt x="35" y="231"/>
                  </a:lnTo>
                  <a:lnTo>
                    <a:pt x="34" y="226"/>
                  </a:lnTo>
                  <a:lnTo>
                    <a:pt x="34" y="221"/>
                  </a:lnTo>
                  <a:lnTo>
                    <a:pt x="34" y="83"/>
                  </a:lnTo>
                  <a:lnTo>
                    <a:pt x="0" y="83"/>
                  </a:lnTo>
                  <a:lnTo>
                    <a:pt x="0" y="76"/>
                  </a:lnTo>
                  <a:lnTo>
                    <a:pt x="3" y="75"/>
                  </a:lnTo>
                  <a:lnTo>
                    <a:pt x="7" y="72"/>
                  </a:lnTo>
                  <a:lnTo>
                    <a:pt x="10" y="71"/>
                  </a:lnTo>
                  <a:lnTo>
                    <a:pt x="14" y="69"/>
                  </a:lnTo>
                  <a:lnTo>
                    <a:pt x="17" y="67"/>
                  </a:lnTo>
                  <a:lnTo>
                    <a:pt x="19" y="64"/>
                  </a:lnTo>
                  <a:lnTo>
                    <a:pt x="24" y="62"/>
                  </a:lnTo>
                  <a:lnTo>
                    <a:pt x="27" y="59"/>
                  </a:lnTo>
                  <a:lnTo>
                    <a:pt x="31" y="55"/>
                  </a:lnTo>
                  <a:lnTo>
                    <a:pt x="33" y="53"/>
                  </a:lnTo>
                  <a:lnTo>
                    <a:pt x="36" y="49"/>
                  </a:lnTo>
                  <a:lnTo>
                    <a:pt x="40" y="46"/>
                  </a:lnTo>
                  <a:lnTo>
                    <a:pt x="43" y="43"/>
                  </a:lnTo>
                  <a:lnTo>
                    <a:pt x="46" y="39"/>
                  </a:lnTo>
                  <a:lnTo>
                    <a:pt x="49" y="35"/>
                  </a:lnTo>
                  <a:lnTo>
                    <a:pt x="51" y="31"/>
                  </a:lnTo>
                  <a:lnTo>
                    <a:pt x="53" y="29"/>
                  </a:lnTo>
                  <a:lnTo>
                    <a:pt x="55" y="26"/>
                  </a:lnTo>
                  <a:lnTo>
                    <a:pt x="56" y="23"/>
                  </a:lnTo>
                  <a:lnTo>
                    <a:pt x="58" y="19"/>
                  </a:lnTo>
                  <a:lnTo>
                    <a:pt x="61" y="15"/>
                  </a:lnTo>
                  <a:lnTo>
                    <a:pt x="63" y="11"/>
                  </a:lnTo>
                  <a:lnTo>
                    <a:pt x="65" y="6"/>
                  </a:lnTo>
                  <a:lnTo>
                    <a:pt x="67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2687" y="3627"/>
              <a:ext cx="40" cy="54"/>
            </a:xfrm>
            <a:custGeom>
              <a:rect b="b" l="l" r="r" t="t"/>
              <a:pathLst>
                <a:path extrusionOk="0" h="215" w="202">
                  <a:moveTo>
                    <a:pt x="124" y="182"/>
                  </a:moveTo>
                  <a:lnTo>
                    <a:pt x="116" y="187"/>
                  </a:lnTo>
                  <a:lnTo>
                    <a:pt x="108" y="193"/>
                  </a:lnTo>
                  <a:lnTo>
                    <a:pt x="101" y="197"/>
                  </a:lnTo>
                  <a:lnTo>
                    <a:pt x="95" y="201"/>
                  </a:lnTo>
                  <a:lnTo>
                    <a:pt x="91" y="204"/>
                  </a:lnTo>
                  <a:lnTo>
                    <a:pt x="86" y="206"/>
                  </a:lnTo>
                  <a:lnTo>
                    <a:pt x="83" y="208"/>
                  </a:lnTo>
                  <a:lnTo>
                    <a:pt x="80" y="210"/>
                  </a:lnTo>
                  <a:lnTo>
                    <a:pt x="77" y="211"/>
                  </a:lnTo>
                  <a:lnTo>
                    <a:pt x="73" y="212"/>
                  </a:lnTo>
                  <a:lnTo>
                    <a:pt x="71" y="213"/>
                  </a:lnTo>
                  <a:lnTo>
                    <a:pt x="68" y="214"/>
                  </a:lnTo>
                  <a:lnTo>
                    <a:pt x="63" y="215"/>
                  </a:lnTo>
                  <a:lnTo>
                    <a:pt x="60" y="215"/>
                  </a:lnTo>
                  <a:lnTo>
                    <a:pt x="56" y="215"/>
                  </a:lnTo>
                  <a:lnTo>
                    <a:pt x="53" y="215"/>
                  </a:lnTo>
                  <a:lnTo>
                    <a:pt x="47" y="215"/>
                  </a:lnTo>
                  <a:lnTo>
                    <a:pt x="41" y="215"/>
                  </a:lnTo>
                  <a:lnTo>
                    <a:pt x="37" y="214"/>
                  </a:lnTo>
                  <a:lnTo>
                    <a:pt x="32" y="212"/>
                  </a:lnTo>
                  <a:lnTo>
                    <a:pt x="28" y="210"/>
                  </a:lnTo>
                  <a:lnTo>
                    <a:pt x="23" y="207"/>
                  </a:lnTo>
                  <a:lnTo>
                    <a:pt x="18" y="204"/>
                  </a:lnTo>
                  <a:lnTo>
                    <a:pt x="15" y="201"/>
                  </a:lnTo>
                  <a:lnTo>
                    <a:pt x="12" y="197"/>
                  </a:lnTo>
                  <a:lnTo>
                    <a:pt x="8" y="193"/>
                  </a:lnTo>
                  <a:lnTo>
                    <a:pt x="6" y="188"/>
                  </a:lnTo>
                  <a:lnTo>
                    <a:pt x="4" y="184"/>
                  </a:lnTo>
                  <a:lnTo>
                    <a:pt x="2" y="179"/>
                  </a:lnTo>
                  <a:lnTo>
                    <a:pt x="1" y="174"/>
                  </a:lnTo>
                  <a:lnTo>
                    <a:pt x="0" y="168"/>
                  </a:lnTo>
                  <a:lnTo>
                    <a:pt x="0" y="163"/>
                  </a:lnTo>
                  <a:lnTo>
                    <a:pt x="0" y="159"/>
                  </a:lnTo>
                  <a:lnTo>
                    <a:pt x="0" y="155"/>
                  </a:lnTo>
                  <a:lnTo>
                    <a:pt x="1" y="152"/>
                  </a:lnTo>
                  <a:lnTo>
                    <a:pt x="2" y="148"/>
                  </a:lnTo>
                  <a:lnTo>
                    <a:pt x="2" y="145"/>
                  </a:lnTo>
                  <a:lnTo>
                    <a:pt x="5" y="143"/>
                  </a:lnTo>
                  <a:lnTo>
                    <a:pt x="6" y="140"/>
                  </a:lnTo>
                  <a:lnTo>
                    <a:pt x="7" y="136"/>
                  </a:lnTo>
                  <a:lnTo>
                    <a:pt x="10" y="133"/>
                  </a:lnTo>
                  <a:lnTo>
                    <a:pt x="13" y="129"/>
                  </a:lnTo>
                  <a:lnTo>
                    <a:pt x="17" y="126"/>
                  </a:lnTo>
                  <a:lnTo>
                    <a:pt x="21" y="122"/>
                  </a:lnTo>
                  <a:lnTo>
                    <a:pt x="25" y="118"/>
                  </a:lnTo>
                  <a:lnTo>
                    <a:pt x="31" y="115"/>
                  </a:lnTo>
                  <a:lnTo>
                    <a:pt x="36" y="111"/>
                  </a:lnTo>
                  <a:lnTo>
                    <a:pt x="41" y="108"/>
                  </a:lnTo>
                  <a:lnTo>
                    <a:pt x="48" y="105"/>
                  </a:lnTo>
                  <a:lnTo>
                    <a:pt x="56" y="101"/>
                  </a:lnTo>
                  <a:lnTo>
                    <a:pt x="64" y="97"/>
                  </a:lnTo>
                  <a:lnTo>
                    <a:pt x="75" y="93"/>
                  </a:lnTo>
                  <a:lnTo>
                    <a:pt x="85" y="89"/>
                  </a:lnTo>
                  <a:lnTo>
                    <a:pt x="96" y="85"/>
                  </a:lnTo>
                  <a:lnTo>
                    <a:pt x="110" y="80"/>
                  </a:lnTo>
                  <a:lnTo>
                    <a:pt x="124" y="75"/>
                  </a:lnTo>
                  <a:lnTo>
                    <a:pt x="124" y="68"/>
                  </a:lnTo>
                  <a:lnTo>
                    <a:pt x="123" y="60"/>
                  </a:lnTo>
                  <a:lnTo>
                    <a:pt x="123" y="53"/>
                  </a:lnTo>
                  <a:lnTo>
                    <a:pt x="122" y="47"/>
                  </a:lnTo>
                  <a:lnTo>
                    <a:pt x="121" y="41"/>
                  </a:lnTo>
                  <a:lnTo>
                    <a:pt x="119" y="37"/>
                  </a:lnTo>
                  <a:lnTo>
                    <a:pt x="117" y="33"/>
                  </a:lnTo>
                  <a:lnTo>
                    <a:pt x="116" y="28"/>
                  </a:lnTo>
                  <a:lnTo>
                    <a:pt x="113" y="25"/>
                  </a:lnTo>
                  <a:lnTo>
                    <a:pt x="110" y="23"/>
                  </a:lnTo>
                  <a:lnTo>
                    <a:pt x="107" y="20"/>
                  </a:lnTo>
                  <a:lnTo>
                    <a:pt x="103" y="19"/>
                  </a:lnTo>
                  <a:lnTo>
                    <a:pt x="100" y="17"/>
                  </a:lnTo>
                  <a:lnTo>
                    <a:pt x="96" y="16"/>
                  </a:lnTo>
                  <a:lnTo>
                    <a:pt x="92" y="15"/>
                  </a:lnTo>
                  <a:lnTo>
                    <a:pt x="87" y="15"/>
                  </a:lnTo>
                  <a:lnTo>
                    <a:pt x="83" y="14"/>
                  </a:lnTo>
                  <a:lnTo>
                    <a:pt x="79" y="14"/>
                  </a:lnTo>
                  <a:lnTo>
                    <a:pt x="75" y="15"/>
                  </a:lnTo>
                  <a:lnTo>
                    <a:pt x="72" y="15"/>
                  </a:lnTo>
                  <a:lnTo>
                    <a:pt x="69" y="16"/>
                  </a:lnTo>
                  <a:lnTo>
                    <a:pt x="65" y="17"/>
                  </a:lnTo>
                  <a:lnTo>
                    <a:pt x="63" y="18"/>
                  </a:lnTo>
                  <a:lnTo>
                    <a:pt x="61" y="20"/>
                  </a:lnTo>
                  <a:lnTo>
                    <a:pt x="59" y="22"/>
                  </a:lnTo>
                  <a:lnTo>
                    <a:pt x="56" y="23"/>
                  </a:lnTo>
                  <a:lnTo>
                    <a:pt x="54" y="25"/>
                  </a:lnTo>
                  <a:lnTo>
                    <a:pt x="53" y="27"/>
                  </a:lnTo>
                  <a:lnTo>
                    <a:pt x="52" y="29"/>
                  </a:lnTo>
                  <a:lnTo>
                    <a:pt x="51" y="32"/>
                  </a:lnTo>
                  <a:lnTo>
                    <a:pt x="49" y="34"/>
                  </a:lnTo>
                  <a:lnTo>
                    <a:pt x="49" y="37"/>
                  </a:lnTo>
                  <a:lnTo>
                    <a:pt x="49" y="39"/>
                  </a:lnTo>
                  <a:lnTo>
                    <a:pt x="49" y="52"/>
                  </a:lnTo>
                  <a:lnTo>
                    <a:pt x="49" y="55"/>
                  </a:lnTo>
                  <a:lnTo>
                    <a:pt x="49" y="57"/>
                  </a:lnTo>
                  <a:lnTo>
                    <a:pt x="48" y="59"/>
                  </a:lnTo>
                  <a:lnTo>
                    <a:pt x="48" y="61"/>
                  </a:lnTo>
                  <a:lnTo>
                    <a:pt x="47" y="63"/>
                  </a:lnTo>
                  <a:lnTo>
                    <a:pt x="46" y="64"/>
                  </a:lnTo>
                  <a:lnTo>
                    <a:pt x="45" y="67"/>
                  </a:lnTo>
                  <a:lnTo>
                    <a:pt x="44" y="68"/>
                  </a:lnTo>
                  <a:lnTo>
                    <a:pt x="43" y="69"/>
                  </a:lnTo>
                  <a:lnTo>
                    <a:pt x="40" y="71"/>
                  </a:lnTo>
                  <a:lnTo>
                    <a:pt x="39" y="71"/>
                  </a:lnTo>
                  <a:lnTo>
                    <a:pt x="37" y="72"/>
                  </a:lnTo>
                  <a:lnTo>
                    <a:pt x="36" y="73"/>
                  </a:lnTo>
                  <a:lnTo>
                    <a:pt x="33" y="73"/>
                  </a:lnTo>
                  <a:lnTo>
                    <a:pt x="31" y="73"/>
                  </a:lnTo>
                  <a:lnTo>
                    <a:pt x="29" y="73"/>
                  </a:lnTo>
                  <a:lnTo>
                    <a:pt x="26" y="73"/>
                  </a:lnTo>
                  <a:lnTo>
                    <a:pt x="24" y="73"/>
                  </a:lnTo>
                  <a:lnTo>
                    <a:pt x="23" y="73"/>
                  </a:lnTo>
                  <a:lnTo>
                    <a:pt x="21" y="72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69"/>
                  </a:lnTo>
                  <a:lnTo>
                    <a:pt x="14" y="68"/>
                  </a:lnTo>
                  <a:lnTo>
                    <a:pt x="13" y="67"/>
                  </a:lnTo>
                  <a:lnTo>
                    <a:pt x="12" y="64"/>
                  </a:lnTo>
                  <a:lnTo>
                    <a:pt x="10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9" y="57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9" y="47"/>
                  </a:lnTo>
                  <a:lnTo>
                    <a:pt x="10" y="42"/>
                  </a:lnTo>
                  <a:lnTo>
                    <a:pt x="12" y="38"/>
                  </a:lnTo>
                  <a:lnTo>
                    <a:pt x="14" y="34"/>
                  </a:lnTo>
                  <a:lnTo>
                    <a:pt x="17" y="29"/>
                  </a:lnTo>
                  <a:lnTo>
                    <a:pt x="21" y="24"/>
                  </a:lnTo>
                  <a:lnTo>
                    <a:pt x="25" y="21"/>
                  </a:lnTo>
                  <a:lnTo>
                    <a:pt x="30" y="17"/>
                  </a:lnTo>
                  <a:lnTo>
                    <a:pt x="36" y="12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5" y="4"/>
                  </a:lnTo>
                  <a:lnTo>
                    <a:pt x="63" y="3"/>
                  </a:lnTo>
                  <a:lnTo>
                    <a:pt x="71" y="1"/>
                  </a:lnTo>
                  <a:lnTo>
                    <a:pt x="80" y="1"/>
                  </a:lnTo>
                  <a:lnTo>
                    <a:pt x="90" y="0"/>
                  </a:lnTo>
                  <a:lnTo>
                    <a:pt x="96" y="1"/>
                  </a:lnTo>
                  <a:lnTo>
                    <a:pt x="103" y="1"/>
                  </a:lnTo>
                  <a:lnTo>
                    <a:pt x="110" y="2"/>
                  </a:lnTo>
                  <a:lnTo>
                    <a:pt x="116" y="3"/>
                  </a:lnTo>
                  <a:lnTo>
                    <a:pt x="123" y="4"/>
                  </a:lnTo>
                  <a:lnTo>
                    <a:pt x="127" y="5"/>
                  </a:lnTo>
                  <a:lnTo>
                    <a:pt x="133" y="7"/>
                  </a:lnTo>
                  <a:lnTo>
                    <a:pt x="138" y="9"/>
                  </a:lnTo>
                  <a:lnTo>
                    <a:pt x="141" y="11"/>
                  </a:lnTo>
                  <a:lnTo>
                    <a:pt x="145" y="14"/>
                  </a:lnTo>
                  <a:lnTo>
                    <a:pt x="148" y="16"/>
                  </a:lnTo>
                  <a:lnTo>
                    <a:pt x="150" y="19"/>
                  </a:lnTo>
                  <a:lnTo>
                    <a:pt x="153" y="21"/>
                  </a:lnTo>
                  <a:lnTo>
                    <a:pt x="155" y="24"/>
                  </a:lnTo>
                  <a:lnTo>
                    <a:pt x="157" y="27"/>
                  </a:lnTo>
                  <a:lnTo>
                    <a:pt x="160" y="32"/>
                  </a:lnTo>
                  <a:lnTo>
                    <a:pt x="161" y="34"/>
                  </a:lnTo>
                  <a:lnTo>
                    <a:pt x="161" y="37"/>
                  </a:lnTo>
                  <a:lnTo>
                    <a:pt x="162" y="41"/>
                  </a:lnTo>
                  <a:lnTo>
                    <a:pt x="162" y="45"/>
                  </a:lnTo>
                  <a:lnTo>
                    <a:pt x="163" y="51"/>
                  </a:lnTo>
                  <a:lnTo>
                    <a:pt x="163" y="57"/>
                  </a:lnTo>
                  <a:lnTo>
                    <a:pt x="163" y="63"/>
                  </a:lnTo>
                  <a:lnTo>
                    <a:pt x="163" y="71"/>
                  </a:lnTo>
                  <a:lnTo>
                    <a:pt x="163" y="140"/>
                  </a:lnTo>
                  <a:lnTo>
                    <a:pt x="163" y="147"/>
                  </a:lnTo>
                  <a:lnTo>
                    <a:pt x="163" y="153"/>
                  </a:lnTo>
                  <a:lnTo>
                    <a:pt x="164" y="159"/>
                  </a:lnTo>
                  <a:lnTo>
                    <a:pt x="164" y="164"/>
                  </a:lnTo>
                  <a:lnTo>
                    <a:pt x="164" y="168"/>
                  </a:lnTo>
                  <a:lnTo>
                    <a:pt x="164" y="171"/>
                  </a:lnTo>
                  <a:lnTo>
                    <a:pt x="164" y="174"/>
                  </a:lnTo>
                  <a:lnTo>
                    <a:pt x="164" y="176"/>
                  </a:lnTo>
                  <a:lnTo>
                    <a:pt x="165" y="178"/>
                  </a:lnTo>
                  <a:lnTo>
                    <a:pt x="165" y="179"/>
                  </a:lnTo>
                  <a:lnTo>
                    <a:pt x="165" y="180"/>
                  </a:lnTo>
                  <a:lnTo>
                    <a:pt x="166" y="181"/>
                  </a:lnTo>
                  <a:lnTo>
                    <a:pt x="166" y="182"/>
                  </a:lnTo>
                  <a:lnTo>
                    <a:pt x="168" y="183"/>
                  </a:lnTo>
                  <a:lnTo>
                    <a:pt x="168" y="184"/>
                  </a:lnTo>
                  <a:lnTo>
                    <a:pt x="169" y="185"/>
                  </a:lnTo>
                  <a:lnTo>
                    <a:pt x="170" y="185"/>
                  </a:lnTo>
                  <a:lnTo>
                    <a:pt x="171" y="186"/>
                  </a:lnTo>
                  <a:lnTo>
                    <a:pt x="172" y="186"/>
                  </a:lnTo>
                  <a:lnTo>
                    <a:pt x="173" y="187"/>
                  </a:lnTo>
                  <a:lnTo>
                    <a:pt x="174" y="187"/>
                  </a:lnTo>
                  <a:lnTo>
                    <a:pt x="176" y="187"/>
                  </a:lnTo>
                  <a:lnTo>
                    <a:pt x="177" y="187"/>
                  </a:lnTo>
                  <a:lnTo>
                    <a:pt x="178" y="186"/>
                  </a:lnTo>
                  <a:lnTo>
                    <a:pt x="179" y="186"/>
                  </a:lnTo>
                  <a:lnTo>
                    <a:pt x="180" y="186"/>
                  </a:lnTo>
                  <a:lnTo>
                    <a:pt x="181" y="186"/>
                  </a:lnTo>
                  <a:lnTo>
                    <a:pt x="181" y="185"/>
                  </a:lnTo>
                  <a:lnTo>
                    <a:pt x="184" y="184"/>
                  </a:lnTo>
                  <a:lnTo>
                    <a:pt x="185" y="183"/>
                  </a:lnTo>
                  <a:lnTo>
                    <a:pt x="187" y="182"/>
                  </a:lnTo>
                  <a:lnTo>
                    <a:pt x="189" y="180"/>
                  </a:lnTo>
                  <a:lnTo>
                    <a:pt x="192" y="178"/>
                  </a:lnTo>
                  <a:lnTo>
                    <a:pt x="195" y="175"/>
                  </a:lnTo>
                  <a:lnTo>
                    <a:pt x="197" y="172"/>
                  </a:lnTo>
                  <a:lnTo>
                    <a:pt x="202" y="169"/>
                  </a:lnTo>
                  <a:lnTo>
                    <a:pt x="202" y="182"/>
                  </a:lnTo>
                  <a:lnTo>
                    <a:pt x="195" y="189"/>
                  </a:lnTo>
                  <a:lnTo>
                    <a:pt x="188" y="196"/>
                  </a:lnTo>
                  <a:lnTo>
                    <a:pt x="181" y="202"/>
                  </a:lnTo>
                  <a:lnTo>
                    <a:pt x="174" y="206"/>
                  </a:lnTo>
                  <a:lnTo>
                    <a:pt x="169" y="211"/>
                  </a:lnTo>
                  <a:lnTo>
                    <a:pt x="162" y="213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7" y="215"/>
                  </a:lnTo>
                  <a:lnTo>
                    <a:pt x="143" y="215"/>
                  </a:lnTo>
                  <a:lnTo>
                    <a:pt x="141" y="214"/>
                  </a:lnTo>
                  <a:lnTo>
                    <a:pt x="139" y="213"/>
                  </a:lnTo>
                  <a:lnTo>
                    <a:pt x="137" y="212"/>
                  </a:lnTo>
                  <a:lnTo>
                    <a:pt x="134" y="211"/>
                  </a:lnTo>
                  <a:lnTo>
                    <a:pt x="133" y="210"/>
                  </a:lnTo>
                  <a:lnTo>
                    <a:pt x="131" y="207"/>
                  </a:lnTo>
                  <a:lnTo>
                    <a:pt x="130" y="205"/>
                  </a:lnTo>
                  <a:lnTo>
                    <a:pt x="127" y="203"/>
                  </a:lnTo>
                  <a:lnTo>
                    <a:pt x="126" y="200"/>
                  </a:lnTo>
                  <a:lnTo>
                    <a:pt x="125" y="197"/>
                  </a:lnTo>
                  <a:lnTo>
                    <a:pt x="125" y="194"/>
                  </a:lnTo>
                  <a:lnTo>
                    <a:pt x="124" y="190"/>
                  </a:lnTo>
                  <a:lnTo>
                    <a:pt x="124" y="186"/>
                  </a:lnTo>
                  <a:lnTo>
                    <a:pt x="124" y="182"/>
                  </a:lnTo>
                  <a:close/>
                  <a:moveTo>
                    <a:pt x="124" y="167"/>
                  </a:moveTo>
                  <a:lnTo>
                    <a:pt x="124" y="89"/>
                  </a:lnTo>
                  <a:lnTo>
                    <a:pt x="115" y="92"/>
                  </a:lnTo>
                  <a:lnTo>
                    <a:pt x="107" y="95"/>
                  </a:lnTo>
                  <a:lnTo>
                    <a:pt x="100" y="98"/>
                  </a:lnTo>
                  <a:lnTo>
                    <a:pt x="93" y="100"/>
                  </a:lnTo>
                  <a:lnTo>
                    <a:pt x="88" y="103"/>
                  </a:lnTo>
                  <a:lnTo>
                    <a:pt x="84" y="105"/>
                  </a:lnTo>
                  <a:lnTo>
                    <a:pt x="79" y="107"/>
                  </a:lnTo>
                  <a:lnTo>
                    <a:pt x="77" y="108"/>
                  </a:lnTo>
                  <a:lnTo>
                    <a:pt x="71" y="111"/>
                  </a:lnTo>
                  <a:lnTo>
                    <a:pt x="68" y="113"/>
                  </a:lnTo>
                  <a:lnTo>
                    <a:pt x="63" y="115"/>
                  </a:lnTo>
                  <a:lnTo>
                    <a:pt x="60" y="118"/>
                  </a:lnTo>
                  <a:lnTo>
                    <a:pt x="56" y="121"/>
                  </a:lnTo>
                  <a:lnTo>
                    <a:pt x="54" y="124"/>
                  </a:lnTo>
                  <a:lnTo>
                    <a:pt x="52" y="126"/>
                  </a:lnTo>
                  <a:lnTo>
                    <a:pt x="49" y="129"/>
                  </a:lnTo>
                  <a:lnTo>
                    <a:pt x="47" y="131"/>
                  </a:lnTo>
                  <a:lnTo>
                    <a:pt x="46" y="134"/>
                  </a:lnTo>
                  <a:lnTo>
                    <a:pt x="44" y="136"/>
                  </a:lnTo>
                  <a:lnTo>
                    <a:pt x="43" y="140"/>
                  </a:lnTo>
                  <a:lnTo>
                    <a:pt x="41" y="143"/>
                  </a:lnTo>
                  <a:lnTo>
                    <a:pt x="41" y="146"/>
                  </a:lnTo>
                  <a:lnTo>
                    <a:pt x="41" y="149"/>
                  </a:lnTo>
                  <a:lnTo>
                    <a:pt x="40" y="152"/>
                  </a:lnTo>
                  <a:lnTo>
                    <a:pt x="41" y="155"/>
                  </a:lnTo>
                  <a:lnTo>
                    <a:pt x="41" y="160"/>
                  </a:lnTo>
                  <a:lnTo>
                    <a:pt x="43" y="163"/>
                  </a:lnTo>
                  <a:lnTo>
                    <a:pt x="44" y="167"/>
                  </a:lnTo>
                  <a:lnTo>
                    <a:pt x="45" y="170"/>
                  </a:lnTo>
                  <a:lnTo>
                    <a:pt x="47" y="174"/>
                  </a:lnTo>
                  <a:lnTo>
                    <a:pt x="48" y="176"/>
                  </a:lnTo>
                  <a:lnTo>
                    <a:pt x="52" y="179"/>
                  </a:lnTo>
                  <a:lnTo>
                    <a:pt x="54" y="181"/>
                  </a:lnTo>
                  <a:lnTo>
                    <a:pt x="56" y="183"/>
                  </a:lnTo>
                  <a:lnTo>
                    <a:pt x="60" y="185"/>
                  </a:lnTo>
                  <a:lnTo>
                    <a:pt x="62" y="186"/>
                  </a:lnTo>
                  <a:lnTo>
                    <a:pt x="65" y="188"/>
                  </a:lnTo>
                  <a:lnTo>
                    <a:pt x="69" y="188"/>
                  </a:lnTo>
                  <a:lnTo>
                    <a:pt x="72" y="189"/>
                  </a:lnTo>
                  <a:lnTo>
                    <a:pt x="75" y="189"/>
                  </a:lnTo>
                  <a:lnTo>
                    <a:pt x="80" y="189"/>
                  </a:lnTo>
                  <a:lnTo>
                    <a:pt x="85" y="188"/>
                  </a:lnTo>
                  <a:lnTo>
                    <a:pt x="91" y="186"/>
                  </a:lnTo>
                  <a:lnTo>
                    <a:pt x="96" y="184"/>
                  </a:lnTo>
                  <a:lnTo>
                    <a:pt x="102" y="181"/>
                  </a:lnTo>
                  <a:lnTo>
                    <a:pt x="109" y="177"/>
                  </a:lnTo>
                  <a:lnTo>
                    <a:pt x="116" y="172"/>
                  </a:lnTo>
                  <a:lnTo>
                    <a:pt x="124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2731" y="3627"/>
              <a:ext cx="37" cy="55"/>
            </a:xfrm>
            <a:custGeom>
              <a:rect b="b" l="l" r="r" t="t"/>
              <a:pathLst>
                <a:path extrusionOk="0" h="217" w="187">
                  <a:moveTo>
                    <a:pt x="187" y="133"/>
                  </a:moveTo>
                  <a:lnTo>
                    <a:pt x="185" y="143"/>
                  </a:lnTo>
                  <a:lnTo>
                    <a:pt x="182" y="152"/>
                  </a:lnTo>
                  <a:lnTo>
                    <a:pt x="178" y="161"/>
                  </a:lnTo>
                  <a:lnTo>
                    <a:pt x="174" y="169"/>
                  </a:lnTo>
                  <a:lnTo>
                    <a:pt x="169" y="177"/>
                  </a:lnTo>
                  <a:lnTo>
                    <a:pt x="164" y="183"/>
                  </a:lnTo>
                  <a:lnTo>
                    <a:pt x="159" y="189"/>
                  </a:lnTo>
                  <a:lnTo>
                    <a:pt x="152" y="196"/>
                  </a:lnTo>
                  <a:lnTo>
                    <a:pt x="146" y="201"/>
                  </a:lnTo>
                  <a:lnTo>
                    <a:pt x="139" y="205"/>
                  </a:lnTo>
                  <a:lnTo>
                    <a:pt x="132" y="208"/>
                  </a:lnTo>
                  <a:lnTo>
                    <a:pt x="124" y="212"/>
                  </a:lnTo>
                  <a:lnTo>
                    <a:pt x="117" y="214"/>
                  </a:lnTo>
                  <a:lnTo>
                    <a:pt x="110" y="216"/>
                  </a:lnTo>
                  <a:lnTo>
                    <a:pt x="102" y="217"/>
                  </a:lnTo>
                  <a:lnTo>
                    <a:pt x="94" y="217"/>
                  </a:lnTo>
                  <a:lnTo>
                    <a:pt x="85" y="217"/>
                  </a:lnTo>
                  <a:lnTo>
                    <a:pt x="76" y="216"/>
                  </a:lnTo>
                  <a:lnTo>
                    <a:pt x="67" y="213"/>
                  </a:lnTo>
                  <a:lnTo>
                    <a:pt x="59" y="210"/>
                  </a:lnTo>
                  <a:lnTo>
                    <a:pt x="51" y="206"/>
                  </a:lnTo>
                  <a:lnTo>
                    <a:pt x="43" y="201"/>
                  </a:lnTo>
                  <a:lnTo>
                    <a:pt x="36" y="195"/>
                  </a:lnTo>
                  <a:lnTo>
                    <a:pt x="29" y="188"/>
                  </a:lnTo>
                  <a:lnTo>
                    <a:pt x="22" y="180"/>
                  </a:lnTo>
                  <a:lnTo>
                    <a:pt x="16" y="172"/>
                  </a:lnTo>
                  <a:lnTo>
                    <a:pt x="12" y="163"/>
                  </a:lnTo>
                  <a:lnTo>
                    <a:pt x="7" y="153"/>
                  </a:lnTo>
                  <a:lnTo>
                    <a:pt x="5" y="144"/>
                  </a:lnTo>
                  <a:lnTo>
                    <a:pt x="3" y="132"/>
                  </a:lnTo>
                  <a:lnTo>
                    <a:pt x="1" y="122"/>
                  </a:lnTo>
                  <a:lnTo>
                    <a:pt x="0" y="109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5"/>
                  </a:lnTo>
                  <a:lnTo>
                    <a:pt x="8" y="65"/>
                  </a:lnTo>
                  <a:lnTo>
                    <a:pt x="13" y="56"/>
                  </a:lnTo>
                  <a:lnTo>
                    <a:pt x="17" y="46"/>
                  </a:lnTo>
                  <a:lnTo>
                    <a:pt x="24" y="38"/>
                  </a:lnTo>
                  <a:lnTo>
                    <a:pt x="31" y="30"/>
                  </a:lnTo>
                  <a:lnTo>
                    <a:pt x="39" y="23"/>
                  </a:lnTo>
                  <a:lnTo>
                    <a:pt x="48" y="18"/>
                  </a:lnTo>
                  <a:lnTo>
                    <a:pt x="56" y="12"/>
                  </a:lnTo>
                  <a:lnTo>
                    <a:pt x="66" y="8"/>
                  </a:lnTo>
                  <a:lnTo>
                    <a:pt x="75" y="5"/>
                  </a:lnTo>
                  <a:lnTo>
                    <a:pt x="85" y="2"/>
                  </a:lnTo>
                  <a:lnTo>
                    <a:pt x="95" y="1"/>
                  </a:lnTo>
                  <a:lnTo>
                    <a:pt x="106" y="0"/>
                  </a:lnTo>
                  <a:lnTo>
                    <a:pt x="114" y="1"/>
                  </a:lnTo>
                  <a:lnTo>
                    <a:pt x="122" y="1"/>
                  </a:lnTo>
                  <a:lnTo>
                    <a:pt x="129" y="3"/>
                  </a:lnTo>
                  <a:lnTo>
                    <a:pt x="136" y="4"/>
                  </a:lnTo>
                  <a:lnTo>
                    <a:pt x="143" y="6"/>
                  </a:lnTo>
                  <a:lnTo>
                    <a:pt x="148" y="9"/>
                  </a:lnTo>
                  <a:lnTo>
                    <a:pt x="154" y="12"/>
                  </a:lnTo>
                  <a:lnTo>
                    <a:pt x="160" y="17"/>
                  </a:lnTo>
                  <a:lnTo>
                    <a:pt x="164" y="20"/>
                  </a:lnTo>
                  <a:lnTo>
                    <a:pt x="169" y="24"/>
                  </a:lnTo>
                  <a:lnTo>
                    <a:pt x="172" y="28"/>
                  </a:lnTo>
                  <a:lnTo>
                    <a:pt x="176" y="33"/>
                  </a:lnTo>
                  <a:lnTo>
                    <a:pt x="178" y="37"/>
                  </a:lnTo>
                  <a:lnTo>
                    <a:pt x="179" y="41"/>
                  </a:lnTo>
                  <a:lnTo>
                    <a:pt x="180" y="45"/>
                  </a:lnTo>
                  <a:lnTo>
                    <a:pt x="182" y="50"/>
                  </a:lnTo>
                  <a:lnTo>
                    <a:pt x="180" y="52"/>
                  </a:lnTo>
                  <a:lnTo>
                    <a:pt x="180" y="54"/>
                  </a:lnTo>
                  <a:lnTo>
                    <a:pt x="180" y="56"/>
                  </a:lnTo>
                  <a:lnTo>
                    <a:pt x="179" y="57"/>
                  </a:lnTo>
                  <a:lnTo>
                    <a:pt x="179" y="59"/>
                  </a:lnTo>
                  <a:lnTo>
                    <a:pt x="178" y="60"/>
                  </a:lnTo>
                  <a:lnTo>
                    <a:pt x="177" y="62"/>
                  </a:lnTo>
                  <a:lnTo>
                    <a:pt x="175" y="63"/>
                  </a:lnTo>
                  <a:lnTo>
                    <a:pt x="174" y="64"/>
                  </a:lnTo>
                  <a:lnTo>
                    <a:pt x="172" y="65"/>
                  </a:lnTo>
                  <a:lnTo>
                    <a:pt x="170" y="67"/>
                  </a:lnTo>
                  <a:lnTo>
                    <a:pt x="168" y="68"/>
                  </a:lnTo>
                  <a:lnTo>
                    <a:pt x="165" y="68"/>
                  </a:lnTo>
                  <a:lnTo>
                    <a:pt x="163" y="69"/>
                  </a:lnTo>
                  <a:lnTo>
                    <a:pt x="161" y="69"/>
                  </a:lnTo>
                  <a:lnTo>
                    <a:pt x="159" y="69"/>
                  </a:lnTo>
                  <a:lnTo>
                    <a:pt x="155" y="69"/>
                  </a:lnTo>
                  <a:lnTo>
                    <a:pt x="152" y="68"/>
                  </a:lnTo>
                  <a:lnTo>
                    <a:pt x="148" y="68"/>
                  </a:lnTo>
                  <a:lnTo>
                    <a:pt x="146" y="67"/>
                  </a:lnTo>
                  <a:lnTo>
                    <a:pt x="144" y="65"/>
                  </a:lnTo>
                  <a:lnTo>
                    <a:pt x="141" y="63"/>
                  </a:lnTo>
                  <a:lnTo>
                    <a:pt x="139" y="62"/>
                  </a:lnTo>
                  <a:lnTo>
                    <a:pt x="137" y="60"/>
                  </a:lnTo>
                  <a:lnTo>
                    <a:pt x="136" y="59"/>
                  </a:lnTo>
                  <a:lnTo>
                    <a:pt x="134" y="57"/>
                  </a:lnTo>
                  <a:lnTo>
                    <a:pt x="134" y="55"/>
                  </a:lnTo>
                  <a:lnTo>
                    <a:pt x="133" y="53"/>
                  </a:lnTo>
                  <a:lnTo>
                    <a:pt x="133" y="51"/>
                  </a:lnTo>
                  <a:lnTo>
                    <a:pt x="132" y="48"/>
                  </a:lnTo>
                  <a:lnTo>
                    <a:pt x="132" y="45"/>
                  </a:lnTo>
                  <a:lnTo>
                    <a:pt x="131" y="42"/>
                  </a:lnTo>
                  <a:lnTo>
                    <a:pt x="131" y="39"/>
                  </a:lnTo>
                  <a:lnTo>
                    <a:pt x="130" y="36"/>
                  </a:lnTo>
                  <a:lnTo>
                    <a:pt x="130" y="33"/>
                  </a:lnTo>
                  <a:lnTo>
                    <a:pt x="129" y="30"/>
                  </a:lnTo>
                  <a:lnTo>
                    <a:pt x="126" y="28"/>
                  </a:lnTo>
                  <a:lnTo>
                    <a:pt x="125" y="26"/>
                  </a:lnTo>
                  <a:lnTo>
                    <a:pt x="124" y="24"/>
                  </a:lnTo>
                  <a:lnTo>
                    <a:pt x="122" y="22"/>
                  </a:lnTo>
                  <a:lnTo>
                    <a:pt x="120" y="20"/>
                  </a:lnTo>
                  <a:lnTo>
                    <a:pt x="117" y="19"/>
                  </a:lnTo>
                  <a:lnTo>
                    <a:pt x="114" y="18"/>
                  </a:lnTo>
                  <a:lnTo>
                    <a:pt x="112" y="17"/>
                  </a:lnTo>
                  <a:lnTo>
                    <a:pt x="108" y="17"/>
                  </a:lnTo>
                  <a:lnTo>
                    <a:pt x="106" y="16"/>
                  </a:lnTo>
                  <a:lnTo>
                    <a:pt x="102" y="16"/>
                  </a:lnTo>
                  <a:lnTo>
                    <a:pt x="98" y="16"/>
                  </a:lnTo>
                  <a:lnTo>
                    <a:pt x="92" y="16"/>
                  </a:lnTo>
                  <a:lnTo>
                    <a:pt x="86" y="17"/>
                  </a:lnTo>
                  <a:lnTo>
                    <a:pt x="82" y="18"/>
                  </a:lnTo>
                  <a:lnTo>
                    <a:pt x="76" y="20"/>
                  </a:lnTo>
                  <a:lnTo>
                    <a:pt x="71" y="22"/>
                  </a:lnTo>
                  <a:lnTo>
                    <a:pt x="67" y="24"/>
                  </a:lnTo>
                  <a:lnTo>
                    <a:pt x="63" y="28"/>
                  </a:lnTo>
                  <a:lnTo>
                    <a:pt x="59" y="32"/>
                  </a:lnTo>
                  <a:lnTo>
                    <a:pt x="54" y="38"/>
                  </a:lnTo>
                  <a:lnTo>
                    <a:pt x="51" y="43"/>
                  </a:lnTo>
                  <a:lnTo>
                    <a:pt x="47" y="51"/>
                  </a:lnTo>
                  <a:lnTo>
                    <a:pt x="45" y="57"/>
                  </a:lnTo>
                  <a:lnTo>
                    <a:pt x="43" y="64"/>
                  </a:lnTo>
                  <a:lnTo>
                    <a:pt x="40" y="73"/>
                  </a:lnTo>
                  <a:lnTo>
                    <a:pt x="40" y="81"/>
                  </a:lnTo>
                  <a:lnTo>
                    <a:pt x="39" y="90"/>
                  </a:lnTo>
                  <a:lnTo>
                    <a:pt x="40" y="98"/>
                  </a:lnTo>
                  <a:lnTo>
                    <a:pt x="40" y="108"/>
                  </a:lnTo>
                  <a:lnTo>
                    <a:pt x="43" y="116"/>
                  </a:lnTo>
                  <a:lnTo>
                    <a:pt x="45" y="124"/>
                  </a:lnTo>
                  <a:lnTo>
                    <a:pt x="47" y="132"/>
                  </a:lnTo>
                  <a:lnTo>
                    <a:pt x="51" y="140"/>
                  </a:lnTo>
                  <a:lnTo>
                    <a:pt x="54" y="147"/>
                  </a:lnTo>
                  <a:lnTo>
                    <a:pt x="59" y="154"/>
                  </a:lnTo>
                  <a:lnTo>
                    <a:pt x="64" y="161"/>
                  </a:lnTo>
                  <a:lnTo>
                    <a:pt x="70" y="167"/>
                  </a:lnTo>
                  <a:lnTo>
                    <a:pt x="76" y="171"/>
                  </a:lnTo>
                  <a:lnTo>
                    <a:pt x="82" y="176"/>
                  </a:lnTo>
                  <a:lnTo>
                    <a:pt x="89" y="179"/>
                  </a:lnTo>
                  <a:lnTo>
                    <a:pt x="95" y="181"/>
                  </a:lnTo>
                  <a:lnTo>
                    <a:pt x="104" y="182"/>
                  </a:lnTo>
                  <a:lnTo>
                    <a:pt x="112" y="182"/>
                  </a:lnTo>
                  <a:lnTo>
                    <a:pt x="117" y="182"/>
                  </a:lnTo>
                  <a:lnTo>
                    <a:pt x="123" y="182"/>
                  </a:lnTo>
                  <a:lnTo>
                    <a:pt x="129" y="180"/>
                  </a:lnTo>
                  <a:lnTo>
                    <a:pt x="134" y="179"/>
                  </a:lnTo>
                  <a:lnTo>
                    <a:pt x="139" y="177"/>
                  </a:lnTo>
                  <a:lnTo>
                    <a:pt x="145" y="175"/>
                  </a:lnTo>
                  <a:lnTo>
                    <a:pt x="149" y="171"/>
                  </a:lnTo>
                  <a:lnTo>
                    <a:pt x="154" y="167"/>
                  </a:lnTo>
                  <a:lnTo>
                    <a:pt x="157" y="165"/>
                  </a:lnTo>
                  <a:lnTo>
                    <a:pt x="161" y="161"/>
                  </a:lnTo>
                  <a:lnTo>
                    <a:pt x="164" y="158"/>
                  </a:lnTo>
                  <a:lnTo>
                    <a:pt x="168" y="153"/>
                  </a:lnTo>
                  <a:lnTo>
                    <a:pt x="171" y="148"/>
                  </a:lnTo>
                  <a:lnTo>
                    <a:pt x="174" y="143"/>
                  </a:lnTo>
                  <a:lnTo>
                    <a:pt x="177" y="136"/>
                  </a:lnTo>
                  <a:lnTo>
                    <a:pt x="180" y="130"/>
                  </a:lnTo>
                  <a:lnTo>
                    <a:pt x="187" y="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2772" y="3601"/>
              <a:ext cx="50" cy="79"/>
            </a:xfrm>
            <a:custGeom>
              <a:rect b="b" l="l" r="r" t="t"/>
              <a:pathLst>
                <a:path extrusionOk="0" h="318" w="247">
                  <a:moveTo>
                    <a:pt x="77" y="0"/>
                  </a:moveTo>
                  <a:lnTo>
                    <a:pt x="77" y="204"/>
                  </a:lnTo>
                  <a:lnTo>
                    <a:pt x="133" y="157"/>
                  </a:lnTo>
                  <a:lnTo>
                    <a:pt x="138" y="153"/>
                  </a:lnTo>
                  <a:lnTo>
                    <a:pt x="141" y="149"/>
                  </a:lnTo>
                  <a:lnTo>
                    <a:pt x="145" y="147"/>
                  </a:lnTo>
                  <a:lnTo>
                    <a:pt x="147" y="144"/>
                  </a:lnTo>
                  <a:lnTo>
                    <a:pt x="149" y="142"/>
                  </a:lnTo>
                  <a:lnTo>
                    <a:pt x="151" y="140"/>
                  </a:lnTo>
                  <a:lnTo>
                    <a:pt x="153" y="139"/>
                  </a:lnTo>
                  <a:lnTo>
                    <a:pt x="154" y="137"/>
                  </a:lnTo>
                  <a:lnTo>
                    <a:pt x="155" y="136"/>
                  </a:lnTo>
                  <a:lnTo>
                    <a:pt x="155" y="135"/>
                  </a:lnTo>
                  <a:lnTo>
                    <a:pt x="155" y="134"/>
                  </a:lnTo>
                  <a:lnTo>
                    <a:pt x="156" y="134"/>
                  </a:lnTo>
                  <a:lnTo>
                    <a:pt x="156" y="133"/>
                  </a:lnTo>
                  <a:lnTo>
                    <a:pt x="156" y="132"/>
                  </a:lnTo>
                  <a:lnTo>
                    <a:pt x="156" y="131"/>
                  </a:lnTo>
                  <a:lnTo>
                    <a:pt x="156" y="130"/>
                  </a:lnTo>
                  <a:lnTo>
                    <a:pt x="155" y="129"/>
                  </a:lnTo>
                  <a:lnTo>
                    <a:pt x="155" y="128"/>
                  </a:lnTo>
                  <a:lnTo>
                    <a:pt x="154" y="127"/>
                  </a:lnTo>
                  <a:lnTo>
                    <a:pt x="154" y="126"/>
                  </a:lnTo>
                  <a:lnTo>
                    <a:pt x="153" y="125"/>
                  </a:lnTo>
                  <a:lnTo>
                    <a:pt x="151" y="124"/>
                  </a:lnTo>
                  <a:lnTo>
                    <a:pt x="150" y="124"/>
                  </a:lnTo>
                  <a:lnTo>
                    <a:pt x="149" y="123"/>
                  </a:lnTo>
                  <a:lnTo>
                    <a:pt x="148" y="123"/>
                  </a:lnTo>
                  <a:lnTo>
                    <a:pt x="147" y="122"/>
                  </a:lnTo>
                  <a:lnTo>
                    <a:pt x="145" y="122"/>
                  </a:lnTo>
                  <a:lnTo>
                    <a:pt x="143" y="121"/>
                  </a:lnTo>
                  <a:lnTo>
                    <a:pt x="141" y="121"/>
                  </a:lnTo>
                  <a:lnTo>
                    <a:pt x="139" y="121"/>
                  </a:lnTo>
                  <a:lnTo>
                    <a:pt x="139" y="113"/>
                  </a:lnTo>
                  <a:lnTo>
                    <a:pt x="235" y="113"/>
                  </a:lnTo>
                  <a:lnTo>
                    <a:pt x="235" y="121"/>
                  </a:lnTo>
                  <a:lnTo>
                    <a:pt x="231" y="121"/>
                  </a:lnTo>
                  <a:lnTo>
                    <a:pt x="225" y="121"/>
                  </a:lnTo>
                  <a:lnTo>
                    <a:pt x="221" y="122"/>
                  </a:lnTo>
                  <a:lnTo>
                    <a:pt x="217" y="122"/>
                  </a:lnTo>
                  <a:lnTo>
                    <a:pt x="212" y="123"/>
                  </a:lnTo>
                  <a:lnTo>
                    <a:pt x="209" y="124"/>
                  </a:lnTo>
                  <a:lnTo>
                    <a:pt x="205" y="125"/>
                  </a:lnTo>
                  <a:lnTo>
                    <a:pt x="202" y="126"/>
                  </a:lnTo>
                  <a:lnTo>
                    <a:pt x="198" y="128"/>
                  </a:lnTo>
                  <a:lnTo>
                    <a:pt x="195" y="129"/>
                  </a:lnTo>
                  <a:lnTo>
                    <a:pt x="192" y="131"/>
                  </a:lnTo>
                  <a:lnTo>
                    <a:pt x="188" y="133"/>
                  </a:lnTo>
                  <a:lnTo>
                    <a:pt x="185" y="135"/>
                  </a:lnTo>
                  <a:lnTo>
                    <a:pt x="180" y="139"/>
                  </a:lnTo>
                  <a:lnTo>
                    <a:pt x="177" y="142"/>
                  </a:lnTo>
                  <a:lnTo>
                    <a:pt x="173" y="145"/>
                  </a:lnTo>
                  <a:lnTo>
                    <a:pt x="116" y="193"/>
                  </a:lnTo>
                  <a:lnTo>
                    <a:pt x="173" y="259"/>
                  </a:lnTo>
                  <a:lnTo>
                    <a:pt x="179" y="266"/>
                  </a:lnTo>
                  <a:lnTo>
                    <a:pt x="184" y="272"/>
                  </a:lnTo>
                  <a:lnTo>
                    <a:pt x="188" y="277"/>
                  </a:lnTo>
                  <a:lnTo>
                    <a:pt x="193" y="282"/>
                  </a:lnTo>
                  <a:lnTo>
                    <a:pt x="196" y="286"/>
                  </a:lnTo>
                  <a:lnTo>
                    <a:pt x="200" y="289"/>
                  </a:lnTo>
                  <a:lnTo>
                    <a:pt x="203" y="292"/>
                  </a:lnTo>
                  <a:lnTo>
                    <a:pt x="205" y="294"/>
                  </a:lnTo>
                  <a:lnTo>
                    <a:pt x="208" y="296"/>
                  </a:lnTo>
                  <a:lnTo>
                    <a:pt x="211" y="299"/>
                  </a:lnTo>
                  <a:lnTo>
                    <a:pt x="213" y="301"/>
                  </a:lnTo>
                  <a:lnTo>
                    <a:pt x="216" y="303"/>
                  </a:lnTo>
                  <a:lnTo>
                    <a:pt x="218" y="305"/>
                  </a:lnTo>
                  <a:lnTo>
                    <a:pt x="220" y="306"/>
                  </a:lnTo>
                  <a:lnTo>
                    <a:pt x="223" y="307"/>
                  </a:lnTo>
                  <a:lnTo>
                    <a:pt x="225" y="308"/>
                  </a:lnTo>
                  <a:lnTo>
                    <a:pt x="227" y="308"/>
                  </a:lnTo>
                  <a:lnTo>
                    <a:pt x="228" y="309"/>
                  </a:lnTo>
                  <a:lnTo>
                    <a:pt x="231" y="309"/>
                  </a:lnTo>
                  <a:lnTo>
                    <a:pt x="234" y="309"/>
                  </a:lnTo>
                  <a:lnTo>
                    <a:pt x="236" y="310"/>
                  </a:lnTo>
                  <a:lnTo>
                    <a:pt x="240" y="310"/>
                  </a:lnTo>
                  <a:lnTo>
                    <a:pt x="243" y="310"/>
                  </a:lnTo>
                  <a:lnTo>
                    <a:pt x="247" y="310"/>
                  </a:lnTo>
                  <a:lnTo>
                    <a:pt x="247" y="318"/>
                  </a:lnTo>
                  <a:lnTo>
                    <a:pt x="139" y="318"/>
                  </a:lnTo>
                  <a:lnTo>
                    <a:pt x="139" y="310"/>
                  </a:lnTo>
                  <a:lnTo>
                    <a:pt x="141" y="310"/>
                  </a:lnTo>
                  <a:lnTo>
                    <a:pt x="142" y="310"/>
                  </a:lnTo>
                  <a:lnTo>
                    <a:pt x="145" y="309"/>
                  </a:lnTo>
                  <a:lnTo>
                    <a:pt x="147" y="309"/>
                  </a:lnTo>
                  <a:lnTo>
                    <a:pt x="148" y="309"/>
                  </a:lnTo>
                  <a:lnTo>
                    <a:pt x="149" y="308"/>
                  </a:lnTo>
                  <a:lnTo>
                    <a:pt x="150" y="308"/>
                  </a:lnTo>
                  <a:lnTo>
                    <a:pt x="151" y="307"/>
                  </a:lnTo>
                  <a:lnTo>
                    <a:pt x="153" y="306"/>
                  </a:lnTo>
                  <a:lnTo>
                    <a:pt x="154" y="305"/>
                  </a:lnTo>
                  <a:lnTo>
                    <a:pt x="154" y="304"/>
                  </a:lnTo>
                  <a:lnTo>
                    <a:pt x="154" y="303"/>
                  </a:lnTo>
                  <a:lnTo>
                    <a:pt x="154" y="302"/>
                  </a:lnTo>
                  <a:lnTo>
                    <a:pt x="155" y="301"/>
                  </a:lnTo>
                  <a:lnTo>
                    <a:pt x="154" y="300"/>
                  </a:lnTo>
                  <a:lnTo>
                    <a:pt x="154" y="297"/>
                  </a:lnTo>
                  <a:lnTo>
                    <a:pt x="153" y="296"/>
                  </a:lnTo>
                  <a:lnTo>
                    <a:pt x="151" y="294"/>
                  </a:lnTo>
                  <a:lnTo>
                    <a:pt x="150" y="292"/>
                  </a:lnTo>
                  <a:lnTo>
                    <a:pt x="149" y="290"/>
                  </a:lnTo>
                  <a:lnTo>
                    <a:pt x="147" y="287"/>
                  </a:lnTo>
                  <a:lnTo>
                    <a:pt x="145" y="285"/>
                  </a:lnTo>
                  <a:lnTo>
                    <a:pt x="77" y="204"/>
                  </a:lnTo>
                  <a:lnTo>
                    <a:pt x="77" y="272"/>
                  </a:lnTo>
                  <a:lnTo>
                    <a:pt x="77" y="276"/>
                  </a:lnTo>
                  <a:lnTo>
                    <a:pt x="77" y="282"/>
                  </a:lnTo>
                  <a:lnTo>
                    <a:pt x="77" y="285"/>
                  </a:lnTo>
                  <a:lnTo>
                    <a:pt x="77" y="289"/>
                  </a:lnTo>
                  <a:lnTo>
                    <a:pt x="78" y="291"/>
                  </a:lnTo>
                  <a:lnTo>
                    <a:pt x="78" y="294"/>
                  </a:lnTo>
                  <a:lnTo>
                    <a:pt x="79" y="296"/>
                  </a:lnTo>
                  <a:lnTo>
                    <a:pt x="79" y="299"/>
                  </a:lnTo>
                  <a:lnTo>
                    <a:pt x="80" y="300"/>
                  </a:lnTo>
                  <a:lnTo>
                    <a:pt x="81" y="301"/>
                  </a:lnTo>
                  <a:lnTo>
                    <a:pt x="83" y="303"/>
                  </a:lnTo>
                  <a:lnTo>
                    <a:pt x="84" y="304"/>
                  </a:lnTo>
                  <a:lnTo>
                    <a:pt x="85" y="305"/>
                  </a:lnTo>
                  <a:lnTo>
                    <a:pt x="86" y="306"/>
                  </a:lnTo>
                  <a:lnTo>
                    <a:pt x="87" y="306"/>
                  </a:lnTo>
                  <a:lnTo>
                    <a:pt x="88" y="307"/>
                  </a:lnTo>
                  <a:lnTo>
                    <a:pt x="89" y="308"/>
                  </a:lnTo>
                  <a:lnTo>
                    <a:pt x="92" y="308"/>
                  </a:lnTo>
                  <a:lnTo>
                    <a:pt x="94" y="309"/>
                  </a:lnTo>
                  <a:lnTo>
                    <a:pt x="97" y="309"/>
                  </a:lnTo>
                  <a:lnTo>
                    <a:pt x="100" y="309"/>
                  </a:lnTo>
                  <a:lnTo>
                    <a:pt x="104" y="310"/>
                  </a:lnTo>
                  <a:lnTo>
                    <a:pt x="108" y="310"/>
                  </a:lnTo>
                  <a:lnTo>
                    <a:pt x="112" y="310"/>
                  </a:lnTo>
                  <a:lnTo>
                    <a:pt x="112" y="318"/>
                  </a:lnTo>
                  <a:lnTo>
                    <a:pt x="0" y="318"/>
                  </a:lnTo>
                  <a:lnTo>
                    <a:pt x="0" y="310"/>
                  </a:lnTo>
                  <a:lnTo>
                    <a:pt x="3" y="310"/>
                  </a:lnTo>
                  <a:lnTo>
                    <a:pt x="8" y="310"/>
                  </a:lnTo>
                  <a:lnTo>
                    <a:pt x="11" y="309"/>
                  </a:lnTo>
                  <a:lnTo>
                    <a:pt x="15" y="309"/>
                  </a:lnTo>
                  <a:lnTo>
                    <a:pt x="17" y="308"/>
                  </a:lnTo>
                  <a:lnTo>
                    <a:pt x="21" y="308"/>
                  </a:lnTo>
                  <a:lnTo>
                    <a:pt x="23" y="307"/>
                  </a:lnTo>
                  <a:lnTo>
                    <a:pt x="25" y="306"/>
                  </a:lnTo>
                  <a:lnTo>
                    <a:pt x="26" y="306"/>
                  </a:lnTo>
                  <a:lnTo>
                    <a:pt x="27" y="305"/>
                  </a:lnTo>
                  <a:lnTo>
                    <a:pt x="29" y="304"/>
                  </a:lnTo>
                  <a:lnTo>
                    <a:pt x="30" y="303"/>
                  </a:lnTo>
                  <a:lnTo>
                    <a:pt x="31" y="302"/>
                  </a:lnTo>
                  <a:lnTo>
                    <a:pt x="31" y="301"/>
                  </a:lnTo>
                  <a:lnTo>
                    <a:pt x="32" y="300"/>
                  </a:lnTo>
                  <a:lnTo>
                    <a:pt x="33" y="299"/>
                  </a:lnTo>
                  <a:lnTo>
                    <a:pt x="33" y="296"/>
                  </a:lnTo>
                  <a:lnTo>
                    <a:pt x="34" y="294"/>
                  </a:lnTo>
                  <a:lnTo>
                    <a:pt x="36" y="291"/>
                  </a:lnTo>
                  <a:lnTo>
                    <a:pt x="36" y="289"/>
                  </a:lnTo>
                  <a:lnTo>
                    <a:pt x="36" y="285"/>
                  </a:lnTo>
                  <a:lnTo>
                    <a:pt x="37" y="282"/>
                  </a:lnTo>
                  <a:lnTo>
                    <a:pt x="37" y="277"/>
                  </a:lnTo>
                  <a:lnTo>
                    <a:pt x="37" y="273"/>
                  </a:lnTo>
                  <a:lnTo>
                    <a:pt x="37" y="87"/>
                  </a:lnTo>
                  <a:lnTo>
                    <a:pt x="37" y="78"/>
                  </a:lnTo>
                  <a:lnTo>
                    <a:pt x="37" y="71"/>
                  </a:lnTo>
                  <a:lnTo>
                    <a:pt x="37" y="64"/>
                  </a:lnTo>
                  <a:lnTo>
                    <a:pt x="36" y="58"/>
                  </a:lnTo>
                  <a:lnTo>
                    <a:pt x="36" y="53"/>
                  </a:lnTo>
                  <a:lnTo>
                    <a:pt x="36" y="48"/>
                  </a:lnTo>
                  <a:lnTo>
                    <a:pt x="36" y="45"/>
                  </a:lnTo>
                  <a:lnTo>
                    <a:pt x="34" y="43"/>
                  </a:lnTo>
                  <a:lnTo>
                    <a:pt x="34" y="41"/>
                  </a:lnTo>
                  <a:lnTo>
                    <a:pt x="33" y="40"/>
                  </a:lnTo>
                  <a:lnTo>
                    <a:pt x="33" y="38"/>
                  </a:lnTo>
                  <a:lnTo>
                    <a:pt x="32" y="37"/>
                  </a:lnTo>
                  <a:lnTo>
                    <a:pt x="32" y="36"/>
                  </a:lnTo>
                  <a:lnTo>
                    <a:pt x="31" y="34"/>
                  </a:lnTo>
                  <a:lnTo>
                    <a:pt x="30" y="34"/>
                  </a:lnTo>
                  <a:lnTo>
                    <a:pt x="29" y="33"/>
                  </a:lnTo>
                  <a:lnTo>
                    <a:pt x="29" y="32"/>
                  </a:lnTo>
                  <a:lnTo>
                    <a:pt x="27" y="30"/>
                  </a:lnTo>
                  <a:lnTo>
                    <a:pt x="26" y="30"/>
                  </a:lnTo>
                  <a:lnTo>
                    <a:pt x="25" y="30"/>
                  </a:lnTo>
                  <a:lnTo>
                    <a:pt x="23" y="29"/>
                  </a:lnTo>
                  <a:lnTo>
                    <a:pt x="22" y="29"/>
                  </a:lnTo>
                  <a:lnTo>
                    <a:pt x="21" y="29"/>
                  </a:lnTo>
                  <a:lnTo>
                    <a:pt x="19" y="29"/>
                  </a:lnTo>
                  <a:lnTo>
                    <a:pt x="17" y="29"/>
                  </a:lnTo>
                  <a:lnTo>
                    <a:pt x="16" y="29"/>
                  </a:lnTo>
                  <a:lnTo>
                    <a:pt x="15" y="29"/>
                  </a:lnTo>
                  <a:lnTo>
                    <a:pt x="13" y="30"/>
                  </a:lnTo>
                  <a:lnTo>
                    <a:pt x="10" y="30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3" y="33"/>
                  </a:lnTo>
                  <a:lnTo>
                    <a:pt x="0" y="25"/>
                  </a:lnTo>
                  <a:lnTo>
                    <a:pt x="65" y="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2564" y="2210"/>
              <a:ext cx="12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2617" y="2210"/>
              <a:ext cx="12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2670" y="2210"/>
              <a:ext cx="12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2564" y="2787"/>
              <a:ext cx="12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2617" y="2787"/>
              <a:ext cx="12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2670" y="2787"/>
              <a:ext cx="12" cy="1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73" name="Google Shape;173;p6"/>
          <p:cNvSpPr txBox="1"/>
          <p:nvPr/>
        </p:nvSpPr>
        <p:spPr>
          <a:xfrm>
            <a:off x="999354" y="4553479"/>
            <a:ext cx="203132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*Punt1;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**Punt2;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Allocazione e rilascio di memoria</a:t>
            </a:r>
            <a:endParaRPr/>
          </a:p>
        </p:txBody>
      </p:sp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Apposite funzioni definite nella standard library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&lt;stdlib.h&gt; </a:t>
            </a:r>
            <a:r>
              <a:rPr lang="it-IT"/>
              <a:t>si occupano della gestione della memoria dinamica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malloc()</a:t>
            </a:r>
            <a:r>
              <a:rPr lang="it-IT"/>
              <a:t>	per l'allocazione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free()		</a:t>
            </a:r>
            <a:r>
              <a:rPr lang="it-IT"/>
              <a:t>per il rilascio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Il programma le può invocare in qualsiasi momento per agire sullo heap</a:t>
            </a:r>
            <a:endParaRPr/>
          </a:p>
        </p:txBody>
      </p:sp>
      <p:sp>
        <p:nvSpPr>
          <p:cNvPr id="180" name="Google Shape;18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Puntatori e &lt;stdlib.h&gt;</a:t>
            </a:r>
            <a:endParaRPr/>
          </a:p>
        </p:txBody>
      </p:sp>
      <p:sp>
        <p:nvSpPr>
          <p:cNvPr id="186" name="Google Shape;18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La libreria stdlib.h contiene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I	prototipi delle funzioni di allocazione dinamica della memoria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malloc()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free()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La dichiarazione della costante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NULL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Puntatore nullo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Non punta ad alcuna area significativa di memoria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it-IT"/>
              <a:t>ANSI impone che rappresenti il valore 0</a:t>
            </a:r>
            <a:endParaRPr/>
          </a:p>
        </p:txBody>
      </p:sp>
      <p:sp>
        <p:nvSpPr>
          <p:cNvPr id="187" name="Google Shape;18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Allocazione: malloc()</a:t>
            </a:r>
            <a:endParaRPr/>
          </a:p>
        </p:txBody>
      </p:sp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void * malloc(int);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Riceve come parametro il numero di byte da allocare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Normalmente si usa la funzione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sizeof() </a:t>
            </a:r>
            <a:r>
              <a:rPr lang="it-IT"/>
              <a:t>per indicare la dimensione dei dati da allocare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Restituisce un puntatore di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void *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Il puntatore di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void *</a:t>
            </a:r>
            <a:r>
              <a:rPr lang="it-IT"/>
              <a:t> può essere poi assegnato a qualsiasi altro puntatore per usare la nuova variabile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Se non c'è più memoria disponibile (perché lo heap è già pieno),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malloc() </a:t>
            </a:r>
            <a:r>
              <a:rPr lang="it-IT"/>
              <a:t>restituisce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NULL</a:t>
            </a:r>
            <a:endParaRPr/>
          </a:p>
        </p:txBody>
      </p:sp>
      <p:sp>
        <p:nvSpPr>
          <p:cNvPr id="194" name="Google Shape;19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Allocazione: malloc()</a:t>
            </a:r>
            <a:endParaRPr/>
          </a:p>
        </p:txBody>
      </p:sp>
      <p:sp>
        <p:nvSpPr>
          <p:cNvPr id="200" name="Google Shape;20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typedef … any definition … TipoDato;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typedef TipoDato * PTD;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PTD ref;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ref = (PTD) malloc(sizeof(TipoDato));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Alloca nello heap una variabile dinamica (grande quanto un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TipoDato</a:t>
            </a:r>
            <a:r>
              <a:rPr lang="it-IT"/>
              <a:t>) e restituisce l'indirizzo della prima cella occupata da tale variabile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Dopo l’assegnamento,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ref</a:t>
            </a:r>
            <a:r>
              <a:rPr lang="it-IT"/>
              <a:t> e punta alla nuova variabile, che è accessibile per dereferenziazione (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*ref</a:t>
            </a:r>
            <a:r>
              <a:rPr lang="it-IT"/>
              <a:t>)</a:t>
            </a:r>
            <a:endParaRPr/>
          </a:p>
        </p:txBody>
      </p:sp>
      <p:sp>
        <p:nvSpPr>
          <p:cNvPr id="201" name="Google Shape;20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Attenzione</a:t>
            </a:r>
            <a:endParaRPr/>
          </a:p>
        </p:txBody>
      </p:sp>
      <p:sp>
        <p:nvSpPr>
          <p:cNvPr id="207" name="Google Shape;20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Lo spazio allocato da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malloc()</a:t>
            </a:r>
            <a:r>
              <a:rPr lang="it-IT"/>
              <a:t> è  per  la  nuova  variabile, di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TipoDato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Lo spazio per la variabile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ref</a:t>
            </a:r>
            <a:r>
              <a:rPr lang="it-IT"/>
              <a:t> già esisteva!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ref = (PTD) malloc(sizeof(TipoDato));</a:t>
            </a:r>
            <a:endParaRPr/>
          </a:p>
          <a:p>
            <a:pPr indent="-134619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cast esplicito specifica al compilatore che il programmatore è consapevole che il puntatore è convertito da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void *</a:t>
            </a:r>
            <a:r>
              <a:rPr lang="it-IT"/>
              <a:t> 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PTD</a:t>
            </a:r>
            <a:r>
              <a:rPr lang="it-IT"/>
              <a:t> (cioè a puntatore 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TipoDato</a:t>
            </a:r>
            <a:r>
              <a:rPr lang="it-IT"/>
              <a:t>)</a:t>
            </a:r>
            <a:endParaRPr/>
          </a:p>
        </p:txBody>
      </p:sp>
      <p:sp>
        <p:nvSpPr>
          <p:cNvPr id="208" name="Google Shape;20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Deallocazione: free()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void free(void *);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Libera la memoria allocata tramite la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</a:t>
            </a:r>
            <a:r>
              <a:rPr lang="it-IT"/>
              <a:t>, che dopo l'esecuzione è pronta ad essere riusata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Riceve un puntatore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void *</a:t>
            </a:r>
            <a:r>
              <a:rPr lang="it-IT"/>
              <a:t> come argomento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free(ref);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N.B.: non serve specificare la dimensione in byte!</a:t>
            </a:r>
            <a:endParaRPr/>
          </a:p>
        </p:txBody>
      </p:sp>
      <p:sp>
        <p:nvSpPr>
          <p:cNvPr id="215" name="Google Shape;21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malloc() e free()</a:t>
            </a:r>
            <a:endParaRPr/>
          </a:p>
        </p:txBody>
      </p:sp>
      <p:sp>
        <p:nvSpPr>
          <p:cNvPr id="221" name="Google Shape;22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Esempio: allocare una var. dinamica di tipo char, assegnarle 'a', stamparla e infine deallocarla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char * ptr;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ptr = (char *) malloc(sizeof(char));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*ptr = 'a';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printf("Carattere: %c\n", *ptr);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free(ptr);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ptr</a:t>
            </a:r>
            <a:r>
              <a:rPr lang="it-IT"/>
              <a:t> </a:t>
            </a:r>
            <a:r>
              <a:rPr i="1" lang="it-IT" u="sng"/>
              <a:t>non</a:t>
            </a:r>
            <a:r>
              <a:rPr lang="it-IT"/>
              <a:t> è eliminato, e può essere riusato per una nuova malloc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Infatti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ptr</a:t>
            </a:r>
            <a:r>
              <a:rPr lang="it-IT"/>
              <a:t> e’ una variabile automatica</a:t>
            </a:r>
            <a:endParaRPr/>
          </a:p>
        </p:txBody>
      </p:sp>
      <p:sp>
        <p:nvSpPr>
          <p:cNvPr id="222" name="Google Shape;2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Confrontare ...</a:t>
            </a:r>
            <a:endParaRPr/>
          </a:p>
        </p:txBody>
      </p:sp>
      <p:sp>
        <p:nvSpPr>
          <p:cNvPr id="228" name="Google Shape;2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228600" y="3522272"/>
            <a:ext cx="8851900" cy="1581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228600" y="1755685"/>
            <a:ext cx="8686800" cy="1332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57200" y="1417638"/>
            <a:ext cx="8229600" cy="489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char c = 'a';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Varibile char AUTOMATICA */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printf("Carattere: %c\n", c);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marR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char c;	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Varibile char AUTOMATICA */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void * ptr;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"buono per tutti gli usi" */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 = &amp;c; *ptr = 'a';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printf("Carattere: %c\n", *ptr);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marR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char * ptr;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"buono per tutti gli usi" */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 = (char *) malloc(sizeof(char));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var. char DINAMICA */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*ptr = 'a';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printf("Carattere: %c\n", *ptr);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free( ptr );</a:t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Inversione di una sequenza di interi</a:t>
            </a:r>
            <a:endParaRPr/>
          </a:p>
        </p:txBody>
      </p:sp>
      <p:sp>
        <p:nvSpPr>
          <p:cNvPr id="237" name="Google Shape;23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Avevamo imparato studiando questo problema che l’uso degli array può semplificare assai la scrittura dei programmi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Restava però irrisolto il problema del pre-dimensionamento opportuno dell’array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Ora possiamo pensare di allocare un array dinamico piccolo …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... e sostituirlo con uno più grande solo se necessario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Attenzione: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malloc()</a:t>
            </a:r>
            <a:r>
              <a:rPr lang="it-IT"/>
              <a:t>alloca blocchi contigui di memoria ad ogni invocazione, ma invocazioni diverse restituiscono blocchi totalmente scorrelati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Quando un vettore si riempie, quindi, occorre ricopiare nel nuovo vettore la sequenza memorizzata fino a quel punto</a:t>
            </a:r>
            <a:endParaRPr/>
          </a:p>
        </p:txBody>
      </p:sp>
      <p:sp>
        <p:nvSpPr>
          <p:cNvPr id="238" name="Google Shape;23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4" name="Google Shape;244;p16"/>
          <p:cNvSpPr txBox="1"/>
          <p:nvPr>
            <p:ph idx="4294967295" type="body"/>
          </p:nvPr>
        </p:nvSpPr>
        <p:spPr>
          <a:xfrm>
            <a:off x="673330" y="1600200"/>
            <a:ext cx="755626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void printReverse( int v[ ], int len );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* replace(int *v, int l_max, int inc);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int n, *v, lung_max = DIM_INIZIALE, i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v = (int *) </a:t>
            </a: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malloc</a:t>
            </a: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(lung_max * sizeof(int));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while (n != SENTINELLA)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v[i++] = 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if ( i == lung_max 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v = replace(v, lung_max, INCREMENTO);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lung_max += INCREMENTO;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    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    	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   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"/>
              <a:buNone/>
            </a:pP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	printReverse(v, i-1);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return 0;        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5104015" y="371678"/>
            <a:ext cx="3582785" cy="92333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#define SENTINELLA 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#define DIM_INIZIALE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#define INCREMENTO 50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1" name="Google Shape;251;p17"/>
          <p:cNvSpPr txBox="1"/>
          <p:nvPr>
            <p:ph idx="4294967295" type="body"/>
          </p:nvPr>
        </p:nvSpPr>
        <p:spPr>
          <a:xfrm>
            <a:off x="581890" y="989216"/>
            <a:ext cx="8104910" cy="513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* replace( int *v, int l_max, int inc ) {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int * vet = (int *) </a:t>
            </a: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malloc</a:t>
            </a: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((l_max+inc) * sizeof(int));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for (int i = 0; i &lt; l_max; i++)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vet[i] = v[i];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free</a:t>
            </a: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(v);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return vet;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void printReverse(int v[], int len) {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while (len &gt; 0)			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printf("%d", v[--len]);		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					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7" name="Google Shape;257;p18"/>
          <p:cNvSpPr txBox="1"/>
          <p:nvPr>
            <p:ph idx="4294967295" type="body"/>
          </p:nvPr>
        </p:nvSpPr>
        <p:spPr>
          <a:xfrm>
            <a:off x="731519" y="1325880"/>
            <a:ext cx="778071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replace2(int ** v, int l_max, int inc) {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*v = replace(*v, l_max, inc);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replace2(int ** v, int l_max, int inc)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int * vet = (int *) 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malloc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((l_max+inc) * sizeof(int));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for (int i=0; i&lt;l_max; i++)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vet[i] = (*v)[i];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urier"/>
              <a:buNone/>
            </a:pP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   free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( *v 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*v = vet;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(i == lung_max)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replace2(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&amp;v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, lung_max, INCREMENTO);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lung_max += INCREMENTO;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Inversione di una sequenza di interi</a:t>
            </a:r>
            <a:endParaRPr/>
          </a:p>
        </p:txBody>
      </p:sp>
      <p:sp>
        <p:nvSpPr>
          <p:cNvPr id="263" name="Google Shape;26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Ora sappiamo usare (quasi) solo la memoria realmente necessaria per la memorizzazione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Lo schema di incremento è piuttosto rigido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Si può migliorare per cercare di limitare il numero di ricopiature, man mano che la sequenza si allunga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Incrementare / raddoppiare l’incremento a ogni rimpiazzo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Incrementare ogni volta di una percentuale (fissa o variabile)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Possiamo ancora migliorare questa soluzione: impareremo come allocare le variabili una alla volta senza ricopiare mai la sequenza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Tipo di dato astratto: </a:t>
            </a:r>
            <a:r>
              <a:rPr i="1" lang="it-IT"/>
              <a:t>lista dinamica</a:t>
            </a:r>
            <a:endParaRPr/>
          </a:p>
        </p:txBody>
      </p:sp>
      <p:sp>
        <p:nvSpPr>
          <p:cNvPr id="264" name="Google Shape;2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Produzione di "spazzatura"</a:t>
            </a:r>
            <a:endParaRPr/>
          </a:p>
        </p:txBody>
      </p:sp>
      <p:sp>
        <p:nvSpPr>
          <p:cNvPr id="270" name="Google Shape;27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memoria allocata dinamicamente può diventare inaccessibile se nessun puntatore punta più ad essa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Risulta sprecata, e non è recuperabile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invocare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free() </a:t>
            </a:r>
            <a:r>
              <a:rPr lang="it-IT"/>
              <a:t>è necessario un puntatore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È spazzatura (garbage) che non si può smaltire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Esempio banale  </a:t>
            </a:r>
            <a:endParaRPr/>
          </a:p>
          <a:p>
            <a:pPr indent="0" lvl="1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TipoDato *P, *Q;</a:t>
            </a:r>
            <a:endParaRPr/>
          </a:p>
          <a:p>
            <a:pPr indent="0" lvl="1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P = (TipoDato *) malloc(sizeof(TipoDato));</a:t>
            </a:r>
            <a:endParaRPr/>
          </a:p>
          <a:p>
            <a:pPr indent="0" lvl="1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Q = (TipoDato *) malloc(sizeof(TipoDato));</a:t>
            </a:r>
            <a:endParaRPr/>
          </a:p>
          <a:p>
            <a:pPr indent="0" lvl="1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P = Q;</a:t>
            </a:r>
            <a:endParaRPr/>
          </a:p>
          <a:p>
            <a:pPr indent="0" lvl="1" marL="457200" rtl="0" algn="l">
              <a:spcBef>
                <a:spcPts val="408"/>
              </a:spcBef>
              <a:spcAft>
                <a:spcPts val="0"/>
              </a:spcAft>
              <a:buClr>
                <a:srgbClr val="33CC33"/>
              </a:buClr>
              <a:buSzPct val="100000"/>
              <a:buNone/>
            </a:pPr>
            <a:r>
              <a:rPr lang="it-IT" sz="24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La variabile che era puntata da P è garbage */</a:t>
            </a:r>
            <a:endParaRPr/>
          </a:p>
        </p:txBody>
      </p:sp>
      <p:sp>
        <p:nvSpPr>
          <p:cNvPr id="271" name="Google Shape;2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Puntatori "ciondolanti"</a:t>
            </a:r>
            <a:endParaRPr/>
          </a:p>
        </p:txBody>
      </p:sp>
      <p:sp>
        <p:nvSpPr>
          <p:cNvPr id="277" name="Google Shape;27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Detti abitualmente </a:t>
            </a:r>
            <a:r>
              <a:rPr i="1" lang="it-IT"/>
              <a:t>dangling references</a:t>
            </a:r>
            <a:endParaRPr i="1"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Sono puntatori a zone di memoria deallocate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Cioè a variabili dinamiche non più esistenti</a:t>
            </a:r>
            <a:endParaRPr/>
          </a:p>
          <a:p>
            <a:pPr indent="0" lvl="1" marL="4572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P = Q;</a:t>
            </a:r>
            <a:endParaRPr/>
          </a:p>
          <a:p>
            <a:pPr indent="0" lvl="1" marL="4572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free(Q); </a:t>
            </a:r>
            <a:r>
              <a:rPr lang="it-IT" sz="24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ora accedere a *P causerebbe un errore 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Sono più gravi della produzione di garbage: portano a veri e propri errori 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Alcuni linguaggi (Java) non hanno una operazione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free()</a:t>
            </a:r>
            <a:r>
              <a:rPr lang="it-IT"/>
              <a:t>, ma un </a:t>
            </a:r>
            <a:r>
              <a:rPr i="1" lang="it-IT"/>
              <a:t>garbage collector …</a:t>
            </a:r>
            <a:endParaRPr i="1"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… ovvero un componente della macchina astratta che trova e riutilizza la memoria inaccessibile (non più referenziata)</a:t>
            </a:r>
            <a:endParaRPr/>
          </a:p>
        </p:txBody>
      </p:sp>
      <p:sp>
        <p:nvSpPr>
          <p:cNvPr id="278" name="Google Shape;2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Avvertimento</a:t>
            </a:r>
            <a:endParaRPr/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Puntatori e variabili dinamiche portano a programmare a basso livello e "pericolosamente"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Sono da usare con parsimonia, solo quando è strettamente necessario, e cioè: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Per passare parametri per indirizzo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Per costruire strutture dati complesse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Liste dinamiche (che studiamo subito), ... alberi, grafi ...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Pochissimi altri scenari d’uso</a:t>
            </a:r>
            <a:endParaRPr/>
          </a:p>
        </p:txBody>
      </p:sp>
      <p:sp>
        <p:nvSpPr>
          <p:cNvPr id="285" name="Google Shape;28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Un intermezzo: con i puntatori…</a:t>
            </a:r>
            <a:endParaRPr/>
          </a:p>
        </p:txBody>
      </p:sp>
      <p:sp>
        <p:nvSpPr>
          <p:cNvPr id="291" name="Google Shape;291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… è possibile programmare molto male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modo criptico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Generando effetti difficili da tracciare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modo che il funzionamento del programma dipenda da come uno specifico sistema gestisce la memoria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Lo stesso programma può funzionare in modo diverso su macchine diverse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possono fare danni considerevoli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Non sempre la macchina reale si comporta come il modello suggerirebbe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Vediamo due esempi di cosa “si riesce a fare…”</a:t>
            </a:r>
            <a:endParaRPr/>
          </a:p>
        </p:txBody>
      </p:sp>
      <p:sp>
        <p:nvSpPr>
          <p:cNvPr id="292" name="Google Shape;29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Puntatori a variabili automatiche</a:t>
            </a:r>
            <a:endParaRPr/>
          </a:p>
        </p:txBody>
      </p:sp>
      <p:sp>
        <p:nvSpPr>
          <p:cNvPr id="298" name="Google Shape;29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609600" y="1815219"/>
            <a:ext cx="47498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#include</a:t>
            </a: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&lt;stdio.h&gt;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* 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void boh()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int x = 55;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p = &amp;x;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int x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boh();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printf("risultato= %d", *p);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3308465" y="2451252"/>
            <a:ext cx="5378335" cy="143574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4000" lIns="91425" spcFirstLastPara="1" rIns="91425" wrap="square" tIns="144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è dangling dopo la chiamata di </a:t>
            </a: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boh()</a:t>
            </a: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pratica, però, stampa 55.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it-IT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Perché?</a:t>
            </a:r>
            <a:endParaRPr i="1" sz="2400"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431538" y="836944"/>
            <a:ext cx="4134600" cy="5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#include</a:t>
            </a: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&lt;stdio.h&gt;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* 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void boh()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x = 55;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 = &amp;x;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void bohboh()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y = 100;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int x =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p = &amp;x;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boh();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bohboh();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printf("risultato= %d\n", *p);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3208725" y="836951"/>
            <a:ext cx="5654100" cy="3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Che cosa fa?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è assegnato all'indirizzo della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automatica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main()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che ha valore 1.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Poi la chiamata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boh() 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 riassegna alla sua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automatica, locale al sottoprogramma (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è globale!)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boh()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termina, e il suo record di attivazione è sovrascritto da quello di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bohboh()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che è strutturalmente uguale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Quindi la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“cade” dove prima c'era la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e 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printf()</a:t>
            </a: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stampa il valore 100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3" name="Google Shape;313;p26"/>
          <p:cNvSpPr txBox="1"/>
          <p:nvPr>
            <p:ph idx="4294967295" type="body"/>
          </p:nvPr>
        </p:nvSpPr>
        <p:spPr>
          <a:xfrm>
            <a:off x="490451" y="1197031"/>
            <a:ext cx="8071658" cy="4563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7463" lvl="0" marL="7937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t-IT" sz="3600"/>
              <a:t>Sono esempi di quello che</a:t>
            </a:r>
            <a:endParaRPr/>
          </a:p>
          <a:p>
            <a:pPr indent="17463" lvl="0" marL="79375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i="1" lang="it-IT" sz="3600" u="sng"/>
              <a:t>non</a:t>
            </a:r>
            <a:r>
              <a:rPr lang="it-IT" sz="3600"/>
              <a:t> si deve fare con i puntatori</a:t>
            </a:r>
            <a:endParaRPr/>
          </a:p>
          <a:p>
            <a:pPr indent="17463" lvl="0" marL="79375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sz="3600"/>
          </a:p>
          <a:p>
            <a:pPr indent="17463" lvl="0" marL="79375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t-IT" sz="3600"/>
              <a:t>(indipendentemente dalla</a:t>
            </a:r>
            <a:endParaRPr/>
          </a:p>
          <a:p>
            <a:pPr indent="17463" lvl="0" marL="79375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t-IT" sz="3600"/>
              <a:t>memoria dinamica)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t-IT"/>
              <a:t>STRUTTURE DATI DINAMICHE</a:t>
            </a:r>
            <a:endParaRPr/>
          </a:p>
        </p:txBody>
      </p:sp>
      <p:sp>
        <p:nvSpPr>
          <p:cNvPr id="319" name="Google Shape;31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Strutture dati dinamiche</a:t>
            </a:r>
            <a:endParaRPr/>
          </a:p>
        </p:txBody>
      </p:sp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Crescono e decrescono durante l'esecuzione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Lista concatenata (linked list)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Inserimenti/cancellazioni facili in qualsiasi punto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Pila (stack)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Inserimenti/cancellazioni solo in cima (accesso LIFO)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Coda (queue)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Inserimenti “in coda” e cancellazioni “in testa” (FIFO)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Albero binaro (binary tree)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Ricerca e ordinamento veloce di dati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Rimozione efficiente dei duplicati</a:t>
            </a:r>
            <a:endParaRPr/>
          </a:p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Strutture dati ricorsive</a:t>
            </a:r>
            <a:br>
              <a:rPr lang="it-IT"/>
            </a:br>
            <a:r>
              <a:rPr lang="it-IT"/>
              <a:t>(o auto-referenziali)</a:t>
            </a:r>
            <a:endParaRPr/>
          </a:p>
        </p:txBody>
      </p:sp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457200" y="1600201"/>
            <a:ext cx="8229600" cy="2282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Strutture con puntatori a strutture dello stesso tipo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possono concatenare per ottenere strutture dati utili come: liste, code, pile, alberi, ...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“Terminano” con NULL</a:t>
            </a:r>
            <a:endParaRPr/>
          </a:p>
        </p:txBody>
      </p:sp>
      <p:sp>
        <p:nvSpPr>
          <p:cNvPr id="333" name="Google Shape;33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1223225" y="4452482"/>
            <a:ext cx="495300" cy="747712"/>
          </a:xfrm>
          <a:custGeom>
            <a:rect b="b" l="l" r="r" t="t"/>
            <a:pathLst>
              <a:path extrusionOk="0" h="20000" w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5" name="Google Shape;335;p29"/>
          <p:cNvSpPr/>
          <p:nvPr/>
        </p:nvSpPr>
        <p:spPr>
          <a:xfrm rot="-719965">
            <a:off x="1458113" y="4618992"/>
            <a:ext cx="1920480" cy="51950"/>
          </a:xfrm>
          <a:custGeom>
            <a:rect b="b" l="l" r="r" t="t"/>
            <a:pathLst>
              <a:path extrusionOk="0" h="20000" w="20000">
                <a:moveTo>
                  <a:pt x="19970" y="0"/>
                </a:move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lg" w="lg" type="triangle"/>
            <a:tailEnd len="med" w="med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3343903" y="4065584"/>
            <a:ext cx="658405" cy="720000"/>
          </a:xfrm>
          <a:custGeom>
            <a:rect b="b" l="l" r="r" t="t"/>
            <a:pathLst>
              <a:path extrusionOk="0" h="20000" w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4210355" y="4329451"/>
            <a:ext cx="155575" cy="141288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6725415" y="5330480"/>
            <a:ext cx="2114606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Puntatore NULL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 punta a niente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3222681" y="4960026"/>
            <a:ext cx="1447800" cy="9255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 e  puntatore al successivo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6226231" y="4860470"/>
            <a:ext cx="838200" cy="3762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90605" y="5338308"/>
            <a:ext cx="1806365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Puntatore iniziale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Rappresenta la struttura</a:t>
            </a:r>
            <a:endParaRPr/>
          </a:p>
        </p:txBody>
      </p:sp>
      <p:grpSp>
        <p:nvGrpSpPr>
          <p:cNvPr id="342" name="Google Shape;342;p29"/>
          <p:cNvGrpSpPr/>
          <p:nvPr/>
        </p:nvGrpSpPr>
        <p:grpSpPr>
          <a:xfrm>
            <a:off x="7160418" y="4419923"/>
            <a:ext cx="919163" cy="747713"/>
            <a:chOff x="4738" y="2347"/>
            <a:chExt cx="579" cy="471"/>
          </a:xfrm>
        </p:grpSpPr>
        <p:sp>
          <p:nvSpPr>
            <p:cNvPr id="343" name="Google Shape;343;p29"/>
            <p:cNvSpPr/>
            <p:nvPr/>
          </p:nvSpPr>
          <p:spPr>
            <a:xfrm>
              <a:off x="4738" y="2347"/>
              <a:ext cx="462" cy="367"/>
            </a:xfrm>
            <a:custGeom>
              <a:rect b="b" l="l" r="r" t="t"/>
              <a:pathLst>
                <a:path extrusionOk="0" h="367" w="462">
                  <a:moveTo>
                    <a:pt x="462" y="367"/>
                  </a:moveTo>
                  <a:lnTo>
                    <a:pt x="462" y="0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44" name="Google Shape;344;p29"/>
            <p:cNvCxnSpPr/>
            <p:nvPr/>
          </p:nvCxnSpPr>
          <p:spPr>
            <a:xfrm>
              <a:off x="5090" y="2714"/>
              <a:ext cx="227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29"/>
            <p:cNvCxnSpPr/>
            <p:nvPr/>
          </p:nvCxnSpPr>
          <p:spPr>
            <a:xfrm>
              <a:off x="5130" y="2768"/>
              <a:ext cx="147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29"/>
            <p:cNvCxnSpPr/>
            <p:nvPr/>
          </p:nvCxnSpPr>
          <p:spPr>
            <a:xfrm>
              <a:off x="5170" y="2818"/>
              <a:ext cx="68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7" name="Google Shape;347;p29"/>
          <p:cNvSpPr/>
          <p:nvPr/>
        </p:nvSpPr>
        <p:spPr>
          <a:xfrm>
            <a:off x="4002308" y="4070179"/>
            <a:ext cx="495300" cy="712426"/>
          </a:xfrm>
          <a:custGeom>
            <a:rect b="b" l="l" r="r" t="t"/>
            <a:pathLst>
              <a:path extrusionOk="0" h="20000" w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29"/>
          <p:cNvSpPr/>
          <p:nvPr/>
        </p:nvSpPr>
        <p:spPr>
          <a:xfrm flipH="1" rot="10800000">
            <a:off x="4284883" y="4368429"/>
            <a:ext cx="1842923" cy="51494"/>
          </a:xfrm>
          <a:custGeom>
            <a:rect b="b" l="l" r="r" t="t"/>
            <a:pathLst>
              <a:path extrusionOk="0" h="20000" w="20000">
                <a:moveTo>
                  <a:pt x="19970" y="0"/>
                </a:move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lg" w="lg" type="triangle"/>
            <a:tailEnd len="med" w="med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6127806" y="4062605"/>
            <a:ext cx="658405" cy="720000"/>
          </a:xfrm>
          <a:custGeom>
            <a:rect b="b" l="l" r="r" t="t"/>
            <a:pathLst>
              <a:path extrusionOk="0" h="20000" w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6786211" y="4062605"/>
            <a:ext cx="495300" cy="719999"/>
          </a:xfrm>
          <a:custGeom>
            <a:rect b="b" l="l" r="r" t="t"/>
            <a:pathLst>
              <a:path extrusionOk="0" h="20000" w="20000">
                <a:moveTo>
                  <a:pt x="19944" y="0"/>
                </a:moveTo>
                <a:lnTo>
                  <a:pt x="19944" y="19944"/>
                </a:lnTo>
                <a:lnTo>
                  <a:pt x="0" y="19944"/>
                </a:lnTo>
                <a:lnTo>
                  <a:pt x="0" y="0"/>
                </a:lnTo>
                <a:lnTo>
                  <a:pt x="19944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La lista</a:t>
            </a:r>
            <a:endParaRPr/>
          </a:p>
        </p:txBody>
      </p:sp>
      <p:sp>
        <p:nvSpPr>
          <p:cNvPr id="356" name="Google Shape;356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Composta da elementi allocati dinamicamente, il cui numero cambia durante l'esecuzione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accede agli elementi tramite puntatori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Ogni elemento contiene un puntatore al prossimo elemento della lista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primo deve essere puntato “a parte”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Non ha un precedente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L'ultimo non deve puntare “a niente”</a:t>
            </a:r>
            <a:endParaRPr/>
          </a:p>
          <a:p>
            <a:pPr indent="-228600" lvl="2" marL="11430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Non ha un successivo</a:t>
            </a:r>
            <a:endParaRPr/>
          </a:p>
        </p:txBody>
      </p:sp>
      <p:sp>
        <p:nvSpPr>
          <p:cNvPr id="357" name="Google Shape;35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La lista</a:t>
            </a:r>
            <a:endParaRPr/>
          </a:p>
        </p:txBody>
      </p:sp>
      <p:sp>
        <p:nvSpPr>
          <p:cNvPr id="363" name="Google Shape;363;p31"/>
          <p:cNvSpPr txBox="1"/>
          <p:nvPr>
            <p:ph idx="1" type="body"/>
          </p:nvPr>
        </p:nvSpPr>
        <p:spPr>
          <a:xfrm>
            <a:off x="457200" y="1600200"/>
            <a:ext cx="8229600" cy="230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t-IT" sz="2800"/>
              <a:t>Inizio della lista: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it-IT" sz="2400"/>
              <a:t>  Variabile di tipo </a:t>
            </a:r>
            <a:r>
              <a:rPr i="1" lang="it-IT" sz="2400"/>
              <a:t>puntatore a elemento della lista</a:t>
            </a:r>
            <a:r>
              <a:rPr lang="it-IT" sz="2400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it-IT" sz="2800"/>
              <a:t>Fine della lista: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  </a:t>
            </a:r>
            <a:r>
              <a:rPr lang="it-IT" sz="2400"/>
              <a:t>Puntatore nell'ultimo elemento vale NULL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  </a:t>
            </a:r>
            <a:r>
              <a:rPr lang="it-IT" sz="2400"/>
              <a:t>NULL è interpretabile anche come "lista vuota"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365" name="Google Shape;365;p31"/>
          <p:cNvGrpSpPr/>
          <p:nvPr/>
        </p:nvGrpSpPr>
        <p:grpSpPr>
          <a:xfrm>
            <a:off x="2366963" y="4613232"/>
            <a:ext cx="2549525" cy="1757364"/>
            <a:chOff x="473" y="2928"/>
            <a:chExt cx="1606" cy="1107"/>
          </a:xfrm>
        </p:grpSpPr>
        <p:sp>
          <p:nvSpPr>
            <p:cNvPr descr="10%" id="366" name="Google Shape;366;p31"/>
            <p:cNvSpPr/>
            <p:nvPr/>
          </p:nvSpPr>
          <p:spPr>
            <a:xfrm>
              <a:off x="912" y="2928"/>
              <a:ext cx="1056" cy="576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7" name="Google Shape;367;p31"/>
            <p:cNvSpPr txBox="1"/>
            <p:nvPr/>
          </p:nvSpPr>
          <p:spPr>
            <a:xfrm>
              <a:off x="473" y="3744"/>
              <a:ext cx="16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Nodo (o Elemento)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8" name="Google Shape;368;p31"/>
            <p:cNvCxnSpPr/>
            <p:nvPr/>
          </p:nvCxnSpPr>
          <p:spPr>
            <a:xfrm flipH="1" rot="10800000">
              <a:off x="864" y="3456"/>
              <a:ext cx="288" cy="28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369" name="Google Shape;369;p31"/>
          <p:cNvSpPr/>
          <p:nvPr/>
        </p:nvSpPr>
        <p:spPr>
          <a:xfrm>
            <a:off x="1371600" y="4994229"/>
            <a:ext cx="914400" cy="914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70" name="Google Shape;370;p31"/>
          <p:cNvGraphicFramePr/>
          <p:nvPr/>
        </p:nvGraphicFramePr>
        <p:xfrm>
          <a:off x="457200" y="4613229"/>
          <a:ext cx="8305800" cy="1127125"/>
        </p:xfrm>
        <a:graphic>
          <a:graphicData uri="http://schemas.openxmlformats.org/presentationml/2006/ole">
            <mc:AlternateContent>
              <mc:Choice Requires="v">
                <p:oleObj r:id="rId4" imgH="1127125" imgW="8305800" progId="Word.Picture.8" spid="_x0000_s1">
                  <p:embed/>
                </p:oleObj>
              </mc:Choice>
              <mc:Fallback>
                <p:oleObj r:id="rId5" imgH="1127125" imgW="8305800" progId="Word.Picture.8">
                  <p:embed/>
                  <p:pic>
                    <p:nvPicPr>
                      <p:cNvPr id="370" name="Google Shape;370;p3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57200" y="4613229"/>
                        <a:ext cx="83058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Dichiarazione</a:t>
            </a:r>
            <a:endParaRPr/>
          </a:p>
        </p:txBody>
      </p:sp>
      <p:sp>
        <p:nvSpPr>
          <p:cNvPr id="376" name="Google Shape;376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Si definiscono il tipo del nodo …</a:t>
            </a:r>
            <a:endParaRPr/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typedef struct EL {</a:t>
            </a:r>
            <a:endParaRPr/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TipoElemento info;</a:t>
            </a:r>
            <a:endParaRPr/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struct EL * prox;</a:t>
            </a:r>
            <a:endParaRPr/>
          </a:p>
          <a:p>
            <a:pPr indent="0" lvl="2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 ElemLista;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… e il tipo del puntatore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t-IT"/>
              <a:t>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typedef ElemLista * ListaDiElem;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7" name="Google Shape;3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Dichiarazione (variante)</a:t>
            </a:r>
            <a:endParaRPr/>
          </a:p>
        </p:txBody>
      </p:sp>
      <p:sp>
        <p:nvSpPr>
          <p:cNvPr id="383" name="Google Shape;38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struct El { </a:t>
            </a:r>
            <a:endParaRPr/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   TipoElemento dato;</a:t>
            </a:r>
            <a:endParaRPr/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   struct El * prox; </a:t>
            </a:r>
            <a:endParaRPr/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};</a:t>
            </a:r>
            <a:endParaRPr/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typedef struct El ElemLista;</a:t>
            </a:r>
            <a:endParaRPr/>
          </a:p>
          <a:p>
            <a:pPr indent="0" lvl="0" marL="114300" rtl="0" algn="l"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typedef struct El * ListaDiElem;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puntatore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prox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Punta a un oggetto di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struct El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Si chiama link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Lega oggetti di tipo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struct El</a:t>
            </a:r>
            <a:r>
              <a:rPr lang="it-IT"/>
              <a:t> tra di loro</a:t>
            </a:r>
            <a:endParaRPr/>
          </a:p>
        </p:txBody>
      </p:sp>
      <p:sp>
        <p:nvSpPr>
          <p:cNvPr id="384" name="Google Shape;38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Liste concatenate (linked lists)</a:t>
            </a:r>
            <a:endParaRPr/>
          </a:p>
        </p:txBody>
      </p:sp>
      <p:sp>
        <p:nvSpPr>
          <p:cNvPr id="390" name="Google Shape;390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Lista concatenata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Collezione lineare di oggetti di tipo auto-referenziale, chiamati nodi, collegati tramite puntatori (link)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Vi si accede mediante un puntatore al primo nodo della lista (la testa della lista)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Gli elementi successivi al primo (la coda della lista) si raggiungono attraversando i puntatori (link) da un oggetto all'altro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Osservazione utile in seguito: la coda di una lista è una lista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puntatore (link) contenuto nell'ultimo elemento ha valore NULL</a:t>
            </a:r>
            <a:endParaRPr/>
          </a:p>
        </p:txBody>
      </p:sp>
      <p:sp>
        <p:nvSpPr>
          <p:cNvPr id="391" name="Google Shape;39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Liste concatenate (linked lists)</a:t>
            </a:r>
            <a:endParaRPr/>
          </a:p>
        </p:txBody>
      </p:sp>
      <p:sp>
        <p:nvSpPr>
          <p:cNvPr id="397" name="Google Shape;39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usano (al posto degli array) quando: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numero degli elementi non è noto a priori, e/o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lista deve essere mantenuta ordinata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Al prezzo di una gestione un po' più complessa, risolviamo i problemi di "spreco" di spazio e di tempo descritti all'inizio</a:t>
            </a:r>
            <a:endParaRPr/>
          </a:p>
          <a:p>
            <a:pPr indent="-130175" lvl="4" marL="2057400" rtl="0" algn="l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NOTA: gli elementi di una lista non sono necessariamente memorizzati in modo contiguo!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 nodi sono anzi di solito "sparpagliati" nello heap, e i link li "cuciono" in una sequenza che dalla testa arriva all'ultimo nodo</a:t>
            </a:r>
            <a:endParaRPr/>
          </a:p>
        </p:txBody>
      </p:sp>
      <p:sp>
        <p:nvSpPr>
          <p:cNvPr id="398" name="Google Shape;39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Modi di concatenare le liste</a:t>
            </a:r>
            <a:endParaRPr/>
          </a:p>
        </p:txBody>
      </p:sp>
      <p:sp>
        <p:nvSpPr>
          <p:cNvPr id="404" name="Google Shape;404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 sz="2400"/>
              <a:t>Liste semplicemente concatenate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Comincia con un puntatore al primo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Termina col puntatore nullo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Si attraversa solo in un solo verso (dalla testa fino in fondo)</a:t>
            </a:r>
            <a:endParaRPr/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 sz="2400"/>
              <a:t>Liste semplicemente concatenate circolari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Il puntatore contenuto nell'ultimo nodo punta di nuovo al primo</a:t>
            </a:r>
            <a:endParaRPr/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 sz="2400"/>
              <a:t>Liste doppiamente concatenate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Due puntatori di "inizio", uno al primo e uno all'ultimo elemento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Ogni nodo ha un puntatore "in avanti" e uno "indietro"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Permette l'attraversamento nelle due direzioni</a:t>
            </a:r>
            <a:endParaRPr/>
          </a:p>
          <a:p>
            <a:pPr indent="-20193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 sz="2400"/>
              <a:t>Liste doppiamente concatenate circolari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Il puntatore "in avanti" dell'ultimo nodo punta al primo nodo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–"/>
            </a:pPr>
            <a:r>
              <a:rPr lang="it-IT" sz="2000">
                <a:solidFill>
                  <a:srgbClr val="000000"/>
                </a:solidFill>
              </a:rPr>
              <a:t>Il puntatore "indietro" del primo nodo punta all'ultimo nodo</a:t>
            </a:r>
            <a:endParaRPr sz="2000"/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Creare un singolo nodo</a:t>
            </a:r>
            <a:endParaRPr/>
          </a:p>
        </p:txBody>
      </p:sp>
      <p:sp>
        <p:nvSpPr>
          <p:cNvPr id="411" name="Google Shape;411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typedef struct Nd { </a:t>
            </a:r>
            <a:br>
              <a:rPr lang="it-IT" sz="2000"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int dato;</a:t>
            </a:r>
            <a:br>
              <a:rPr lang="it-IT" sz="2000"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struct Nd * next;</a:t>
            </a:r>
            <a:br>
              <a:rPr lang="it-IT" sz="2000"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 Nodo;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typedef Nodo * ptrNodo;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ptrNodo ptr;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 nodo */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ptr = malloc(sizeof(Nodo));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nodo */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ptr-&gt;dato = 10;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nodo (dato) */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ptr-&gt;next = NULL;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nodo (link) */</a:t>
            </a:r>
            <a:endParaRPr/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Creare una lista di due nodi</a:t>
            </a:r>
            <a:endParaRPr/>
          </a:p>
        </p:txBody>
      </p:sp>
      <p:sp>
        <p:nvSpPr>
          <p:cNvPr id="418" name="Google Shape;418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ptrNodo Lista;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alla testa della lista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ptrNodo ptr;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ausiliario a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Lista = malloc(sizeof(Nodo));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1°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Lista-&gt;dato = 10;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1°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 = malloc(sizeof(Nodo));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2°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ptr-&gt;dato = 20;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2°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Lista-&gt;next = ptr;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Collega il 1° al 2°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ptr-&gt;next = NULL;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“Chiusura” lista al 2°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</p:txBody>
      </p:sp>
      <p:sp>
        <p:nvSpPr>
          <p:cNvPr id="419" name="Google Shape;41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Creare una lista di due nodi (variante)</a:t>
            </a:r>
            <a:endParaRPr/>
          </a:p>
        </p:txBody>
      </p:sp>
      <p:sp>
        <p:nvSpPr>
          <p:cNvPr id="425" name="Google Shape;425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ptrNodo Lista;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alla testa della lista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 = malloc(sizeof(Nodo));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1°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Lista-&gt;dato = 10;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1°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Lista-&gt;next = malloc(sizeof(Nodo);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2000"/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e attacca il 2° nodo in coda al primo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Lista-&gt;next-&gt;dato = 20;	 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2°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Lista-&gt;next-&gt;next = NULL; 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“Chiusura” al 2°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</p:txBody>
      </p:sp>
      <p:sp>
        <p:nvSpPr>
          <p:cNvPr id="426" name="Google Shape;42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Cancellare un nodo interno</a:t>
            </a:r>
            <a:endParaRPr/>
          </a:p>
        </p:txBody>
      </p:sp>
      <p:sp>
        <p:nvSpPr>
          <p:cNvPr id="432" name="Google Shape;432;p40"/>
          <p:cNvSpPr txBox="1"/>
          <p:nvPr>
            <p:ph idx="1" type="body"/>
          </p:nvPr>
        </p:nvSpPr>
        <p:spPr>
          <a:xfrm>
            <a:off x="457200" y="1445695"/>
            <a:ext cx="8379411" cy="287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ptrNodo ptr;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 nodo i° da cancellare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ptrNodo prec_ptr;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 nodo (i-1)° che				    			precede il nodo i° da cancellare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...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Qui si inizializzano ptr e prec_ptr …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prec_ptr-&gt;next = ptr-&gt;next;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800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collega il nodo (i-1)° all’ (i+1)°, saltando il nodo i°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free (ptr);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elimina il nodo i° */</a:t>
            </a:r>
            <a:endParaRPr/>
          </a:p>
        </p:txBody>
      </p:sp>
      <p:sp>
        <p:nvSpPr>
          <p:cNvPr id="433" name="Google Shape;43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34" name="Google Shape;434;p40"/>
          <p:cNvSpPr/>
          <p:nvPr/>
        </p:nvSpPr>
        <p:spPr>
          <a:xfrm>
            <a:off x="1978611" y="5246676"/>
            <a:ext cx="13716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35" name="Google Shape;435;p40"/>
          <p:cNvCxnSpPr/>
          <p:nvPr/>
        </p:nvCxnSpPr>
        <p:spPr>
          <a:xfrm>
            <a:off x="3350211" y="5627676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36" name="Google Shape;436;p40"/>
          <p:cNvSpPr/>
          <p:nvPr/>
        </p:nvSpPr>
        <p:spPr>
          <a:xfrm>
            <a:off x="6550611" y="5246676"/>
            <a:ext cx="13716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37" name="Google Shape;437;p40"/>
          <p:cNvCxnSpPr/>
          <p:nvPr/>
        </p:nvCxnSpPr>
        <p:spPr>
          <a:xfrm>
            <a:off x="7922211" y="5627676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38" name="Google Shape;438;p40"/>
          <p:cNvSpPr txBox="1"/>
          <p:nvPr/>
        </p:nvSpPr>
        <p:spPr>
          <a:xfrm>
            <a:off x="2207211" y="53990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- 1</a:t>
            </a:r>
            <a:endParaRPr/>
          </a:p>
        </p:txBody>
      </p:sp>
      <p:sp>
        <p:nvSpPr>
          <p:cNvPr id="439" name="Google Shape;439;p40"/>
          <p:cNvSpPr txBox="1"/>
          <p:nvPr/>
        </p:nvSpPr>
        <p:spPr>
          <a:xfrm>
            <a:off x="6779211" y="53990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+ 1</a:t>
            </a:r>
            <a:endParaRPr/>
          </a:p>
        </p:txBody>
      </p:sp>
      <p:cxnSp>
        <p:nvCxnSpPr>
          <p:cNvPr id="440" name="Google Shape;440;p40"/>
          <p:cNvCxnSpPr/>
          <p:nvPr/>
        </p:nvCxnSpPr>
        <p:spPr>
          <a:xfrm>
            <a:off x="1064211" y="5627676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grpSp>
        <p:nvGrpSpPr>
          <p:cNvPr id="441" name="Google Shape;441;p40"/>
          <p:cNvGrpSpPr/>
          <p:nvPr/>
        </p:nvGrpSpPr>
        <p:grpSpPr>
          <a:xfrm>
            <a:off x="4264611" y="5246676"/>
            <a:ext cx="2286000" cy="762000"/>
            <a:chOff x="2448" y="3408"/>
            <a:chExt cx="1440" cy="480"/>
          </a:xfrm>
        </p:grpSpPr>
        <p:sp>
          <p:nvSpPr>
            <p:cNvPr id="442" name="Google Shape;442;p40"/>
            <p:cNvSpPr/>
            <p:nvPr/>
          </p:nvSpPr>
          <p:spPr>
            <a:xfrm>
              <a:off x="2448" y="3408"/>
              <a:ext cx="864" cy="48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43" name="Google Shape;443;p40"/>
            <p:cNvCxnSpPr/>
            <p:nvPr/>
          </p:nvCxnSpPr>
          <p:spPr>
            <a:xfrm>
              <a:off x="3312" y="3648"/>
              <a:ext cx="576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444" name="Google Shape;444;p40"/>
            <p:cNvSpPr txBox="1"/>
            <p:nvPr/>
          </p:nvSpPr>
          <p:spPr>
            <a:xfrm>
              <a:off x="2640" y="3504"/>
              <a:ext cx="4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/>
            </a:p>
          </p:txBody>
        </p:sp>
      </p:grpSp>
      <p:grpSp>
        <p:nvGrpSpPr>
          <p:cNvPr id="445" name="Google Shape;445;p40"/>
          <p:cNvGrpSpPr/>
          <p:nvPr/>
        </p:nvGrpSpPr>
        <p:grpSpPr>
          <a:xfrm>
            <a:off x="4045105" y="4962461"/>
            <a:ext cx="1701800" cy="1298574"/>
            <a:chOff x="2256" y="2976"/>
            <a:chExt cx="1248" cy="1056"/>
          </a:xfrm>
        </p:grpSpPr>
        <p:cxnSp>
          <p:nvCxnSpPr>
            <p:cNvPr id="446" name="Google Shape;446;p40"/>
            <p:cNvCxnSpPr/>
            <p:nvPr/>
          </p:nvCxnSpPr>
          <p:spPr>
            <a:xfrm flipH="1">
              <a:off x="2256" y="3024"/>
              <a:ext cx="1248" cy="1008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447" name="Google Shape;447;p40"/>
            <p:cNvCxnSpPr/>
            <p:nvPr/>
          </p:nvCxnSpPr>
          <p:spPr>
            <a:xfrm rot="10800000">
              <a:off x="2256" y="2976"/>
              <a:ext cx="1248" cy="1008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sp>
        <p:nvSpPr>
          <p:cNvPr id="448" name="Google Shape;448;p40"/>
          <p:cNvSpPr/>
          <p:nvPr/>
        </p:nvSpPr>
        <p:spPr>
          <a:xfrm>
            <a:off x="3350211" y="5526076"/>
            <a:ext cx="3200400" cy="890587"/>
          </a:xfrm>
          <a:custGeom>
            <a:rect b="b" l="l" r="r" t="t"/>
            <a:pathLst>
              <a:path extrusionOk="0" h="664" w="2016">
                <a:moveTo>
                  <a:pt x="0" y="64"/>
                </a:moveTo>
                <a:cubicBezTo>
                  <a:pt x="104" y="32"/>
                  <a:pt x="208" y="0"/>
                  <a:pt x="240" y="64"/>
                </a:cubicBezTo>
                <a:cubicBezTo>
                  <a:pt x="272" y="128"/>
                  <a:pt x="112" y="352"/>
                  <a:pt x="192" y="448"/>
                </a:cubicBezTo>
                <a:cubicBezTo>
                  <a:pt x="272" y="544"/>
                  <a:pt x="472" y="616"/>
                  <a:pt x="720" y="640"/>
                </a:cubicBezTo>
                <a:cubicBezTo>
                  <a:pt x="968" y="664"/>
                  <a:pt x="1504" y="640"/>
                  <a:pt x="1680" y="592"/>
                </a:cubicBezTo>
                <a:cubicBezTo>
                  <a:pt x="1856" y="544"/>
                  <a:pt x="1784" y="408"/>
                  <a:pt x="1776" y="352"/>
                </a:cubicBezTo>
                <a:cubicBezTo>
                  <a:pt x="1768" y="296"/>
                  <a:pt x="1656" y="288"/>
                  <a:pt x="1632" y="256"/>
                </a:cubicBezTo>
                <a:cubicBezTo>
                  <a:pt x="1608" y="224"/>
                  <a:pt x="1608" y="184"/>
                  <a:pt x="1632" y="160"/>
                </a:cubicBezTo>
                <a:cubicBezTo>
                  <a:pt x="1656" y="136"/>
                  <a:pt x="1712" y="128"/>
                  <a:pt x="1776" y="112"/>
                </a:cubicBezTo>
                <a:cubicBezTo>
                  <a:pt x="1840" y="96"/>
                  <a:pt x="1928" y="80"/>
                  <a:pt x="2016" y="64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1610311" y="4556113"/>
            <a:ext cx="333375" cy="334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3515311" y="4610088"/>
            <a:ext cx="333375" cy="334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2969211" y="4495788"/>
            <a:ext cx="5635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386943" y="4441813"/>
            <a:ext cx="12582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prec_ptr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0"/>
          <p:cNvSpPr/>
          <p:nvPr/>
        </p:nvSpPr>
        <p:spPr>
          <a:xfrm>
            <a:off x="1742074" y="4735501"/>
            <a:ext cx="322262" cy="676275"/>
          </a:xfrm>
          <a:custGeom>
            <a:rect b="b" l="l" r="r" t="t"/>
            <a:pathLst>
              <a:path extrusionOk="0" h="426" w="203">
                <a:moveTo>
                  <a:pt x="9" y="0"/>
                </a:moveTo>
                <a:cubicBezTo>
                  <a:pt x="41" y="15"/>
                  <a:pt x="203" y="43"/>
                  <a:pt x="203" y="90"/>
                </a:cubicBezTo>
                <a:cubicBezTo>
                  <a:pt x="203" y="137"/>
                  <a:pt x="18" y="228"/>
                  <a:pt x="9" y="284"/>
                </a:cubicBezTo>
                <a:cubicBezTo>
                  <a:pt x="0" y="340"/>
                  <a:pt x="122" y="397"/>
                  <a:pt x="151" y="426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3686761" y="4791063"/>
            <a:ext cx="563563" cy="688975"/>
          </a:xfrm>
          <a:custGeom>
            <a:rect b="b" l="l" r="r" t="t"/>
            <a:pathLst>
              <a:path extrusionOk="0" h="434" w="355">
                <a:moveTo>
                  <a:pt x="0" y="0"/>
                </a:moveTo>
                <a:cubicBezTo>
                  <a:pt x="32" y="15"/>
                  <a:pt x="174" y="40"/>
                  <a:pt x="194" y="90"/>
                </a:cubicBezTo>
                <a:cubicBezTo>
                  <a:pt x="214" y="140"/>
                  <a:pt x="96" y="242"/>
                  <a:pt x="123" y="299"/>
                </a:cubicBezTo>
                <a:cubicBezTo>
                  <a:pt x="150" y="356"/>
                  <a:pt x="307" y="406"/>
                  <a:pt x="355" y="434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Cercare un nodo nella lista</a:t>
            </a:r>
            <a:endParaRPr/>
          </a:p>
        </p:txBody>
      </p:sp>
      <p:sp>
        <p:nvSpPr>
          <p:cNvPr id="460" name="Google Shape;460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d;         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il dato da cercare                    */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ptrNodo Lista; 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alla radice della lista     */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ptrNodo ptr;   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ausiliario a nodo           */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...            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Lista e d sono inizializzati (omesso) */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 = Lista;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while( ptr != NULL &amp;&amp; ptr-&gt;dato != d ) </a:t>
            </a:r>
            <a:endParaRPr sz="16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entra nel ciclo se ptr NON punta al dato cercato */</a:t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ptr = ptr-&gt;next;</a:t>
            </a:r>
            <a:endParaRPr/>
          </a:p>
          <a:p>
            <a:pPr indent="-342900" lvl="0" marL="342900" rtl="0" algn="l">
              <a:spcBef>
                <a:spcPts val="200"/>
              </a:spcBef>
              <a:spcAft>
                <a:spcPts val="0"/>
              </a:spcAft>
              <a:buClr>
                <a:srgbClr val="33CC33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all'uscita ptr vale NULL o punta al dato cercato */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d;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ptrNodo Lista, ptr;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for( ptr=Lista; ptr!=NULL &amp;&amp; ptr-&gt;dato!=d; ptr=ptr-&gt;next 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600"/>
              <a:buFont typeface="Courier"/>
              <a:buNone/>
            </a:pP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Variante sintattica: con FOR invece che con WHILE */</a:t>
            </a:r>
            <a:endParaRPr/>
          </a:p>
        </p:txBody>
      </p:sp>
      <p:sp>
        <p:nvSpPr>
          <p:cNvPr id="461" name="Google Shape;46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Lunghezza della lista</a:t>
            </a:r>
            <a:endParaRPr/>
          </a:p>
        </p:txBody>
      </p:sp>
      <p:sp>
        <p:nvSpPr>
          <p:cNvPr id="467" name="Google Shape;46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numeronodi = 0;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ptrNodo Lista, ptr;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Lista = ... 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Costruzione della lista */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for (ptr=Lista; ptr!=NULL; ptr=ptr-&gt;next)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numeronodi++;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</a:t>
            </a:r>
            <a:r>
              <a:rPr i="1" lang="it-IT"/>
              <a:t>contare</a:t>
            </a:r>
            <a:r>
              <a:rPr lang="it-IT"/>
              <a:t> i nodi dobbiamo necessariamente </a:t>
            </a:r>
            <a:r>
              <a:rPr i="1" lang="it-IT"/>
              <a:t>scandire </a:t>
            </a:r>
            <a:r>
              <a:rPr lang="it-IT"/>
              <a:t>la lista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Anche per accedere a ogni nodo occorre partire dall'inizio, se si dispone soltanto del puntatore alla testa 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Non è possibile accedere alla lista se non scandendola in ordine, seguendo i puntatori</a:t>
            </a:r>
            <a:endParaRPr/>
          </a:p>
        </p:txBody>
      </p:sp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Inserire un nodo interno alla lista</a:t>
            </a:r>
            <a:endParaRPr/>
          </a:p>
        </p:txBody>
      </p:sp>
      <p:sp>
        <p:nvSpPr>
          <p:cNvPr id="474" name="Google Shape;474;p43"/>
          <p:cNvSpPr txBox="1"/>
          <p:nvPr>
            <p:ph idx="1" type="body"/>
          </p:nvPr>
        </p:nvSpPr>
        <p:spPr>
          <a:xfrm>
            <a:off x="457200" y="1600201"/>
            <a:ext cx="8229600" cy="248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ptrNodp prec_ptr;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al nodo iesimo, che precede   			   il nuovo nodo da inserire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ptrNodo ptr;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ausiliario a nodo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... </a:t>
            </a: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qui prec_ptr è inizializzato (trovare il nodo)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ptr = malloc (sizeof (Nodo));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ptr-&gt;next = prec_ptr-&gt;next;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prec_ptr-&gt;next = ptr;</a:t>
            </a:r>
            <a:endParaRPr/>
          </a:p>
        </p:txBody>
      </p:sp>
      <p:sp>
        <p:nvSpPr>
          <p:cNvPr id="475" name="Google Shape;47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76" name="Google Shape;476;p43"/>
          <p:cNvSpPr/>
          <p:nvPr/>
        </p:nvSpPr>
        <p:spPr>
          <a:xfrm>
            <a:off x="1974789" y="5405440"/>
            <a:ext cx="13716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77" name="Google Shape;477;p43"/>
          <p:cNvCxnSpPr/>
          <p:nvPr/>
        </p:nvCxnSpPr>
        <p:spPr>
          <a:xfrm>
            <a:off x="3346389" y="5786440"/>
            <a:ext cx="3200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8" name="Google Shape;478;p43"/>
          <p:cNvSpPr/>
          <p:nvPr/>
        </p:nvSpPr>
        <p:spPr>
          <a:xfrm>
            <a:off x="6546789" y="5405440"/>
            <a:ext cx="1371600" cy="76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79" name="Google Shape;479;p43"/>
          <p:cNvCxnSpPr/>
          <p:nvPr/>
        </p:nvCxnSpPr>
        <p:spPr>
          <a:xfrm>
            <a:off x="7918389" y="578644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80" name="Google Shape;480;p43"/>
          <p:cNvCxnSpPr/>
          <p:nvPr/>
        </p:nvCxnSpPr>
        <p:spPr>
          <a:xfrm>
            <a:off x="1060389" y="5786440"/>
            <a:ext cx="914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81" name="Google Shape;481;p43"/>
          <p:cNvSpPr/>
          <p:nvPr/>
        </p:nvSpPr>
        <p:spPr>
          <a:xfrm>
            <a:off x="3346389" y="5016502"/>
            <a:ext cx="762000" cy="795338"/>
          </a:xfrm>
          <a:custGeom>
            <a:rect b="b" l="l" r="r" t="t"/>
            <a:pathLst>
              <a:path extrusionOk="0" h="584" w="480">
                <a:moveTo>
                  <a:pt x="0" y="568"/>
                </a:moveTo>
                <a:cubicBezTo>
                  <a:pt x="96" y="576"/>
                  <a:pt x="192" y="584"/>
                  <a:pt x="240" y="568"/>
                </a:cubicBezTo>
                <a:cubicBezTo>
                  <a:pt x="288" y="552"/>
                  <a:pt x="296" y="520"/>
                  <a:pt x="288" y="472"/>
                </a:cubicBezTo>
                <a:cubicBezTo>
                  <a:pt x="280" y="424"/>
                  <a:pt x="208" y="352"/>
                  <a:pt x="192" y="280"/>
                </a:cubicBezTo>
                <a:cubicBezTo>
                  <a:pt x="176" y="208"/>
                  <a:pt x="144" y="80"/>
                  <a:pt x="192" y="40"/>
                </a:cubicBezTo>
                <a:cubicBezTo>
                  <a:pt x="240" y="0"/>
                  <a:pt x="360" y="20"/>
                  <a:pt x="480" y="40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2" name="Google Shape;482;p43"/>
          <p:cNvSpPr/>
          <p:nvPr/>
        </p:nvSpPr>
        <p:spPr>
          <a:xfrm>
            <a:off x="5479989" y="5003802"/>
            <a:ext cx="1066800" cy="782638"/>
          </a:xfrm>
          <a:custGeom>
            <a:rect b="b" l="l" r="r" t="t"/>
            <a:pathLst>
              <a:path extrusionOk="0" h="568" w="672">
                <a:moveTo>
                  <a:pt x="0" y="40"/>
                </a:moveTo>
                <a:cubicBezTo>
                  <a:pt x="92" y="20"/>
                  <a:pt x="184" y="0"/>
                  <a:pt x="240" y="40"/>
                </a:cubicBezTo>
                <a:cubicBezTo>
                  <a:pt x="296" y="80"/>
                  <a:pt x="304" y="200"/>
                  <a:pt x="336" y="280"/>
                </a:cubicBezTo>
                <a:cubicBezTo>
                  <a:pt x="368" y="360"/>
                  <a:pt x="376" y="472"/>
                  <a:pt x="432" y="520"/>
                </a:cubicBezTo>
                <a:cubicBezTo>
                  <a:pt x="488" y="568"/>
                  <a:pt x="580" y="568"/>
                  <a:pt x="672" y="568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3" name="Google Shape;483;p43"/>
          <p:cNvSpPr txBox="1"/>
          <p:nvPr/>
        </p:nvSpPr>
        <p:spPr>
          <a:xfrm>
            <a:off x="2279589" y="5557840"/>
            <a:ext cx="76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484" name="Google Shape;484;p43"/>
          <p:cNvSpPr txBox="1"/>
          <p:nvPr/>
        </p:nvSpPr>
        <p:spPr>
          <a:xfrm>
            <a:off x="6823014" y="5534027"/>
            <a:ext cx="8953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+ 1</a:t>
            </a:r>
            <a:endParaRPr/>
          </a:p>
        </p:txBody>
      </p:sp>
      <p:grpSp>
        <p:nvGrpSpPr>
          <p:cNvPr id="485" name="Google Shape;485;p43"/>
          <p:cNvGrpSpPr/>
          <p:nvPr/>
        </p:nvGrpSpPr>
        <p:grpSpPr>
          <a:xfrm>
            <a:off x="4108389" y="4645027"/>
            <a:ext cx="1371600" cy="762000"/>
            <a:chOff x="2400" y="3120"/>
            <a:chExt cx="864" cy="480"/>
          </a:xfrm>
        </p:grpSpPr>
        <p:sp>
          <p:nvSpPr>
            <p:cNvPr id="486" name="Google Shape;486;p43"/>
            <p:cNvSpPr/>
            <p:nvPr/>
          </p:nvSpPr>
          <p:spPr>
            <a:xfrm>
              <a:off x="2400" y="3120"/>
              <a:ext cx="864" cy="48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87" name="Google Shape;487;p43"/>
            <p:cNvSpPr txBox="1"/>
            <p:nvPr/>
          </p:nvSpPr>
          <p:spPr>
            <a:xfrm>
              <a:off x="2448" y="3216"/>
              <a:ext cx="76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 + 1</a:t>
              </a:r>
              <a:endParaRPr/>
            </a:p>
          </p:txBody>
        </p:sp>
      </p:grpSp>
      <p:sp>
        <p:nvSpPr>
          <p:cNvPr id="488" name="Google Shape;488;p43"/>
          <p:cNvSpPr txBox="1"/>
          <p:nvPr/>
        </p:nvSpPr>
        <p:spPr>
          <a:xfrm>
            <a:off x="6823014" y="5533181"/>
            <a:ext cx="895350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+ 2</a:t>
            </a:r>
            <a:endParaRPr/>
          </a:p>
        </p:txBody>
      </p:sp>
      <p:sp>
        <p:nvSpPr>
          <p:cNvPr id="489" name="Google Shape;489;p43"/>
          <p:cNvSpPr/>
          <p:nvPr/>
        </p:nvSpPr>
        <p:spPr>
          <a:xfrm>
            <a:off x="1608077" y="4654552"/>
            <a:ext cx="333375" cy="334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3346389" y="4381502"/>
            <a:ext cx="333375" cy="334963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3"/>
          <p:cNvSpPr txBox="1"/>
          <p:nvPr/>
        </p:nvSpPr>
        <p:spPr>
          <a:xfrm>
            <a:off x="2808507" y="4267202"/>
            <a:ext cx="555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3"/>
          <p:cNvSpPr txBox="1"/>
          <p:nvPr/>
        </p:nvSpPr>
        <p:spPr>
          <a:xfrm>
            <a:off x="384708" y="4540252"/>
            <a:ext cx="12582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prec_ptr</a:t>
            </a:r>
            <a:endParaRPr/>
          </a:p>
        </p:txBody>
      </p:sp>
      <p:sp>
        <p:nvSpPr>
          <p:cNvPr id="493" name="Google Shape;493;p43"/>
          <p:cNvSpPr/>
          <p:nvPr/>
        </p:nvSpPr>
        <p:spPr>
          <a:xfrm>
            <a:off x="1739839" y="4833940"/>
            <a:ext cx="322263" cy="676275"/>
          </a:xfrm>
          <a:custGeom>
            <a:rect b="b" l="l" r="r" t="t"/>
            <a:pathLst>
              <a:path extrusionOk="0" h="426" w="203">
                <a:moveTo>
                  <a:pt x="9" y="0"/>
                </a:moveTo>
                <a:cubicBezTo>
                  <a:pt x="41" y="15"/>
                  <a:pt x="203" y="43"/>
                  <a:pt x="203" y="90"/>
                </a:cubicBezTo>
                <a:cubicBezTo>
                  <a:pt x="203" y="137"/>
                  <a:pt x="18" y="228"/>
                  <a:pt x="9" y="284"/>
                </a:cubicBezTo>
                <a:cubicBezTo>
                  <a:pt x="0" y="340"/>
                  <a:pt x="122" y="397"/>
                  <a:pt x="151" y="426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3517839" y="4540252"/>
            <a:ext cx="563563" cy="354013"/>
          </a:xfrm>
          <a:custGeom>
            <a:rect b="b" l="l" r="r" t="t"/>
            <a:pathLst>
              <a:path extrusionOk="0" h="223" w="355">
                <a:moveTo>
                  <a:pt x="0" y="14"/>
                </a:moveTo>
                <a:cubicBezTo>
                  <a:pt x="27" y="16"/>
                  <a:pt x="136" y="0"/>
                  <a:pt x="164" y="27"/>
                </a:cubicBezTo>
                <a:cubicBezTo>
                  <a:pt x="192" y="54"/>
                  <a:pt x="139" y="144"/>
                  <a:pt x="171" y="177"/>
                </a:cubicBezTo>
                <a:cubicBezTo>
                  <a:pt x="203" y="210"/>
                  <a:pt x="317" y="214"/>
                  <a:pt x="355" y="223"/>
                </a:cubicBez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3346398" y="4366262"/>
            <a:ext cx="327334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Gestione degli errori</a:t>
            </a:r>
            <a:endParaRPr/>
          </a:p>
        </p:txBody>
      </p:sp>
      <p:sp>
        <p:nvSpPr>
          <p:cNvPr id="501" name="Google Shape;501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457200" y="1604356"/>
            <a:ext cx="8229600" cy="4751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ptrNodo ptr;	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Puntatore a nodo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 = malloc(sizeof(Nodo));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Alloca un nodo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if (ptr == NULL)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	printf("malloc: memoria insufficiente!\n");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ptr-&gt;dato = 10;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dato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ptr-&gt;next = NULL;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link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Attenzione ….</a:t>
            </a:r>
            <a:endParaRPr/>
          </a:p>
        </p:txBody>
      </p:sp>
      <p:sp>
        <p:nvSpPr>
          <p:cNvPr id="508" name="Google Shape;508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9" name="Google Shape;509;p45"/>
          <p:cNvSpPr/>
          <p:nvPr/>
        </p:nvSpPr>
        <p:spPr>
          <a:xfrm>
            <a:off x="304800" y="1417637"/>
            <a:ext cx="8534400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ptrNodo 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ptr = malloc(sizeof(Nodo));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if (</a:t>
            </a: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ptr == NULL</a:t>
            </a: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ptr-&gt;dato = 10;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rPr lang="it-IT" sz="2000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ERRORE!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	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1905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sta tentando di applicare l'operatore "freccia"</a:t>
            </a:r>
            <a:b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un puntatore null, ovvero si sta tentando di accedere a un campo di una struct inesistente!</a:t>
            </a:r>
            <a:endParaRPr/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it-IT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Dereferenziare un puntatore a NULL genera un errore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Liste e ricorsione</a:t>
            </a:r>
            <a:endParaRPr/>
          </a:p>
        </p:txBody>
      </p:sp>
      <p:sp>
        <p:nvSpPr>
          <p:cNvPr id="515" name="Google Shape;515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Che cos'è una lista (di nodi)?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Niente, se è una lista vuota	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Caso base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Un nodo, seguito da una lista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Passo induttivo</a:t>
            </a:r>
            <a:endParaRPr/>
          </a:p>
          <a:p>
            <a:pPr indent="-762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La lista è una struttura </a:t>
            </a:r>
            <a:r>
              <a:rPr i="1" lang="it-IT"/>
              <a:t>ricorsiva</a:t>
            </a:r>
            <a:endParaRPr/>
          </a:p>
        </p:txBody>
      </p:sp>
      <p:sp>
        <p:nvSpPr>
          <p:cNvPr id="516" name="Google Shape;516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Operazioni su liste (un “TDA”)</a:t>
            </a:r>
            <a:endParaRPr/>
          </a:p>
        </p:txBody>
      </p:sp>
      <p:sp>
        <p:nvSpPr>
          <p:cNvPr id="522" name="Google Shape;522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Consideriamo liste semplicemente concatenate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Inizializzazione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Inserimento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prima posizione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ultima posizione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Ordinato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Eliminazione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23" name="Google Shape;52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Come facciamo?</a:t>
            </a:r>
            <a:endParaRPr/>
          </a:p>
        </p:txBody>
      </p:sp>
      <p:sp>
        <p:nvSpPr>
          <p:cNvPr id="529" name="Google Shape;529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Le operazioni sono tutte funzioni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Ricevono come parametro un puntatore al primo elemento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testa della lista su cui operare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la lista viene modificata, restituiscono al programma chiamante un puntatore alla testa della lista modificata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Questo impatta sul modo in cui faremo le chiamate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questo modo, tutti i parametri sono passati per valore</a:t>
            </a:r>
            <a:endParaRPr/>
          </a:p>
        </p:txBody>
      </p:sp>
      <p:sp>
        <p:nvSpPr>
          <p:cNvPr id="530" name="Google Shape;53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Usiamo questa formulazione</a:t>
            </a:r>
            <a:endParaRPr/>
          </a:p>
        </p:txBody>
      </p:sp>
      <p:sp>
        <p:nvSpPr>
          <p:cNvPr id="536" name="Google Shape;536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typedef struct  EL {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TipoElemento info;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struct EL * prox;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 ElemLista;</a:t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typedef ElemLista * ListaDiElem;</a:t>
            </a:r>
            <a:endParaRPr/>
          </a:p>
        </p:txBody>
      </p:sp>
      <p:sp>
        <p:nvSpPr>
          <p:cNvPr id="537" name="Google Shape;537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Inizializzazione</a:t>
            </a:r>
            <a:endParaRPr/>
          </a:p>
        </p:txBody>
      </p:sp>
      <p:sp>
        <p:nvSpPr>
          <p:cNvPr id="543" name="Google Shape;543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ListaDiElem Inizializza(void) {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return NULL;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13359" lvl="0" marL="3429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 u="sng"/>
              <a:t>Esempio di chiamata</a:t>
            </a:r>
            <a:endParaRPr sz="24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ListaDiElem lista1; 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…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lista1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= Inizializza(); 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 u="sng"/>
              <a:t>Nota bene</a:t>
            </a:r>
            <a:endParaRPr/>
          </a:p>
          <a:p>
            <a:pPr indent="-445769" lvl="0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it-IT" sz="2400"/>
              <a:t>Se voglio di inizializzare diversamente</a:t>
            </a:r>
            <a:endParaRPr sz="2400"/>
          </a:p>
          <a:p>
            <a:pPr indent="-445769" lvl="1" marL="9144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it-IT" sz="2400"/>
              <a:t>Basta cambiare la funzione 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Inizializza()</a:t>
            </a:r>
            <a:r>
              <a:rPr lang="it-IT" sz="2400"/>
              <a:t> e non il resto del programma!</a:t>
            </a:r>
            <a:endParaRPr/>
          </a:p>
          <a:p>
            <a:pPr indent="-445769" lvl="0" marL="4572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it-IT" sz="2400"/>
              <a:t>Se Lista1 puntava a una lista</a:t>
            </a:r>
            <a:endParaRPr/>
          </a:p>
          <a:p>
            <a:pPr indent="-445769" lvl="1" marL="9144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it-IT" sz="2400"/>
              <a:t>Dopo 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Inizializza()</a:t>
            </a:r>
            <a:r>
              <a:rPr lang="it-IT" sz="2400"/>
              <a:t> quella lista diventa garbage</a:t>
            </a:r>
            <a:endParaRPr sz="2400"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44" name="Google Shape;544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545" name="Google Shape;545;p50"/>
          <p:cNvGrpSpPr/>
          <p:nvPr/>
        </p:nvGrpSpPr>
        <p:grpSpPr>
          <a:xfrm>
            <a:off x="6059471" y="2022721"/>
            <a:ext cx="1903413" cy="1311275"/>
            <a:chOff x="3821" y="690"/>
            <a:chExt cx="1199" cy="826"/>
          </a:xfrm>
        </p:grpSpPr>
        <p:sp>
          <p:nvSpPr>
            <p:cNvPr id="546" name="Google Shape;546;p50"/>
            <p:cNvSpPr/>
            <p:nvPr/>
          </p:nvSpPr>
          <p:spPr>
            <a:xfrm>
              <a:off x="4543" y="690"/>
              <a:ext cx="477" cy="463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47" name="Google Shape;547;p50"/>
            <p:cNvCxnSpPr/>
            <p:nvPr/>
          </p:nvCxnSpPr>
          <p:spPr>
            <a:xfrm>
              <a:off x="4781" y="1004"/>
              <a:ext cx="1" cy="377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50"/>
            <p:cNvCxnSpPr/>
            <p:nvPr/>
          </p:nvCxnSpPr>
          <p:spPr>
            <a:xfrm>
              <a:off x="4626" y="1381"/>
              <a:ext cx="155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50"/>
            <p:cNvCxnSpPr/>
            <p:nvPr/>
          </p:nvCxnSpPr>
          <p:spPr>
            <a:xfrm>
              <a:off x="4781" y="1381"/>
              <a:ext cx="155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50"/>
            <p:cNvCxnSpPr/>
            <p:nvPr/>
          </p:nvCxnSpPr>
          <p:spPr>
            <a:xfrm>
              <a:off x="4681" y="1449"/>
              <a:ext cx="101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50"/>
            <p:cNvCxnSpPr/>
            <p:nvPr/>
          </p:nvCxnSpPr>
          <p:spPr>
            <a:xfrm>
              <a:off x="4782" y="1449"/>
              <a:ext cx="101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50"/>
            <p:cNvCxnSpPr/>
            <p:nvPr/>
          </p:nvCxnSpPr>
          <p:spPr>
            <a:xfrm>
              <a:off x="4721" y="1515"/>
              <a:ext cx="65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50"/>
            <p:cNvCxnSpPr/>
            <p:nvPr/>
          </p:nvCxnSpPr>
          <p:spPr>
            <a:xfrm>
              <a:off x="4786" y="1515"/>
              <a:ext cx="65" cy="1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4" name="Google Shape;554;p50"/>
            <p:cNvSpPr txBox="1"/>
            <p:nvPr/>
          </p:nvSpPr>
          <p:spPr>
            <a:xfrm>
              <a:off x="3821" y="796"/>
              <a:ext cx="6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000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lista1</a:t>
              </a:r>
              <a:endParaRPr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Controllo lista vuota</a:t>
            </a:r>
            <a:endParaRPr/>
          </a:p>
        </p:txBody>
      </p:sp>
      <p:sp>
        <p:nvSpPr>
          <p:cNvPr id="560" name="Google Shape;560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ListaVuota(ListaDiElem lista)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(lista == NULL)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1;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else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0;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Oppure, più direttamente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ListaVuota(ListaDiElem lista)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return lista == NULL;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561" name="Google Shape;561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Dimensione della lista</a:t>
            </a:r>
            <a:br>
              <a:rPr lang="it-IT"/>
            </a:br>
            <a:r>
              <a:rPr lang="it-IT"/>
              <a:t>(iterativa e ricosiva)</a:t>
            </a:r>
            <a:endParaRPr/>
          </a:p>
        </p:txBody>
      </p:sp>
      <p:sp>
        <p:nvSpPr>
          <p:cNvPr id="567" name="Google Shape;567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Dimensione(ListaDiElem lista)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int count = 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while (! ListaVuota(lista))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lista = lista–&gt;prox;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3CC33"/>
              </a:buClr>
              <a:buSzPct val="100000"/>
              <a:buNone/>
            </a:pP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count++;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return count;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DimensioneRic(ListaDiElem lista)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	return 1 + DimensioneRic(lista–&gt;prox);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568" name="Google Shape;56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Controllo presenza di un elemento</a:t>
            </a:r>
            <a:endParaRPr/>
          </a:p>
        </p:txBody>
      </p:sp>
      <p:sp>
        <p:nvSpPr>
          <p:cNvPr id="574" name="Google Shape;574;p53"/>
          <p:cNvSpPr txBox="1"/>
          <p:nvPr>
            <p:ph idx="1" type="body"/>
          </p:nvPr>
        </p:nvSpPr>
        <p:spPr>
          <a:xfrm>
            <a:off x="301658" y="1600200"/>
            <a:ext cx="851240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int VerificaPresenza (ListaDiElem lista, TipoElemento elem) {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ListaDiElem  cursore;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if (! ListaVuota(lista)) {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cursore = lista;	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La lista non è vuota */</a:t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while (! ListaVuota(cursore)) {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	if (cursore–&gt;info == elem)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		return 1;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	cursore = cursore–&gt;prox;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}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}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return 0;			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Falso: l'elemento Elem non c'è */</a:t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}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5" name="Google Shape;575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Versione ricorsiva</a:t>
            </a:r>
            <a:endParaRPr/>
          </a:p>
        </p:txBody>
      </p:sp>
      <p:sp>
        <p:nvSpPr>
          <p:cNvPr id="581" name="Google Shape;581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int VerificaPresenzaRic(ListaDiElem lista,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			TipoElemento elem) {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return 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(lista–&gt;info == elem) 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return 1;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return VerificaPresenzaRic(lista–&gt;prox, elem);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82" name="Google Shape;582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Inserimento in prima posizione</a:t>
            </a:r>
            <a:endParaRPr/>
          </a:p>
        </p:txBody>
      </p:sp>
      <p:sp>
        <p:nvSpPr>
          <p:cNvPr id="588" name="Google Shape;588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ListaDiElem InsInTesta(ListaDiElem lista, 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				TipoElemento elem) {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ListaDiElem punt;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punt = (ListaDiElem) 	malloc(sizeof(ElemLista));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punt–&gt;info = elem;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punt–&gt;prox = lista;		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return  punt;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Chiamata: 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lista1 = InsInTesta(lista1, elemento);</a:t>
            </a:r>
            <a:endParaRPr/>
          </a:p>
          <a:p>
            <a:pPr indent="0" lvl="0" marL="0" rtl="0" algn="l">
              <a:spcBef>
                <a:spcPts val="3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 sz="3400"/>
              <a:t>Attenzione: l'inserimento modifica la lista</a:t>
            </a:r>
            <a:endParaRPr sz="3400"/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 sz="3000"/>
              <a:t>Non solo in quanto aggiunge un nodo</a:t>
            </a:r>
            <a:endParaRPr sz="3000"/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 sz="3000"/>
              <a:t>Ma anche in quanto deve modificare il valore del puntatore al primo elemento </a:t>
            </a:r>
            <a:r>
              <a:rPr i="1" lang="it-IT" sz="3000"/>
              <a:t>nell'ambiente main</a:t>
            </a:r>
            <a:r>
              <a:rPr lang="it-IT" sz="3000"/>
              <a:t>)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endParaRPr/>
          </a:p>
        </p:txBody>
      </p:sp>
      <p:sp>
        <p:nvSpPr>
          <p:cNvPr id="589" name="Google Shape;589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Visualizzazione</a:t>
            </a:r>
            <a:endParaRPr/>
          </a:p>
        </p:txBody>
      </p:sp>
      <p:sp>
        <p:nvSpPr>
          <p:cNvPr id="595" name="Google Shape;595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96" name="Google Shape;596;p56"/>
          <p:cNvSpPr txBox="1"/>
          <p:nvPr/>
        </p:nvSpPr>
        <p:spPr>
          <a:xfrm>
            <a:off x="2433132" y="1546957"/>
            <a:ext cx="501650" cy="30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lista</a:t>
            </a:r>
            <a:endParaRPr sz="1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97" name="Google Shape;597;p56"/>
          <p:cNvCxnSpPr/>
          <p:nvPr/>
        </p:nvCxnSpPr>
        <p:spPr>
          <a:xfrm>
            <a:off x="4818063" y="2893811"/>
            <a:ext cx="0" cy="444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grpSp>
        <p:nvGrpSpPr>
          <p:cNvPr id="598" name="Google Shape;598;p56"/>
          <p:cNvGrpSpPr/>
          <p:nvPr/>
        </p:nvGrpSpPr>
        <p:grpSpPr>
          <a:xfrm>
            <a:off x="2513382" y="3329498"/>
            <a:ext cx="5250173" cy="1444423"/>
            <a:chOff x="2532236" y="3216374"/>
            <a:chExt cx="5250173" cy="1444423"/>
          </a:xfrm>
        </p:grpSpPr>
        <p:grpSp>
          <p:nvGrpSpPr>
            <p:cNvPr id="599" name="Google Shape;599;p56"/>
            <p:cNvGrpSpPr/>
            <p:nvPr/>
          </p:nvGrpSpPr>
          <p:grpSpPr>
            <a:xfrm>
              <a:off x="7461733" y="4273447"/>
              <a:ext cx="320676" cy="387350"/>
              <a:chOff x="7385050" y="4271762"/>
              <a:chExt cx="320676" cy="387350"/>
            </a:xfrm>
          </p:grpSpPr>
          <p:cxnSp>
            <p:nvCxnSpPr>
              <p:cNvPr id="600" name="Google Shape;600;p56"/>
              <p:cNvCxnSpPr/>
              <p:nvPr/>
            </p:nvCxnSpPr>
            <p:spPr>
              <a:xfrm>
                <a:off x="7385050" y="4271762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1" name="Google Shape;601;p56"/>
              <p:cNvCxnSpPr/>
              <p:nvPr/>
            </p:nvCxnSpPr>
            <p:spPr>
              <a:xfrm>
                <a:off x="7545388" y="4271762"/>
                <a:ext cx="3175" cy="27146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2" name="Google Shape;602;p56"/>
              <p:cNvCxnSpPr/>
              <p:nvPr/>
            </p:nvCxnSpPr>
            <p:spPr>
              <a:xfrm>
                <a:off x="7385050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3" name="Google Shape;603;p56"/>
              <p:cNvCxnSpPr/>
              <p:nvPr/>
            </p:nvCxnSpPr>
            <p:spPr>
              <a:xfrm>
                <a:off x="7545388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4" name="Google Shape;604;p56"/>
              <p:cNvCxnSpPr/>
              <p:nvPr/>
            </p:nvCxnSpPr>
            <p:spPr>
              <a:xfrm>
                <a:off x="7443788" y="4598787"/>
                <a:ext cx="104775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5" name="Google Shape;605;p56"/>
              <p:cNvCxnSpPr/>
              <p:nvPr/>
            </p:nvCxnSpPr>
            <p:spPr>
              <a:xfrm>
                <a:off x="7548563" y="4598787"/>
                <a:ext cx="103188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6" name="Google Shape;606;p56"/>
              <p:cNvCxnSpPr/>
              <p:nvPr/>
            </p:nvCxnSpPr>
            <p:spPr>
              <a:xfrm>
                <a:off x="7485063" y="4657524"/>
                <a:ext cx="6508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07" name="Google Shape;607;p56"/>
              <p:cNvCxnSpPr/>
              <p:nvPr/>
            </p:nvCxnSpPr>
            <p:spPr>
              <a:xfrm>
                <a:off x="7550150" y="4657524"/>
                <a:ext cx="68263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608" name="Google Shape;608;p56"/>
            <p:cNvSpPr/>
            <p:nvPr/>
          </p:nvSpPr>
          <p:spPr>
            <a:xfrm>
              <a:off x="2534134" y="3513034"/>
              <a:ext cx="47942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9" name="Google Shape;609;p56"/>
            <p:cNvSpPr/>
            <p:nvPr/>
          </p:nvSpPr>
          <p:spPr>
            <a:xfrm>
              <a:off x="2650021" y="4141686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10" name="Google Shape;610;p56"/>
            <p:cNvCxnSpPr/>
            <p:nvPr/>
          </p:nvCxnSpPr>
          <p:spPr>
            <a:xfrm>
              <a:off x="3127859" y="4141686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1" name="Google Shape;611;p56"/>
            <p:cNvSpPr/>
            <p:nvPr/>
          </p:nvSpPr>
          <p:spPr>
            <a:xfrm>
              <a:off x="3869221" y="4141686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 baseline="-25000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12" name="Google Shape;612;p56"/>
            <p:cNvCxnSpPr/>
            <p:nvPr/>
          </p:nvCxnSpPr>
          <p:spPr>
            <a:xfrm>
              <a:off x="4345471" y="4141686"/>
              <a:ext cx="3175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3" name="Google Shape;613;p56"/>
            <p:cNvSpPr/>
            <p:nvPr/>
          </p:nvSpPr>
          <p:spPr>
            <a:xfrm>
              <a:off x="5085246" y="4141686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14" name="Google Shape;614;p56"/>
            <p:cNvCxnSpPr/>
            <p:nvPr/>
          </p:nvCxnSpPr>
          <p:spPr>
            <a:xfrm>
              <a:off x="5563084" y="4141686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5" name="Google Shape;615;p56"/>
            <p:cNvSpPr/>
            <p:nvPr/>
          </p:nvSpPr>
          <p:spPr>
            <a:xfrm>
              <a:off x="6633059" y="4141686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16" name="Google Shape;616;p56"/>
            <p:cNvCxnSpPr/>
            <p:nvPr/>
          </p:nvCxnSpPr>
          <p:spPr>
            <a:xfrm>
              <a:off x="7114071" y="4141686"/>
              <a:ext cx="0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" name="Google Shape;617;p56"/>
            <p:cNvSpPr/>
            <p:nvPr/>
          </p:nvSpPr>
          <p:spPr>
            <a:xfrm>
              <a:off x="3870809" y="3551134"/>
              <a:ext cx="492125" cy="274638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8" name="Google Shape;618;p56"/>
            <p:cNvSpPr txBox="1"/>
            <p:nvPr/>
          </p:nvSpPr>
          <p:spPr>
            <a:xfrm>
              <a:off x="2532236" y="3216374"/>
              <a:ext cx="501650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lista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9" name="Google Shape;619;p56"/>
            <p:cNvSpPr txBox="1"/>
            <p:nvPr/>
          </p:nvSpPr>
          <p:spPr>
            <a:xfrm>
              <a:off x="3859386" y="3255864"/>
              <a:ext cx="542925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punt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20" name="Google Shape;620;p56"/>
            <p:cNvCxnSpPr/>
            <p:nvPr/>
          </p:nvCxnSpPr>
          <p:spPr>
            <a:xfrm>
              <a:off x="2778609" y="3697395"/>
              <a:ext cx="9524" cy="444292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21" name="Google Shape;621;p56"/>
            <p:cNvCxnSpPr/>
            <p:nvPr/>
          </p:nvCxnSpPr>
          <p:spPr>
            <a:xfrm>
              <a:off x="3270732" y="4282973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22" name="Google Shape;622;p56"/>
            <p:cNvCxnSpPr/>
            <p:nvPr/>
          </p:nvCxnSpPr>
          <p:spPr>
            <a:xfrm>
              <a:off x="4516125" y="4284558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23" name="Google Shape;623;p56"/>
            <p:cNvCxnSpPr/>
            <p:nvPr/>
          </p:nvCxnSpPr>
          <p:spPr>
            <a:xfrm>
              <a:off x="5759935" y="4269172"/>
              <a:ext cx="868362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dash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624" name="Google Shape;624;p56"/>
            <p:cNvSpPr/>
            <p:nvPr/>
          </p:nvSpPr>
          <p:spPr>
            <a:xfrm>
              <a:off x="4815061" y="3548010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elem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25" name="Google Shape;625;p56"/>
            <p:cNvCxnSpPr/>
            <p:nvPr/>
          </p:nvCxnSpPr>
          <p:spPr>
            <a:xfrm>
              <a:off x="5368315" y="3548010"/>
              <a:ext cx="0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56"/>
            <p:cNvCxnSpPr/>
            <p:nvPr/>
          </p:nvCxnSpPr>
          <p:spPr>
            <a:xfrm>
              <a:off x="4213584" y="3703535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627" name="Google Shape;627;p56"/>
          <p:cNvGrpSpPr/>
          <p:nvPr/>
        </p:nvGrpSpPr>
        <p:grpSpPr>
          <a:xfrm>
            <a:off x="766567" y="1586447"/>
            <a:ext cx="6916738" cy="1404933"/>
            <a:chOff x="766567" y="1586447"/>
            <a:chExt cx="6916738" cy="1404933"/>
          </a:xfrm>
        </p:grpSpPr>
        <p:sp>
          <p:nvSpPr>
            <p:cNvPr id="628" name="Google Shape;628;p56"/>
            <p:cNvSpPr txBox="1"/>
            <p:nvPr/>
          </p:nvSpPr>
          <p:spPr>
            <a:xfrm>
              <a:off x="766567" y="2123452"/>
              <a:ext cx="600075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lista1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29" name="Google Shape;629;p56"/>
            <p:cNvGrpSpPr/>
            <p:nvPr/>
          </p:nvGrpSpPr>
          <p:grpSpPr>
            <a:xfrm>
              <a:off x="7362629" y="2604030"/>
              <a:ext cx="320676" cy="387350"/>
              <a:chOff x="7385050" y="4271762"/>
              <a:chExt cx="320676" cy="387350"/>
            </a:xfrm>
          </p:grpSpPr>
          <p:cxnSp>
            <p:nvCxnSpPr>
              <p:cNvPr id="630" name="Google Shape;630;p56"/>
              <p:cNvCxnSpPr/>
              <p:nvPr/>
            </p:nvCxnSpPr>
            <p:spPr>
              <a:xfrm>
                <a:off x="7385050" y="4271762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1" name="Google Shape;631;p56"/>
              <p:cNvCxnSpPr/>
              <p:nvPr/>
            </p:nvCxnSpPr>
            <p:spPr>
              <a:xfrm>
                <a:off x="7545388" y="4271762"/>
                <a:ext cx="3175" cy="27146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2" name="Google Shape;632;p56"/>
              <p:cNvCxnSpPr/>
              <p:nvPr/>
            </p:nvCxnSpPr>
            <p:spPr>
              <a:xfrm>
                <a:off x="7385050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3" name="Google Shape;633;p56"/>
              <p:cNvCxnSpPr/>
              <p:nvPr/>
            </p:nvCxnSpPr>
            <p:spPr>
              <a:xfrm>
                <a:off x="7545388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4" name="Google Shape;634;p56"/>
              <p:cNvCxnSpPr/>
              <p:nvPr/>
            </p:nvCxnSpPr>
            <p:spPr>
              <a:xfrm>
                <a:off x="7443788" y="4598787"/>
                <a:ext cx="104775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5" name="Google Shape;635;p56"/>
              <p:cNvCxnSpPr/>
              <p:nvPr/>
            </p:nvCxnSpPr>
            <p:spPr>
              <a:xfrm>
                <a:off x="7548563" y="4598787"/>
                <a:ext cx="103188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6" name="Google Shape;636;p56"/>
              <p:cNvCxnSpPr/>
              <p:nvPr/>
            </p:nvCxnSpPr>
            <p:spPr>
              <a:xfrm>
                <a:off x="7485063" y="4657524"/>
                <a:ext cx="6508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37" name="Google Shape;637;p56"/>
              <p:cNvCxnSpPr/>
              <p:nvPr/>
            </p:nvCxnSpPr>
            <p:spPr>
              <a:xfrm>
                <a:off x="7550150" y="4657524"/>
                <a:ext cx="68263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638" name="Google Shape;638;p56"/>
            <p:cNvSpPr/>
            <p:nvPr/>
          </p:nvSpPr>
          <p:spPr>
            <a:xfrm>
              <a:off x="2435030" y="1843617"/>
              <a:ext cx="47942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9" name="Google Shape;639;p56"/>
            <p:cNvSpPr/>
            <p:nvPr/>
          </p:nvSpPr>
          <p:spPr>
            <a:xfrm>
              <a:off x="2550917" y="2472269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40" name="Google Shape;640;p56"/>
            <p:cNvCxnSpPr/>
            <p:nvPr/>
          </p:nvCxnSpPr>
          <p:spPr>
            <a:xfrm>
              <a:off x="3028755" y="2472269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1" name="Google Shape;641;p56"/>
            <p:cNvSpPr/>
            <p:nvPr/>
          </p:nvSpPr>
          <p:spPr>
            <a:xfrm>
              <a:off x="3770117" y="2472269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 baseline="-25000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42" name="Google Shape;642;p56"/>
            <p:cNvCxnSpPr/>
            <p:nvPr/>
          </p:nvCxnSpPr>
          <p:spPr>
            <a:xfrm>
              <a:off x="4246367" y="2472269"/>
              <a:ext cx="3175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56"/>
            <p:cNvSpPr/>
            <p:nvPr/>
          </p:nvSpPr>
          <p:spPr>
            <a:xfrm>
              <a:off x="4986142" y="2472269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44" name="Google Shape;644;p56"/>
            <p:cNvCxnSpPr/>
            <p:nvPr/>
          </p:nvCxnSpPr>
          <p:spPr>
            <a:xfrm>
              <a:off x="5463980" y="2472269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5" name="Google Shape;645;p56"/>
            <p:cNvSpPr/>
            <p:nvPr/>
          </p:nvSpPr>
          <p:spPr>
            <a:xfrm>
              <a:off x="6533955" y="2472269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46" name="Google Shape;646;p56"/>
            <p:cNvCxnSpPr/>
            <p:nvPr/>
          </p:nvCxnSpPr>
          <p:spPr>
            <a:xfrm>
              <a:off x="7014967" y="2472269"/>
              <a:ext cx="0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7" name="Google Shape;647;p56"/>
            <p:cNvSpPr/>
            <p:nvPr/>
          </p:nvSpPr>
          <p:spPr>
            <a:xfrm>
              <a:off x="3771705" y="1881717"/>
              <a:ext cx="492125" cy="274638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8" name="Google Shape;648;p56"/>
            <p:cNvSpPr/>
            <p:nvPr/>
          </p:nvSpPr>
          <p:spPr>
            <a:xfrm>
              <a:off x="766567" y="2442593"/>
              <a:ext cx="542925" cy="312739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49" name="Google Shape;649;p56"/>
            <p:cNvCxnSpPr/>
            <p:nvPr/>
          </p:nvCxnSpPr>
          <p:spPr>
            <a:xfrm>
              <a:off x="1168923" y="2587722"/>
              <a:ext cx="1381993" cy="1131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650" name="Google Shape;650;p56"/>
            <p:cNvSpPr txBox="1"/>
            <p:nvPr/>
          </p:nvSpPr>
          <p:spPr>
            <a:xfrm>
              <a:off x="3760282" y="1586447"/>
              <a:ext cx="542925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punt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51" name="Google Shape;651;p56"/>
            <p:cNvCxnSpPr/>
            <p:nvPr/>
          </p:nvCxnSpPr>
          <p:spPr>
            <a:xfrm>
              <a:off x="2679505" y="2027978"/>
              <a:ext cx="9524" cy="444292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52" name="Google Shape;652;p56"/>
            <p:cNvCxnSpPr/>
            <p:nvPr/>
          </p:nvCxnSpPr>
          <p:spPr>
            <a:xfrm>
              <a:off x="3171628" y="2613556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53" name="Google Shape;653;p56"/>
            <p:cNvCxnSpPr/>
            <p:nvPr/>
          </p:nvCxnSpPr>
          <p:spPr>
            <a:xfrm>
              <a:off x="4417021" y="2615141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54" name="Google Shape;654;p56"/>
            <p:cNvCxnSpPr/>
            <p:nvPr/>
          </p:nvCxnSpPr>
          <p:spPr>
            <a:xfrm>
              <a:off x="5660831" y="2599755"/>
              <a:ext cx="868362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dash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cxnSp>
        <p:nvCxnSpPr>
          <p:cNvPr id="655" name="Google Shape;655;p56"/>
          <p:cNvCxnSpPr/>
          <p:nvPr/>
        </p:nvCxnSpPr>
        <p:spPr>
          <a:xfrm>
            <a:off x="4796207" y="4713596"/>
            <a:ext cx="0" cy="444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grpSp>
        <p:nvGrpSpPr>
          <p:cNvPr id="656" name="Google Shape;656;p56"/>
          <p:cNvGrpSpPr/>
          <p:nvPr/>
        </p:nvGrpSpPr>
        <p:grpSpPr>
          <a:xfrm>
            <a:off x="843310" y="5038686"/>
            <a:ext cx="6939099" cy="1444423"/>
            <a:chOff x="843310" y="5038686"/>
            <a:chExt cx="6939099" cy="1444423"/>
          </a:xfrm>
        </p:grpSpPr>
        <p:grpSp>
          <p:nvGrpSpPr>
            <p:cNvPr id="657" name="Google Shape;657;p56"/>
            <p:cNvGrpSpPr/>
            <p:nvPr/>
          </p:nvGrpSpPr>
          <p:grpSpPr>
            <a:xfrm>
              <a:off x="7461733" y="6095759"/>
              <a:ext cx="320676" cy="387350"/>
              <a:chOff x="7385050" y="4271762"/>
              <a:chExt cx="320676" cy="387350"/>
            </a:xfrm>
          </p:grpSpPr>
          <p:cxnSp>
            <p:nvCxnSpPr>
              <p:cNvPr id="658" name="Google Shape;658;p56"/>
              <p:cNvCxnSpPr/>
              <p:nvPr/>
            </p:nvCxnSpPr>
            <p:spPr>
              <a:xfrm>
                <a:off x="7385050" y="4271762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59" name="Google Shape;659;p56"/>
              <p:cNvCxnSpPr/>
              <p:nvPr/>
            </p:nvCxnSpPr>
            <p:spPr>
              <a:xfrm>
                <a:off x="7545388" y="4271762"/>
                <a:ext cx="3175" cy="27146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0" name="Google Shape;660;p56"/>
              <p:cNvCxnSpPr/>
              <p:nvPr/>
            </p:nvCxnSpPr>
            <p:spPr>
              <a:xfrm>
                <a:off x="7385050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1" name="Google Shape;661;p56"/>
              <p:cNvCxnSpPr/>
              <p:nvPr/>
            </p:nvCxnSpPr>
            <p:spPr>
              <a:xfrm>
                <a:off x="7545388" y="4543224"/>
                <a:ext cx="16033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2" name="Google Shape;662;p56"/>
              <p:cNvCxnSpPr/>
              <p:nvPr/>
            </p:nvCxnSpPr>
            <p:spPr>
              <a:xfrm>
                <a:off x="7443788" y="4598787"/>
                <a:ext cx="104775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3" name="Google Shape;663;p56"/>
              <p:cNvCxnSpPr/>
              <p:nvPr/>
            </p:nvCxnSpPr>
            <p:spPr>
              <a:xfrm>
                <a:off x="7548563" y="4598787"/>
                <a:ext cx="103188" cy="3175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4" name="Google Shape;664;p56"/>
              <p:cNvCxnSpPr/>
              <p:nvPr/>
            </p:nvCxnSpPr>
            <p:spPr>
              <a:xfrm>
                <a:off x="7485063" y="4657524"/>
                <a:ext cx="65088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665" name="Google Shape;665;p56"/>
              <p:cNvCxnSpPr/>
              <p:nvPr/>
            </p:nvCxnSpPr>
            <p:spPr>
              <a:xfrm>
                <a:off x="7550150" y="4657524"/>
                <a:ext cx="68263" cy="1588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666" name="Google Shape;666;p56"/>
            <p:cNvSpPr/>
            <p:nvPr/>
          </p:nvSpPr>
          <p:spPr>
            <a:xfrm>
              <a:off x="875017" y="5335346"/>
              <a:ext cx="47942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7" name="Google Shape;667;p56"/>
            <p:cNvSpPr/>
            <p:nvPr/>
          </p:nvSpPr>
          <p:spPr>
            <a:xfrm>
              <a:off x="2650021" y="5963998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68" name="Google Shape;668;p56"/>
            <p:cNvCxnSpPr/>
            <p:nvPr/>
          </p:nvCxnSpPr>
          <p:spPr>
            <a:xfrm>
              <a:off x="3127859" y="5963998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9" name="Google Shape;669;p56"/>
            <p:cNvSpPr/>
            <p:nvPr/>
          </p:nvSpPr>
          <p:spPr>
            <a:xfrm>
              <a:off x="3869221" y="5963998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 baseline="-25000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70" name="Google Shape;670;p56"/>
            <p:cNvCxnSpPr/>
            <p:nvPr/>
          </p:nvCxnSpPr>
          <p:spPr>
            <a:xfrm>
              <a:off x="4345471" y="5963998"/>
              <a:ext cx="3175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1" name="Google Shape;671;p56"/>
            <p:cNvSpPr/>
            <p:nvPr/>
          </p:nvSpPr>
          <p:spPr>
            <a:xfrm>
              <a:off x="5085246" y="5963998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72" name="Google Shape;672;p56"/>
            <p:cNvCxnSpPr/>
            <p:nvPr/>
          </p:nvCxnSpPr>
          <p:spPr>
            <a:xfrm>
              <a:off x="5563084" y="5963998"/>
              <a:ext cx="1588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3" name="Google Shape;673;p56"/>
            <p:cNvSpPr/>
            <p:nvPr/>
          </p:nvSpPr>
          <p:spPr>
            <a:xfrm>
              <a:off x="6633059" y="5963998"/>
              <a:ext cx="828675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baseline="-25000"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74" name="Google Shape;674;p56"/>
            <p:cNvCxnSpPr/>
            <p:nvPr/>
          </p:nvCxnSpPr>
          <p:spPr>
            <a:xfrm>
              <a:off x="7114071" y="5963998"/>
              <a:ext cx="0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5" name="Google Shape;675;p56"/>
            <p:cNvSpPr txBox="1"/>
            <p:nvPr/>
          </p:nvSpPr>
          <p:spPr>
            <a:xfrm>
              <a:off x="873119" y="5038686"/>
              <a:ext cx="501650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lista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76" name="Google Shape;676;p56"/>
            <p:cNvCxnSpPr/>
            <p:nvPr/>
          </p:nvCxnSpPr>
          <p:spPr>
            <a:xfrm flipH="1" rot="10800000">
              <a:off x="1257324" y="5473480"/>
              <a:ext cx="505488" cy="1473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77" name="Google Shape;677;p56"/>
            <p:cNvCxnSpPr/>
            <p:nvPr/>
          </p:nvCxnSpPr>
          <p:spPr>
            <a:xfrm>
              <a:off x="3270732" y="6105285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78" name="Google Shape;678;p56"/>
            <p:cNvCxnSpPr/>
            <p:nvPr/>
          </p:nvCxnSpPr>
          <p:spPr>
            <a:xfrm>
              <a:off x="4516125" y="6106870"/>
              <a:ext cx="577852" cy="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79" name="Google Shape;679;p56"/>
            <p:cNvCxnSpPr/>
            <p:nvPr/>
          </p:nvCxnSpPr>
          <p:spPr>
            <a:xfrm>
              <a:off x="5759935" y="6091484"/>
              <a:ext cx="868362" cy="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dash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680" name="Google Shape;680;p56"/>
            <p:cNvSpPr/>
            <p:nvPr/>
          </p:nvSpPr>
          <p:spPr>
            <a:xfrm>
              <a:off x="1783063" y="5353280"/>
              <a:ext cx="825500" cy="269876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elem</a:t>
              </a:r>
              <a:endParaRPr baseline="-2500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81" name="Google Shape;681;p56"/>
            <p:cNvCxnSpPr/>
            <p:nvPr/>
          </p:nvCxnSpPr>
          <p:spPr>
            <a:xfrm>
              <a:off x="2336317" y="5353280"/>
              <a:ext cx="0" cy="269876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2" name="Google Shape;682;p56"/>
            <p:cNvSpPr txBox="1"/>
            <p:nvPr/>
          </p:nvSpPr>
          <p:spPr>
            <a:xfrm>
              <a:off x="843310" y="5629774"/>
              <a:ext cx="600075" cy="307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lista1</a:t>
              </a:r>
              <a:endPara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3" name="Google Shape;683;p56"/>
            <p:cNvSpPr/>
            <p:nvPr/>
          </p:nvSpPr>
          <p:spPr>
            <a:xfrm>
              <a:off x="873119" y="5948915"/>
              <a:ext cx="481324" cy="312739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84" name="Google Shape;684;p56"/>
            <p:cNvCxnSpPr/>
            <p:nvPr/>
          </p:nvCxnSpPr>
          <p:spPr>
            <a:xfrm flipH="1" rot="10800000">
              <a:off x="1245666" y="5605221"/>
              <a:ext cx="499301" cy="488821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685" name="Google Shape;685;p56"/>
            <p:cNvCxnSpPr/>
            <p:nvPr/>
          </p:nvCxnSpPr>
          <p:spPr>
            <a:xfrm>
              <a:off x="2532236" y="5541228"/>
              <a:ext cx="255897" cy="396522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Inserimento in ultima posizione</a:t>
            </a:r>
            <a:br>
              <a:rPr lang="it-IT"/>
            </a:br>
            <a:r>
              <a:rPr lang="it-IT"/>
              <a:t>(iterativo)</a:t>
            </a:r>
            <a:endParaRPr/>
          </a:p>
        </p:txBody>
      </p:sp>
      <p:sp>
        <p:nvSpPr>
          <p:cNvPr id="691" name="Google Shape;691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ListaDiElem InsInFondo(ListaDiElem lista, 										TipoElemento elem) {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ListaDiElem punt, cur = lista;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 = (ListaDiElem) malloc(sizeof(ElemLista));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punt–&gt;prox = NULL; 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punt–&gt;info = elem;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Crea il nuovo nodo */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return  punt;	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punt è la nuova lista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else {  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while (cur–&gt;prox != NULL)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Trova l’ultimo nodo */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cur = cur–&gt;prox;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cur–&gt;prox = punt;		</a:t>
            </a: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Aggancia all’ultimo nodo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}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   return lista;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/>
              <a:t>Chiamata: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lista1 = InsInFondo(lista1, elemento);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92" name="Google Shape;692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Inserimento in ultima posizione</a:t>
            </a:r>
            <a:br>
              <a:rPr lang="it-IT"/>
            </a:br>
            <a:r>
              <a:rPr lang="it-IT"/>
              <a:t>(ricorsiva)</a:t>
            </a:r>
            <a:endParaRPr/>
          </a:p>
        </p:txBody>
      </p:sp>
      <p:sp>
        <p:nvSpPr>
          <p:cNvPr id="698" name="Google Shape;698;p58"/>
          <p:cNvSpPr txBox="1"/>
          <p:nvPr>
            <p:ph idx="1" type="body"/>
          </p:nvPr>
        </p:nvSpPr>
        <p:spPr>
          <a:xfrm>
            <a:off x="457199" y="1600200"/>
            <a:ext cx="83285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ListaDiElem InsInFondoRic(ListaDiElem lista, TipoElemento elem ) {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ListaDiElem punt;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if (ListaVuota(lista))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     punt = malloc( sizeof(ElemLista) 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     punt–&gt;prox = NULL;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     punt–&gt;info = elem;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     return  punt;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} else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lista–&gt;prox = InsInFondoRic(lista–&gt;prox, elem);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lista;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Chiamata: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 lista1 = InsInFondoRic(lista1, Elemento);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699" name="Google Shape;699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Inserimento in ultima posizione</a:t>
            </a:r>
            <a:br>
              <a:rPr lang="it-IT"/>
            </a:br>
            <a:r>
              <a:rPr lang="it-IT"/>
              <a:t>(ricorsiva)</a:t>
            </a:r>
            <a:endParaRPr/>
          </a:p>
        </p:txBody>
      </p:sp>
      <p:sp>
        <p:nvSpPr>
          <p:cNvPr id="705" name="Google Shape;705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ListaDiElem InsInFondoRic(ListaDiElem lista, 										TipoElemento elem) {</a:t>
            </a:r>
            <a:endParaRPr/>
          </a:p>
          <a:p>
            <a:pPr indent="0" lvl="0" marL="0" rtl="0" algn="l"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	return InsInTesta(lista, elem);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lista–&gt;prox = InsInFondoRic(lista–&gt;prox, elem);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return lista;</a:t>
            </a:r>
            <a:endParaRPr sz="2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la lista è vuota, l’inserimento in coda non è altro che un inserimento in testa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Caso base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Altrimenti si riattacca al nodo corrente la sua stessa “coda”, modificata aggiungendole elem in fondo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Passo induttivo, su lista più corta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06" name="Google Shape;706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Inserimento in lista ordinata</a:t>
            </a:r>
            <a:br>
              <a:rPr lang="it-IT"/>
            </a:br>
            <a:r>
              <a:rPr lang="it-IT"/>
              <a:t>(iterativa)</a:t>
            </a:r>
            <a:endParaRPr/>
          </a:p>
        </p:txBody>
      </p:sp>
      <p:sp>
        <p:nvSpPr>
          <p:cNvPr id="712" name="Google Shape;712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ListaDiElem InsInOrd(ListaDiElem lista, TipoElemento elem) {	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ListaDiElem punt, puntCor = lista, puntPrec = NULL;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while (puntCor != NULL  &amp;&amp;  elem </a:t>
            </a:r>
            <a:r>
              <a:rPr b="1" lang="it-IT">
                <a:solidFill>
                  <a:srgbClr val="FF3300"/>
                </a:solidFill>
                <a:latin typeface="Courier"/>
                <a:ea typeface="Courier"/>
                <a:cs typeface="Courier"/>
                <a:sym typeface="Courier"/>
              </a:rPr>
              <a:t>&gt;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 puntCor–&gt;info) {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puntPrec = puntCor;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puntCor = puntCor-&gt;prox;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70000"/>
              </a:lnSpc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 = (ListaDiElem) malloc(sizeof(ElemLista)); 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punt–&gt;info = elem;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punt–&gt;prox = puntCor;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(puntPrec != NULL) {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Inserimento interno alla lista */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puntPrec–&gt;prox = punt;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lista;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 else {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punt;	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Inserimento in testa alla lista */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1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100" u="sng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3600"/>
              <a:t>Chiamata:		</a:t>
            </a:r>
            <a:r>
              <a:rPr lang="it-IT" sz="3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lista1</a:t>
            </a:r>
            <a:r>
              <a:rPr lang="it-IT" sz="3600">
                <a:latin typeface="Courier"/>
                <a:ea typeface="Courier"/>
                <a:cs typeface="Courier"/>
                <a:sym typeface="Courier"/>
              </a:rPr>
              <a:t> = InsInOrd(</a:t>
            </a:r>
            <a:r>
              <a:rPr lang="it-IT" sz="3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lista1</a:t>
            </a:r>
            <a:r>
              <a:rPr lang="it-IT" sz="3600">
                <a:latin typeface="Courier"/>
                <a:ea typeface="Courier"/>
                <a:cs typeface="Courier"/>
                <a:sym typeface="Courier"/>
              </a:rPr>
              <a:t>, elemento);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13" name="Google Shape;713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Inserimento in lista ordinata</a:t>
            </a:r>
            <a:br>
              <a:rPr lang="it-IT"/>
            </a:br>
            <a:r>
              <a:rPr lang="it-IT"/>
              <a:t>(ricorsiva)</a:t>
            </a:r>
            <a:endParaRPr/>
          </a:p>
        </p:txBody>
      </p:sp>
      <p:sp>
        <p:nvSpPr>
          <p:cNvPr id="719" name="Google Shape;719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ListaDiElem InsInOrdRic(ListaDiElem lista, TipoElemento elem) {</a:t>
            </a:r>
            <a:r>
              <a:rPr lang="it-IT" sz="1100">
                <a:latin typeface="Courier"/>
                <a:ea typeface="Courier"/>
                <a:cs typeface="Courier"/>
                <a:sym typeface="Courier"/>
              </a:rPr>
              <a:t>	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(ListaVuota(lista) || lista-&gt;info &gt;= elem)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return InsInTesta( lista, elem 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lista-&gt;prox = InsInOrdRic(lista-&gt;prox, elem);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return lista;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1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Caso base: inserimento in testa a una lista vuota o tutta costituita da elementi maggiori dell’elemento da inserire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Passo induttivo: sostituisco la coda del nodo “corrente” con stessa coda modificata dopo l’inserimento dell’elemento elem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20" name="Google Shape;720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Una riflessione sulle liste ordinate</a:t>
            </a:r>
            <a:endParaRPr/>
          </a:p>
        </p:txBody>
      </p:sp>
      <p:sp>
        <p:nvSpPr>
          <p:cNvPr id="726" name="Google Shape;726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consideriamo una lista inizialmente vuota e operiamo sempre e solo inserimenti ordinati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ogni momento la lista sarà ordinata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Questa assunzione può essere sfruttata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Ma…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Se anche una sola volta facciamo un inserimento in testa o in coda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Se la lista inizialmente non è vuota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…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Allora (nel caso più generale)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Non vale più l'assunzione che la lista sia ordinata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L'effetto di “InsInOrd” non è nemmeno ben definito ! </a:t>
            </a:r>
            <a:endParaRPr/>
          </a:p>
        </p:txBody>
      </p:sp>
      <p:sp>
        <p:nvSpPr>
          <p:cNvPr id="727" name="Google Shape;727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Cancellazione di un elemento</a:t>
            </a:r>
            <a:endParaRPr/>
          </a:p>
        </p:txBody>
      </p:sp>
      <p:sp>
        <p:nvSpPr>
          <p:cNvPr id="733" name="Google Shape;733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ListaDiElem CancellaUnoRic(ListaDiElem lista,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					TipoElemento elem) {	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ListaDiElem puntTemp;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(! ListaVuota(lista))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if (lista–&gt;info == elem) {	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puntTemp = lista–&gt;prox;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free( lista );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return puntTemp;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} else {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lista–&gt;prox = CancellaUnoRic(lista–&gt;prox, elem);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return lista;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Chiamata:	</a:t>
            </a:r>
            <a:r>
              <a:rPr lang="it-IT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lista1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 = CancellaUno(</a:t>
            </a:r>
            <a:r>
              <a:rPr lang="it-IT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lista1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, elemento);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34" name="Google Shape;73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it-IT" sz="3600"/>
              <a:t>Variante: elimina </a:t>
            </a:r>
            <a:r>
              <a:rPr i="1" lang="it-IT" sz="3600"/>
              <a:t>tutte</a:t>
            </a:r>
            <a:r>
              <a:rPr lang="it-IT" sz="3600"/>
              <a:t> le occorrenze</a:t>
            </a:r>
            <a:endParaRPr sz="3600"/>
          </a:p>
        </p:txBody>
      </p:sp>
      <p:sp>
        <p:nvSpPr>
          <p:cNvPr id="740" name="Google Shape;740;p6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ListaDiElem </a:t>
            </a:r>
            <a:r>
              <a:rPr b="1"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CancellaTuttiRic</a:t>
            </a: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(ListaDiElem lista, 			TipoElemento elem ) {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ListaDiElem puntTemp;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if (! ListaVuota(lista))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if (lista–&gt;info == elem) {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	puntTemp = lista-&gt;prox;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	</a:t>
            </a:r>
            <a:r>
              <a:rPr b="1"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free(</a:t>
            </a: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lista</a:t>
            </a:r>
            <a:r>
              <a:rPr b="1"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				return </a:t>
            </a:r>
            <a:r>
              <a:rPr b="1"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CancellaTuttiRic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(puntTemp, elem); </a:t>
            </a:r>
            <a:endParaRPr sz="18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} else { 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	lista–&gt;prox =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b="1"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			CancellaTuttiRic</a:t>
            </a: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(lista–&gt;prox, elem);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		}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	return lista; 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</a:pPr>
            <a:r>
              <a:rPr lang="it-IT" sz="1800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800">
              <a:solidFill>
                <a:srgbClr val="A5A5A5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41" name="Google Shape;741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Deallocare completamente la lista</a:t>
            </a:r>
            <a:endParaRPr/>
          </a:p>
        </p:txBody>
      </p:sp>
      <p:sp>
        <p:nvSpPr>
          <p:cNvPr id="747" name="Google Shape;747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void DistruggiLista(ListaDiElem lista)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ListaDiElem temp;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while (! ListaVuota(lista))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temp = lista–&gt;prox;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free(lista);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lista = temp;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 }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void DistruggiListaRic(ListaDiElem lista)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(! ListaVuota(lista))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DistruggiListaRic(lista–&gt;prox);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free(lista);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 }</a:t>
            </a:r>
            <a:endParaRPr/>
          </a:p>
        </p:txBody>
      </p:sp>
      <p:sp>
        <p:nvSpPr>
          <p:cNvPr id="748" name="Google Shape;748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Visualizzare la lista</a:t>
            </a:r>
            <a:endParaRPr/>
          </a:p>
        </p:txBody>
      </p:sp>
      <p:sp>
        <p:nvSpPr>
          <p:cNvPr id="754" name="Google Shape;754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VisualizzaLista(ListaDiElem lista) 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printf(" --| \n");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else 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printf(" %d --&gt; ", lista–&gt;info);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VisualizzaLista( lista–&gt;prox 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755" name="Google Shape;755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56" name="Google Shape;756;p66"/>
          <p:cNvSpPr/>
          <p:nvPr/>
        </p:nvSpPr>
        <p:spPr>
          <a:xfrm>
            <a:off x="2734934" y="4800414"/>
            <a:ext cx="2799471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🡪 2 🡪 3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1 --&gt; 2 --&gt; 3 --&gt; --|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Visualizzare la lista</a:t>
            </a:r>
            <a:endParaRPr/>
          </a:p>
        </p:txBody>
      </p:sp>
      <p:sp>
        <p:nvSpPr>
          <p:cNvPr id="762" name="Google Shape;762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VisualizzaLista(ListaDiElem lista)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printf(" ---| \n");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else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printf(" %d ", lista–&gt;info);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if (! ListaVuota( lista-&gt;prox))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printf("---&gt; ");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VisualizzaLista(lista–&gt;prox);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763" name="Google Shape;76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64" name="Google Shape;764;p67"/>
          <p:cNvSpPr/>
          <p:nvPr/>
        </p:nvSpPr>
        <p:spPr>
          <a:xfrm>
            <a:off x="2539111" y="5090102"/>
            <a:ext cx="2799471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🡪 2 🡪 3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1 --&gt; 2 --&gt; 3 --|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Visualizzare la lista “al contrario”?</a:t>
            </a:r>
            <a:endParaRPr/>
          </a:p>
        </p:txBody>
      </p:sp>
      <p:sp>
        <p:nvSpPr>
          <p:cNvPr id="770" name="Google Shape;770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VisualizzaListaRovesciata(ListaDiElem lista)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(ListaVuota(lista))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printf("|--- ");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else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VisualizzaListaRovesciata( lista–&gt;prox 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printf("%d &lt;--- ", lista–&gt;info);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771" name="Google Shape;771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72" name="Google Shape;772;p68"/>
          <p:cNvSpPr/>
          <p:nvPr/>
        </p:nvSpPr>
        <p:spPr>
          <a:xfrm>
            <a:off x="2860734" y="5089736"/>
            <a:ext cx="3422531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 🡪 2 🡪 3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|-- 3 &lt;-- 2 &lt;-- 1 &lt;--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Inversione di una sequenza di interi</a:t>
            </a:r>
            <a:endParaRPr/>
          </a:p>
        </p:txBody>
      </p:sp>
      <p:sp>
        <p:nvSpPr>
          <p:cNvPr id="778" name="Google Shape;778;p6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Utilizzando una lista, possiamo memorizzare la sequenza allocando un nodo per ogni intero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Dove inseriamo i nodi via via che leggiamo gli interi?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In coda? (ultima posizione)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Ma per generare la sequenza invertita …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In testa? (prima posizione)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-IT"/>
              <a:t>Infatti per generare la sequenza invertita …</a:t>
            </a:r>
            <a:endParaRPr/>
          </a:p>
        </p:txBody>
      </p:sp>
      <p:sp>
        <p:nvSpPr>
          <p:cNvPr id="779" name="Google Shape;7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85" name="Google Shape;785;p70"/>
          <p:cNvSpPr txBox="1"/>
          <p:nvPr>
            <p:ph idx="4294967295" type="body"/>
          </p:nvPr>
        </p:nvSpPr>
        <p:spPr>
          <a:xfrm>
            <a:off x="571500" y="1053547"/>
            <a:ext cx="8229600" cy="5007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2400"/>
              <a:buFont typeface="Courier"/>
              <a:buNone/>
            </a:pPr>
            <a:r>
              <a:rPr lang="it-IT" sz="2400">
                <a:solidFill>
                  <a:srgbClr val="E36C09"/>
                </a:solidFill>
                <a:latin typeface="Courier"/>
                <a:ea typeface="Courier"/>
                <a:cs typeface="Courier"/>
                <a:sym typeface="Courier"/>
              </a:rPr>
              <a:t>#define SENTINELLA -1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typedef int TipoElemento;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int n;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ListaDiElem lista = Inizializza();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scanf("%d", &amp;n);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while (n != SENTINELLA ) {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	lista = InsInTesta( lista, n );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	scanf("%d", &amp;n);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VisualizzaLista(lista);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86" name="Google Shape;786;p70"/>
          <p:cNvSpPr txBox="1"/>
          <p:nvPr/>
        </p:nvSpPr>
        <p:spPr>
          <a:xfrm>
            <a:off x="5207000" y="342900"/>
            <a:ext cx="3594100" cy="132610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Questo è un programma che, mentre acquisisce la sequenza, ha l’accortezza di memorizzarla “al contrario”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7" name="Google Shape;787;p70"/>
          <p:cNvSpPr txBox="1"/>
          <p:nvPr/>
        </p:nvSpPr>
        <p:spPr>
          <a:xfrm>
            <a:off x="5344075" y="4635273"/>
            <a:ext cx="3456900" cy="1326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Possiamo sfruttare il principio per una funzione che realizzi l’inversione di una lista data?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Reverse di lista</a:t>
            </a:r>
            <a:endParaRPr/>
          </a:p>
        </p:txBody>
      </p:sp>
      <p:sp>
        <p:nvSpPr>
          <p:cNvPr id="793" name="Google Shape;793;p71"/>
          <p:cNvSpPr txBox="1"/>
          <p:nvPr>
            <p:ph idx="1" type="body"/>
          </p:nvPr>
        </p:nvSpPr>
        <p:spPr>
          <a:xfrm>
            <a:off x="292231" y="1600200"/>
            <a:ext cx="863495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ListaDiElem InvertiClonando(ListaDiElem lista, int </a:t>
            </a:r>
            <a:r>
              <a:rPr lang="it-IT" sz="2000">
                <a:solidFill>
                  <a:srgbClr val="E36C09"/>
                </a:solidFill>
                <a:latin typeface="Courier"/>
                <a:ea typeface="Courier"/>
                <a:cs typeface="Courier"/>
                <a:sym typeface="Courier"/>
              </a:rPr>
              <a:t>keepSource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) {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ListaDiElem temp = Inizializza(), curr = lista;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while (! ListaVuota(curr))  {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temp = InsInTesta( temp, curr–&gt;info ); 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curr = curr–&gt;prox;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(! </a:t>
            </a:r>
            <a:r>
              <a:rPr lang="it-IT" sz="2000">
                <a:solidFill>
                  <a:srgbClr val="E36C09"/>
                </a:solidFill>
                <a:latin typeface="Courier"/>
                <a:ea typeface="Courier"/>
                <a:cs typeface="Courier"/>
                <a:sym typeface="Courier"/>
              </a:rPr>
              <a:t>keepSource</a:t>
            </a: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it-IT" sz="2000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		DistruggiLista(lista);</a:t>
            </a:r>
            <a:endParaRPr sz="2000">
              <a:solidFill>
                <a:srgbClr val="C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return temp;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/>
              <a:t>Chiamate: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ListaDiElem s1, s2, s3;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s1 = InvertiClonando(s1, 0);</a:t>
            </a:r>
            <a:endParaRPr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s2 = InvertiClonando(s3, 1); 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794" name="Google Shape;794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95" name="Google Shape;795;p71"/>
          <p:cNvSpPr txBox="1"/>
          <p:nvPr/>
        </p:nvSpPr>
        <p:spPr>
          <a:xfrm>
            <a:off x="4375600" y="3863174"/>
            <a:ext cx="4355100" cy="2372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Questa versione alloca, un nodo alla volta, una nuova lista ricopiando via via i valori del campo info nei nuovi nodi.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it-IT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Alla fine, si può deallocare la lista originale o conservarla, in base alla scelta effettuata dal programma chiamante.</a:t>
            </a:r>
            <a:endParaRPr sz="1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Reverse di lista</a:t>
            </a:r>
            <a:endParaRPr/>
          </a:p>
        </p:txBody>
      </p:sp>
      <p:sp>
        <p:nvSpPr>
          <p:cNvPr id="801" name="Google Shape;801;p7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ListaDiElem InvertiRiusando(ListaDiElem lista)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ListaDiElem temp, prec = NULL;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(! ListaVuota(lista)) { 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while (! ListaVuota(lista–&gt;prox)) {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temp = prec;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prec = lista;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lista = lista–&gt;prox;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	prec–&gt;prox = temp;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lista–&gt;prox = prec;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}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   return lista;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02" name="Google Shape;802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03" name="Google Shape;803;p72"/>
          <p:cNvSpPr txBox="1"/>
          <p:nvPr/>
        </p:nvSpPr>
        <p:spPr>
          <a:xfrm>
            <a:off x="5132895" y="4619745"/>
            <a:ext cx="3553905" cy="132610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Questa versione riusa i nodi della lista passata come parametro, e li “rimonta” in ordine inverso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Inversione ricorsiva</a:t>
            </a:r>
            <a:endParaRPr/>
          </a:p>
        </p:txBody>
      </p:sp>
      <p:sp>
        <p:nvSpPr>
          <p:cNvPr id="809" name="Google Shape;809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la lista ha 0 o 1 elementi, allora è uguale alla sua inversa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restituiamo inalterata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Altrimenti, supponiamo di saper invertire la coda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Riduciamo il problema da “N” a “N-1”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1–2–3–4–5–6–\   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1     6–5–4–3–2–\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Dobbiamo inserire il primo elemento in fondo alla coda invertita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Scriviamo una versione che sfrutti bene i puntatori…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Prima della chiamata ricorsiva possiamo mettere da parte un puntatore al secondo elemento [2], confidando che dopo l'inversione esso [2] sarà diventato l'ultimo elemento della "coda invertita", e attaccargli (in coda) il primo elemento [1]</a:t>
            </a:r>
            <a:endParaRPr/>
          </a:p>
        </p:txBody>
      </p:sp>
      <p:sp>
        <p:nvSpPr>
          <p:cNvPr id="810" name="Google Shape;810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16" name="Google Shape;816;p74"/>
          <p:cNvSpPr txBox="1"/>
          <p:nvPr/>
        </p:nvSpPr>
        <p:spPr>
          <a:xfrm>
            <a:off x="160339" y="670231"/>
            <a:ext cx="8700857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ListaDiElem InvertiRiusandoRic(ListaDiElem lista) 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ListaDiElem p, risultato;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if (ListaVuota(lista) || ListaVuota(lista–&gt;prox))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return lista;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 = lista–&gt;prox;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risultato = InvertiRiusandoRic(lista–&gt;prox);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p–&gt;prox = lista;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lista–&gt;prox = NULL;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risultato;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17" name="Google Shape;817;p74"/>
          <p:cNvSpPr/>
          <p:nvPr/>
        </p:nvSpPr>
        <p:spPr>
          <a:xfrm>
            <a:off x="1574277" y="4048026"/>
            <a:ext cx="6495068" cy="230832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Prima della chiamata ricorsiva possiamo mettere da parte un puntatore [p] al secondo elemento [p=lista-&gt;prox], confidando che dopo l'inversione esso sarà diventato l'ultimo elemento della "coda invertita", e attaccargli [p-&gt;prox] (in coda) il primo elemento [lista]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Liste e array</a:t>
            </a:r>
            <a:endParaRPr/>
          </a:p>
        </p:txBody>
      </p:sp>
      <p:sp>
        <p:nvSpPr>
          <p:cNvPr id="823" name="Google Shape;823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Quando si deve operare su una sequenza di elementi di lunghezza a priori ignota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si usa un array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Occorre fissare una dimensione massima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Si spreca la memoria non usata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Ma la gestione è semplice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si usa una lista con puntatori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Vale esattamente il viceversa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Si usa solamente la memoria strettamente necessaria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Ma la sua gestione può essere complicata</a:t>
            </a:r>
            <a:endParaRPr/>
          </a:p>
        </p:txBody>
      </p:sp>
      <p:sp>
        <p:nvSpPr>
          <p:cNvPr id="824" name="Google Shape;824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Inversione di una sequenza di interi</a:t>
            </a:r>
            <a:endParaRPr/>
          </a:p>
        </p:txBody>
      </p:sp>
      <p:sp>
        <p:nvSpPr>
          <p:cNvPr id="830" name="Google Shape;830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Vediamo come si può invertire la sequenza “senza memorizzarla”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Cioè senza usare né array né liste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void inverti() {	</a:t>
            </a:r>
            <a:r>
              <a:rPr lang="it-IT" sz="2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Non ci sono array o liste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   int n;			</a:t>
            </a:r>
            <a:r>
              <a:rPr lang="it-IT" sz="29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e neanche assegnamenti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   scanf("%d", &amp;n);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   if (n != SENTINELLA)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		inverti();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	printf("%d ", n);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9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Ma è proprio vero che la sequenza non è stata memorizzata?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Qual è lo stato dello stack dei record di attivazione nel momento in cui si esegue la prima printf?</a:t>
            </a:r>
            <a:endParaRPr/>
          </a:p>
        </p:txBody>
      </p:sp>
      <p:sp>
        <p:nvSpPr>
          <p:cNvPr id="831" name="Google Shape;831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La soluzione del testo</a:t>
            </a:r>
            <a:endParaRPr/>
          </a:p>
        </p:txBody>
      </p:sp>
      <p:sp>
        <p:nvSpPr>
          <p:cNvPr id="837" name="Google Shape;837;p7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Considera le operazioni di inizializzazione, inserimento e cancellazione come delle procedure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Cioè funzioni che restituiscono void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Realizza il passaggio per indirizzo della lista su cui si vuole operare, invece di restituire la lista attraverso la return (per le operazioni di modifica)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chiamata 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lista1 = f(lista1, ...) </a:t>
            </a:r>
            <a:r>
              <a:rPr lang="it-IT"/>
              <a:t>diventa 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f(&amp;lista1, ...)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puntatore è passato per indirizzo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parametro formale è un puntatore a puntatore a elemento</a:t>
            </a:r>
            <a:endParaRPr/>
          </a:p>
        </p:txBody>
      </p:sp>
      <p:sp>
        <p:nvSpPr>
          <p:cNvPr id="838" name="Google Shape;838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Inizializzazione</a:t>
            </a:r>
            <a:endParaRPr/>
          </a:p>
        </p:txBody>
      </p:sp>
      <p:sp>
        <p:nvSpPr>
          <p:cNvPr id="844" name="Google Shape;844;p7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void Inizializza(ListaDiElem * lista) {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*lista = NULL;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 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Dichiarazione della variabile testa della lista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ListaDiElem lista1;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 u="sng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Chiamata di Inizializza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Inizializza(&amp;lista1);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45" name="Google Shape;845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Controllo di lista vuota</a:t>
            </a:r>
            <a:endParaRPr/>
          </a:p>
        </p:txBody>
      </p:sp>
      <p:sp>
        <p:nvSpPr>
          <p:cNvPr id="851" name="Google Shape;851;p7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boolean ListaVuota(ListaDiElem lista) {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3CC33"/>
              </a:buClr>
              <a:buSzPts val="2000"/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/* true sse la lista parametro è vuota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return lista == NULL;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/>
              <a:t>Chiamata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boolean vuota;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3CC33"/>
              </a:buClr>
              <a:buSzPts val="2000"/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boolean definito come enumerazione*/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33CC33"/>
              </a:buClr>
              <a:buSzPts val="2000"/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typedef enum {false, true} boolean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vuota = ListaVuota(lista1);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52" name="Google Shape;852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Inserimento in prima posizione</a:t>
            </a:r>
            <a:endParaRPr/>
          </a:p>
        </p:txBody>
      </p:sp>
      <p:sp>
        <p:nvSpPr>
          <p:cNvPr id="858" name="Google Shape;858;p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InsInTesta(ListaDiElem * lista,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		TipoElemento elem) {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ListaDiElem punt;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 = (ListaDiElem) malloc(sizeof(ElemLista));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punt–&gt;info = elem;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punt–&gt;prox = *lista;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*lista = punt;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 u="sng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/>
              <a:t>Chiamata: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 InsInTesta(&amp;lista1, elemento);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59" name="Google Shape;859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Inserimento in ultima posizione</a:t>
            </a:r>
            <a:endParaRPr/>
          </a:p>
        </p:txBody>
      </p:sp>
      <p:sp>
        <p:nvSpPr>
          <p:cNvPr id="865" name="Google Shape;865;p81"/>
          <p:cNvSpPr txBox="1"/>
          <p:nvPr>
            <p:ph idx="1" type="body"/>
          </p:nvPr>
        </p:nvSpPr>
        <p:spPr>
          <a:xfrm>
            <a:off x="457199" y="1600200"/>
            <a:ext cx="834743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void InsInCoda(ListaDiElem * lista,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			TipoElemento elem) {	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ListaDiElem punt;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if (ListaVuota(*lista)) {	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punt = (ListaDiElem) malloc(sizeof(ElemLista));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punt–&gt;prox = NULL;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punt–&gt;info = elem; 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	*lista = punt;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}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	else InsInCoda(&amp;((*lista)–&gt;prox), elem );</a:t>
            </a:r>
            <a:endParaRPr sz="20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sz="20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2000"/>
          </a:p>
        </p:txBody>
      </p:sp>
      <p:sp>
        <p:nvSpPr>
          <p:cNvPr id="866" name="Google Shape;866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Inserimento in ordine</a:t>
            </a:r>
            <a:endParaRPr/>
          </a:p>
        </p:txBody>
      </p:sp>
      <p:sp>
        <p:nvSpPr>
          <p:cNvPr id="872" name="Google Shape;872;p8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void InsInOrd( ListaDiElem * lista, TipoElemento elem 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ListaDiElem punt, puntCor, puntPrec=NULL;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puntCor = *lista;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while (puntCor != NULL &amp;&amp; elem &gt; puntCor–&gt;info) {	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puntPrec = puntCor;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puntCor = puntCor–&gt;prox;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 = (ListaDiElem) malloc(sizeof(ElemLista));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punt–&gt;info = elem; 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punt–&gt;prox = puntCor;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if (puntPrec != NULL)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Ins. interno alla lista */</a:t>
            </a:r>
            <a:endParaRPr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       puntPrec–&gt;prox = punt;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else	              	</a:t>
            </a:r>
            <a:r>
              <a:rPr lang="it-IT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Ins. in testa alla lista */</a:t>
            </a:r>
            <a:endParaRPr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       *lista = punt;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}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3" name="Google Shape;873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descr="Fig10-07" id="879" name="Google Shape;87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5" y="833816"/>
            <a:ext cx="5611339" cy="498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Cancellazione</a:t>
            </a:r>
            <a:endParaRPr/>
          </a:p>
        </p:txBody>
      </p:sp>
      <p:sp>
        <p:nvSpPr>
          <p:cNvPr id="885" name="Google Shape;885;p8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600"/>
              <a:buNone/>
            </a:pPr>
            <a:r>
              <a:rPr lang="it-IT" sz="16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Cancella la prima occorrenza trovata di elem, se esiste */</a:t>
            </a:r>
            <a:endParaRPr sz="16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void Cancella(ListaDiElem *lista, TipoElemento elem) {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ListaDiElem puntTemp;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if (! ListaVuota(*lista))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if ((*lista)–&gt;info == elem) {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puntTemp = *lista;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*lista = CodaLista(*lista);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</a:t>
            </a:r>
            <a:r>
              <a:rPr lang="it-IT" sz="16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free</a:t>
            </a: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( puntTemp );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}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else Cancella( &amp;((*lista)–&gt;prox), elem );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86" name="Google Shape;886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al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2000-09-24T09:01:15Z</dcterms:created>
  <dc:creator>Luca Breveglieri</dc:creator>
</cp:coreProperties>
</file>