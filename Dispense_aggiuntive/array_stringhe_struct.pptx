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y="6858000" cx="9144000"/>
  <p:notesSz cx="7315200" cy="9601200"/>
  <p:embeddedFontLst>
    <p:embeddedFont>
      <p:font typeface="Tahoma"/>
      <p:regular r:id="rId61"/>
      <p:bold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3" roundtripDataSignature="AMtx7mhL+n3+OVVruF7LDu+cDtgUwtIg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846B90-E22D-4815-A030-24B27AF1D63B}">
  <a:tblStyle styleId="{E4846B90-E22D-4815-A030-24B27AF1D63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F235A85D-C087-4EA1-A920-E6F4FF3075BD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Tahoma-bold.fntdata"/><Relationship Id="rId61" Type="http://schemas.openxmlformats.org/officeDocument/2006/relationships/font" Target="fonts/Tahoma-regular.fntdata"/><Relationship Id="rId20" Type="http://schemas.openxmlformats.org/officeDocument/2006/relationships/slide" Target="slides/slide14.xml"/><Relationship Id="rId63" Type="http://customschemas.google.com/relationships/presentationmetadata" Target="meta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6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38" name="Google Shape;338;p36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3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3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52" name="Google Shape;352;p37:notes"/>
          <p:cNvSpPr txBox="1"/>
          <p:nvPr/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7775" lIns="95550" spcFirstLastPara="1" rIns="95550" wrap="square" tIns="477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3" name="Google Shape;353;p3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4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4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4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4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5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5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5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7775" lIns="95550" spcFirstLastPara="1" rIns="95550" wrap="square" tIns="4777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5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6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6" name="Google Shape;46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3" name="Google Shape;53;p6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5" name="Google Shape;55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8888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Informatica A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it-IT"/>
              <a:t>Array e Stringhe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it-IT"/>
              <a:t>Struct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t-IT"/>
              <a:t>ARRAY</a:t>
            </a:r>
            <a:endParaRPr/>
          </a:p>
        </p:txBody>
      </p:sp>
      <p:sp>
        <p:nvSpPr>
          <p:cNvPr id="95" name="Google Shape;95;p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96" name="Google Shape;9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Gli array</a:t>
            </a:r>
            <a:endParaRPr/>
          </a:p>
        </p:txBody>
      </p:sp>
      <p:sp>
        <p:nvSpPr>
          <p:cNvPr id="102" name="Google Shape;102;p3"/>
          <p:cNvSpPr txBox="1"/>
          <p:nvPr>
            <p:ph idx="1" type="body"/>
          </p:nvPr>
        </p:nvSpPr>
        <p:spPr>
          <a:xfrm>
            <a:off x="457200" y="1600200"/>
            <a:ext cx="572611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Gruppi di celle consecutive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Rappresentano gruppi di variabili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Con lo stesso nome e lo stesso tipo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Per riferirsi a un elemento, si specificano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nome dell’array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posizione dell’elemento (indice)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Sintassi: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&lt;nomearray&gt;[&lt;posizione&gt;]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primo elemento ha indice 0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L’n-esimo elemento dell’array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</a:t>
            </a:r>
            <a:r>
              <a:rPr lang="it-IT"/>
              <a:t> è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v[n-1]</a:t>
            </a:r>
            <a:endParaRPr/>
          </a:p>
        </p:txBody>
      </p:sp>
      <p:sp>
        <p:nvSpPr>
          <p:cNvPr id="103" name="Google Shape;103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aphicFrame>
        <p:nvGraphicFramePr>
          <p:cNvPr id="104" name="Google Shape;104;p3"/>
          <p:cNvGraphicFramePr/>
          <p:nvPr/>
        </p:nvGraphicFramePr>
        <p:xfrm>
          <a:off x="5876253" y="1676083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{E4846B90-E22D-4815-A030-24B27AF1D63B}</a:tableStyleId>
              </a:tblPr>
              <a:tblGrid>
                <a:gridCol w="1282850"/>
                <a:gridCol w="1258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v[0]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-46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v[1]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6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v[2]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v[3]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72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v[4]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1542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v[5]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-86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v[6]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0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v[7]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62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v[8]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-2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v[9]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v[10]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6452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it-IT" sz="1800" u="none" cap="none" strike="noStrike"/>
                        <a:t>v[11]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800" u="none" cap="none" strike="noStrike"/>
                        <a:t>78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3"/>
          <p:cNvSpPr/>
          <p:nvPr/>
        </p:nvSpPr>
        <p:spPr>
          <a:xfrm>
            <a:off x="5876253" y="1200090"/>
            <a:ext cx="301991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Dichiarazione:</a:t>
            </a: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it-IT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 v[12];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Gli array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Array: vettori di elementi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Indicizzati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Omogenei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Memorizzati in celle di memoria consecutive</a:t>
            </a:r>
            <a:endParaRPr/>
          </a:p>
          <a:p>
            <a:pPr indent="-139700" lvl="4" marL="205740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Dichiarazione di un array: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char parola[12];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È un array di 12 elementi di tipo char, vale a dire un vettore di 12 caratteri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La lunghezza dell’array è comunque decisa </a:t>
            </a:r>
            <a:r>
              <a:rPr i="1" lang="it-IT">
                <a:solidFill>
                  <a:srgbClr val="001FEF"/>
                </a:solidFill>
              </a:rPr>
              <a:t>durante la compilazione </a:t>
            </a:r>
            <a:r>
              <a:rPr lang="it-IT"/>
              <a:t>del programma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Nella dichiarazione, </a:t>
            </a:r>
            <a:r>
              <a:rPr i="1" lang="it-IT">
                <a:solidFill>
                  <a:srgbClr val="001FEF"/>
                </a:solidFill>
              </a:rPr>
              <a:t>non</a:t>
            </a:r>
            <a:r>
              <a:rPr lang="it-IT">
                <a:solidFill>
                  <a:srgbClr val="001FEF"/>
                </a:solidFill>
              </a:rPr>
              <a:t> </a:t>
            </a:r>
            <a:r>
              <a:rPr lang="it-IT"/>
              <a:t>usiamo variabili per specificare la dimensione degli array</a:t>
            </a:r>
            <a:endParaRPr/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Gli array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Sequenza di elementi consecutivi dello stesso tipo in numero predeterminato e costante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Noto a tempo di compilazione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Ogni elemento della sequenza è individuato da un indice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sua posizione nella sequenza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Indice con valore da 0 a N-1</a:t>
            </a:r>
            <a:endParaRPr/>
          </a:p>
          <a:p>
            <a:pPr indent="-228600" lvl="2" marL="114300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Dove N è la dimensione dell’array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int v[100];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. . .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v[3] = 0;    	</a:t>
            </a:r>
            <a:endParaRPr/>
          </a:p>
          <a:p>
            <a:pPr indent="0" lvl="0" marL="0" rtl="0" algn="ctr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Se i &gt;= 100, v[i] </a:t>
            </a:r>
            <a:r>
              <a:rPr i="1" lang="it-IT">
                <a:solidFill>
                  <a:srgbClr val="001FEF"/>
                </a:solidFill>
              </a:rPr>
              <a:t>è un errore</a:t>
            </a:r>
            <a:r>
              <a:rPr lang="it-IT"/>
              <a:t>! </a:t>
            </a:r>
            <a:endParaRPr/>
          </a:p>
          <a:p>
            <a:pPr indent="0" lvl="0" marL="0" rtl="0" algn="ctr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Il comportamento è indefinito</a:t>
            </a:r>
            <a:endParaRPr/>
          </a:p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Gli array</a:t>
            </a:r>
            <a:endParaRPr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Gli elementi di un array sono normali variabili</a:t>
            </a:r>
            <a:endParaRPr/>
          </a:p>
          <a:p>
            <a:pPr indent="0" lvl="1" marL="45720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vett[0] = 3;</a:t>
            </a:r>
            <a:endParaRPr/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printf("%d", vett[0]);</a:t>
            </a:r>
            <a:endParaRPr/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&gt; 3</a:t>
            </a:r>
            <a:endParaRPr/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scanf("%d", &amp;vett[1]);</a:t>
            </a:r>
            <a:endParaRPr/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&gt; 17		vett[1] assume valore 17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 possono usare espressioni come indici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	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x = 3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	vett[5-2]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it-IT" sz="2400"/>
              <a:t>è equivalente a		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vett[3]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it-IT" sz="2400"/>
              <a:t>ed è equivalente a	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vett[x]</a:t>
            </a:r>
            <a:endParaRPr/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Come opera il calcolatore?</a:t>
            </a:r>
            <a:endParaRPr/>
          </a:p>
        </p:txBody>
      </p:sp>
      <p:sp>
        <p:nvSpPr>
          <p:cNvPr id="132" name="Google Shape;132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int v[100];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Alloca memoria per 100 elementi interi, a partire da un certo indirizzo di memoria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La dimensione deve essere nota al compilatore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Deve essere un’espressione senza variabili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Per accedere all' i-esimo elemento di v[...]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Valuta l'indice i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Può essere un'espressione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All’indirizzo della prima cella di v[...] somma il numero di celle pari allo spazio occupato da i elementi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Ottiene così l'indirizzo dell'elemento cercato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È possibile perché gli elementi sono tutti dello stesso tipo, e il tipo determina la dimensione in memoria</a:t>
            </a:r>
            <a:endParaRPr/>
          </a:p>
        </p:txBody>
      </p:sp>
      <p:sp>
        <p:nvSpPr>
          <p:cNvPr id="133" name="Google Shape;133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Inizializzazione di un array</a:t>
            </a:r>
            <a:endParaRPr/>
          </a:p>
        </p:txBody>
      </p:sp>
      <p:sp>
        <p:nvSpPr>
          <p:cNvPr id="139" name="Google Shape;139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Sintassi compatta</a:t>
            </a:r>
            <a:endParaRPr/>
          </a:p>
          <a:p>
            <a:pPr indent="0" lvl="1" marL="4572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n[5] = {1, 2, 3, 4, 5}; </a:t>
            </a:r>
            <a:endParaRPr/>
          </a:p>
          <a:p>
            <a:pPr indent="0" lvl="1" marL="4572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n[5] = {13};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Tutti gli altri elementi sono posti a 0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Specificare troppi elementi tra le graffe è un errore di sintassi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la lunghezza dell’array è omessa, gli inizializzatori la determinano</a:t>
            </a:r>
            <a:endParaRPr/>
          </a:p>
          <a:p>
            <a:pPr indent="0" lvl="1" marL="4572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n[] = {5, 47, −2, 0, 24};</a:t>
            </a:r>
            <a:endParaRPr/>
          </a:p>
          <a:p>
            <a:pPr indent="0" lvl="1" marL="4572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Equivalente a</a:t>
            </a:r>
            <a:endParaRPr/>
          </a:p>
          <a:p>
            <a:pPr indent="0" lvl="1" marL="4572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int n[5] = {5, 47, − 2, 0, 24};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In tal caso la dimensione è inferita automaticamente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 5 elementi con indici da 0 a 4</a:t>
            </a:r>
            <a:endParaRPr/>
          </a:p>
        </p:txBody>
      </p:sp>
      <p:sp>
        <p:nvSpPr>
          <p:cNvPr id="140" name="Google Shape;14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Operazioni sugli array</a:t>
            </a:r>
            <a:endParaRPr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457200" y="1600200"/>
            <a:ext cx="8229600" cy="1732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Si opera sui singoli elementi, uno per volta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Non è possibile operare sull’intero array, agendo su tutti gli elementi simultaneamente</a:t>
            </a:r>
            <a:endParaRPr/>
          </a:p>
        </p:txBody>
      </p:sp>
      <p:sp>
        <p:nvSpPr>
          <p:cNvPr id="147" name="Google Shape;147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457200" y="3569514"/>
            <a:ext cx="8443912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come ricopiare array1 in array2 */</a:t>
            </a:r>
            <a:endParaRPr b="0" i="0" sz="1800" u="none" cap="none" strike="noStrike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array1[10], array2[10];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i;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…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array2 = array1;			/* ERRATO */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…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 (i = 0; i &lt; 10; i++) {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array2[i] = array1[i];	</a:t>
            </a:r>
            <a:r>
              <a:rPr b="0" i="0" lang="it-IT" sz="1800" u="none" cap="none" strike="noStrike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CORRETTO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 sugli array</a:t>
            </a:r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Dichiarazione del vettore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int a[20];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Inizializzazione del vettore (omogenea)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for (i = 0; i &lt;= 19; i++)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a[i] = 0;</a:t>
            </a:r>
            <a:endParaRPr/>
          </a:p>
          <a:p>
            <a:pPr indent="0" lvl="1" marL="4572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(alternativa alla dichiarazione, valida solo per lo zero: int a[20] = {0} ) 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Inizializzazione “da terminale”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for (i = 0; i &lt;= 19; i++) {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	printf("\n Scrivi un intero: ");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 		scanf("%d", &amp;a[i]);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</p:txBody>
      </p:sp>
      <p:sp>
        <p:nvSpPr>
          <p:cNvPr id="155" name="Google Shape;15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 sugli array</a:t>
            </a:r>
            <a:endParaRPr/>
          </a:p>
        </p:txBody>
      </p:sp>
      <p:sp>
        <p:nvSpPr>
          <p:cNvPr id="161" name="Google Shape;161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Ricerca del massimo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int max = a[0];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for (i = 1; i &lt;= 19; i++) 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	if (a[i] &gt; max)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		max = a[i];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Calcolo della media</a:t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float media = a[0];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for (i = 1; i &lt;= 19; i++)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	media = media + a[i];</a:t>
            </a:r>
            <a:endParaRPr/>
          </a:p>
          <a:p>
            <a:pPr indent="0" lvl="0" marL="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	media = media / 20;</a:t>
            </a:r>
            <a:endParaRPr/>
          </a:p>
        </p:txBody>
      </p:sp>
      <p:sp>
        <p:nvSpPr>
          <p:cNvPr id="162" name="Google Shape;16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Esempi sugli array</a:t>
            </a:r>
            <a:endParaRPr/>
          </a:p>
        </p:txBody>
      </p:sp>
      <p:sp>
        <p:nvSpPr>
          <p:cNvPr id="168" name="Google Shape;16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69" name="Google Shape;169;p12"/>
          <p:cNvSpPr txBox="1"/>
          <p:nvPr>
            <p:ph idx="4294967295" type="body"/>
          </p:nvPr>
        </p:nvSpPr>
        <p:spPr>
          <a:xfrm>
            <a:off x="488142" y="2241791"/>
            <a:ext cx="8229600" cy="41145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int a[20];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int max, min, i;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float media;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for (i = 0; i &lt;= 19; i++) {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printf("\n Scrivi un intero: ");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scanf("%d", &amp;a[i]);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}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max = min = media = a[0];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for (i = 1; i &lt;= 19; i++) {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media = media + a[i];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if (a[i] &gt; max)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max = a[i];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if (a[i] &lt; min)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min = a[i];</a:t>
            </a:r>
            <a:endParaRPr/>
          </a:p>
          <a:p>
            <a:pPr indent="0" lvl="2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media = media / 20;</a:t>
            </a:r>
            <a:endParaRPr/>
          </a:p>
        </p:txBody>
      </p:sp>
      <p:sp>
        <p:nvSpPr>
          <p:cNvPr id="170" name="Google Shape;170;p12"/>
          <p:cNvSpPr/>
          <p:nvPr/>
        </p:nvSpPr>
        <p:spPr>
          <a:xfrm>
            <a:off x="488142" y="1303748"/>
            <a:ext cx="7293050" cy="735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Calcolo di massimo, minimo e media di un vettore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È sufficiente </a:t>
            </a:r>
            <a:r>
              <a:rPr b="0" i="1" lang="it-IT" sz="2200" u="none" cap="none" strike="noStrike">
                <a:solidFill>
                  <a:srgbClr val="001FEF"/>
                </a:solidFill>
                <a:latin typeface="Calibri"/>
                <a:ea typeface="Calibri"/>
                <a:cs typeface="Calibri"/>
                <a:sym typeface="Calibri"/>
              </a:rPr>
              <a:t>una sola scansione </a:t>
            </a:r>
            <a:r>
              <a:rPr b="0" i="0" lang="it-IT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 vettore (un solo ciclo)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Un nuovo problema</a:t>
            </a:r>
            <a:endParaRPr/>
          </a:p>
        </p:txBody>
      </p:sp>
      <p:sp>
        <p:nvSpPr>
          <p:cNvPr id="176" name="Google Shape;176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Mostrare una sequenza di 100 interi </a:t>
            </a:r>
            <a:r>
              <a:rPr i="1" lang="it-IT">
                <a:solidFill>
                  <a:srgbClr val="001FEF"/>
                </a:solidFill>
              </a:rPr>
              <a:t>nell'ordine inverso </a:t>
            </a:r>
            <a:r>
              <a:rPr lang="it-IT"/>
              <a:t>rispetto a quello con cui è stata introdotta dall’utente (stdin)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Con un array?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Senza array?</a:t>
            </a:r>
            <a:endParaRPr/>
          </a:p>
        </p:txBody>
      </p:sp>
      <p:sp>
        <p:nvSpPr>
          <p:cNvPr id="177" name="Google Shape;17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83" name="Google Shape;183;p14"/>
          <p:cNvSpPr txBox="1"/>
          <p:nvPr/>
        </p:nvSpPr>
        <p:spPr>
          <a:xfrm>
            <a:off x="334108" y="684069"/>
            <a:ext cx="8695592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Programma InvertiSequenza */</a:t>
            </a:r>
            <a:endParaRPr b="0" i="0" sz="1800" u="none" cap="none" strike="noStrike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int </a:t>
            </a: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main()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 i, a[100];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 = 0;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 (i &lt; 100) { 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printf(" \n fornisci un valore intero: ");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scanf("%d", &amp;a[i]);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i++;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i--;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 (i &gt;= 0) {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printf("%d\n", a[i]);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i--;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0;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184" name="Google Shape;184;p14"/>
          <p:cNvSpPr txBox="1"/>
          <p:nvPr/>
        </p:nvSpPr>
        <p:spPr>
          <a:xfrm>
            <a:off x="3311525" y="5058625"/>
            <a:ext cx="5137883" cy="10156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Funziona </a:t>
            </a:r>
            <a:r>
              <a:rPr b="0" i="1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solo</a:t>
            </a: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 un array di 100 elementi 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 cosa possiamo fare se sono di meno?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it-IT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 se (peggio) sono di più?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Generalizziamo con la direttiva #define</a:t>
            </a:r>
            <a:endParaRPr/>
          </a:p>
        </p:txBody>
      </p:sp>
      <p:sp>
        <p:nvSpPr>
          <p:cNvPr id="190" name="Google Shape;190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 testa al programma</a:t>
            </a:r>
            <a:endParaRPr/>
          </a:p>
          <a:p>
            <a:pPr indent="0" lvl="1" marL="45720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#define LUNG_SEQ 100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Così possiamo adattare la lunghezza del vettore alle eventuali mutate esigenze senza riscrivere la costante 100 in molti punti del programma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preprocessore sostituisce nel codice LUNG_SEQ con 100 prima della compilazione 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La lunghezza dell’array, quindi, anche in questo caso è decisa al momento della compilazione del programma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Nella dichiarazione degli array non usiamo </a:t>
            </a:r>
            <a:r>
              <a:rPr i="1" lang="it-IT">
                <a:solidFill>
                  <a:srgbClr val="001FEF"/>
                </a:solidFill>
              </a:rPr>
              <a:t>mai</a:t>
            </a:r>
            <a:r>
              <a:rPr lang="it-IT">
                <a:solidFill>
                  <a:srgbClr val="001FEF"/>
                </a:solidFill>
              </a:rPr>
              <a:t> </a:t>
            </a:r>
            <a:r>
              <a:rPr lang="it-IT"/>
              <a:t>variabili per specificarne la dimensione</a:t>
            </a:r>
            <a:endParaRPr/>
          </a:p>
        </p:txBody>
      </p:sp>
      <p:sp>
        <p:nvSpPr>
          <p:cNvPr id="191" name="Google Shape;19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701090" y="1184478"/>
            <a:ext cx="713208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Programma InvertiSequenza */</a:t>
            </a:r>
            <a:endParaRPr b="0" i="0" sz="1800" u="none" cap="none" strike="noStrike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#define LUNG_SEQ 100 </a:t>
            </a:r>
            <a:endParaRPr b="0" i="0" sz="1800" u="none" cap="none" strike="noStrike">
              <a:solidFill>
                <a:schemeClr val="accent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main( ) 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 i, a[</a:t>
            </a:r>
            <a:r>
              <a:rPr b="0" i="0" lang="it-IT" sz="1800" u="none" cap="none" strike="noStrike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LUNG_SEQ</a:t>
            </a: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];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 = 0;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 (i &lt; </a:t>
            </a:r>
            <a:r>
              <a:rPr b="0" i="0" lang="it-IT" sz="1800" u="none" cap="none" strike="noStrike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LUNG_SEQ</a:t>
            </a: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 {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printf("fornisci un valore intero");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scanf("%d", &amp;a[i]);   i++;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i--;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 (i &gt;= 0) {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printf("%d\n", a[i]);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i--;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 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grpSp>
        <p:nvGrpSpPr>
          <p:cNvPr id="198" name="Google Shape;198;p16"/>
          <p:cNvGrpSpPr/>
          <p:nvPr/>
        </p:nvGrpSpPr>
        <p:grpSpPr>
          <a:xfrm>
            <a:off x="3809094" y="1011997"/>
            <a:ext cx="4626959" cy="1557477"/>
            <a:chOff x="3809094" y="1011997"/>
            <a:chExt cx="4626959" cy="1557477"/>
          </a:xfrm>
        </p:grpSpPr>
        <p:sp>
          <p:nvSpPr>
            <p:cNvPr id="199" name="Google Shape;199;p16"/>
            <p:cNvSpPr txBox="1"/>
            <p:nvPr/>
          </p:nvSpPr>
          <p:spPr>
            <a:xfrm>
              <a:off x="5630028" y="1011997"/>
              <a:ext cx="2806025" cy="1200329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it-IT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Parametrizzazione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(maggiore astrazione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del codice)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16"/>
            <p:cNvCxnSpPr/>
            <p:nvPr/>
          </p:nvCxnSpPr>
          <p:spPr>
            <a:xfrm flipH="1">
              <a:off x="3809094" y="1565031"/>
              <a:ext cx="1820937" cy="41938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01" name="Google Shape;201;p16"/>
            <p:cNvCxnSpPr/>
            <p:nvPr/>
          </p:nvCxnSpPr>
          <p:spPr>
            <a:xfrm flipH="1">
              <a:off x="4387356" y="1802424"/>
              <a:ext cx="1242672" cy="76705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cxnSp>
          <p:nvCxnSpPr>
            <p:cNvPr id="202" name="Google Shape;202;p16"/>
            <p:cNvCxnSpPr/>
            <p:nvPr/>
          </p:nvCxnSpPr>
          <p:spPr>
            <a:xfrm flipH="1">
              <a:off x="4387361" y="1678745"/>
              <a:ext cx="1242668" cy="475370"/>
            </a:xfrm>
            <a:prstGeom prst="straightConnector1">
              <a:avLst/>
            </a:prstGeom>
            <a:noFill/>
            <a:ln cap="flat" cmpd="sng" w="25400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08" name="Google Shape;208;p17"/>
          <p:cNvSpPr txBox="1"/>
          <p:nvPr/>
        </p:nvSpPr>
        <p:spPr>
          <a:xfrm>
            <a:off x="388937" y="354956"/>
            <a:ext cx="8561631" cy="6186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#define LUNG_SEQ 100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accent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// Programma InvertiSequenza di lunghezza &lt;= a un valore dato </a:t>
            </a:r>
            <a:endParaRPr sz="1800">
              <a:solidFill>
                <a:schemeClr val="accent2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 lunghezza, i, a[LUNG_SEQ];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printf(“\n lunghezza sequenza: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scanf("%d", &amp;lunghezza);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if (lunghezza &lt;= LUNG_SEQ) {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 = 0;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while (i &lt; lunghezza) {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     printf("\n fornisci un valore intero  ");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     scanf("%d", &amp;a[i]);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     i++;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}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i--;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while (i &gt;= 0) {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     printf("%d\n", a[i]);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     i--;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}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09" name="Google Shape;209;p17"/>
          <p:cNvSpPr/>
          <p:nvPr/>
        </p:nvSpPr>
        <p:spPr>
          <a:xfrm>
            <a:off x="6022731" y="2303585"/>
            <a:ext cx="2567354" cy="694592"/>
          </a:xfrm>
          <a:prstGeom prst="wedgeRoundRectCallout">
            <a:avLst>
              <a:gd fmla="val -80517" name="adj1"/>
              <a:gd fmla="val -25443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Trattare anche il caso opposto</a:t>
            </a:r>
            <a:endParaRPr sz="20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618428" y="354159"/>
            <a:ext cx="8306183" cy="53245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Soluzione “a sentinella”: legge una sequenza di naturali, terminata da -1, e la stampa in sequenza invertita.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 ipotizza che la sequenza abbia lunghezza &lt;= 100.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195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a[LUNG_SEQ], i=0, </a:t>
            </a:r>
            <a:r>
              <a:rPr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temp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scanf ("%d", &amp;</a:t>
            </a:r>
            <a:r>
              <a:rPr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temp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</a:t>
            </a:r>
            <a:r>
              <a:rPr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temp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!= -1)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a[i] = </a:t>
            </a:r>
            <a:r>
              <a:rPr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temp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i++;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	/* oppure a[i++] = temp; */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scanf ("%d", &amp;</a:t>
            </a:r>
            <a:r>
              <a:rPr lang="it-IT" sz="20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temp</a:t>
            </a: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(i &gt; 0)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i--;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printf("%d\n", a[i]);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	/* oppure printf ("%d\n", a[--i]); */</a:t>
            </a:r>
            <a:endParaRPr sz="20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216" name="Google Shape;216;p18"/>
          <p:cNvSpPr txBox="1"/>
          <p:nvPr/>
        </p:nvSpPr>
        <p:spPr>
          <a:xfrm>
            <a:off x="968620" y="5709305"/>
            <a:ext cx="712072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N.B. Si è trascurato il dialogo di input output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2" name="Google Shape;222;p19"/>
          <p:cNvSpPr/>
          <p:nvPr/>
        </p:nvSpPr>
        <p:spPr>
          <a:xfrm>
            <a:off x="334108" y="384680"/>
            <a:ext cx="8616462" cy="535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soluzione precedente non evitava di superare il limite fisico del vettore.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 una semplice modifica riusciamo a non generare errori nel caso in cui l’utente immetta più di LUN_SEQ valori.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a[LUNG_SEQ], i=0, temp;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printf("Inserire una sequenza di interi terminata da -1\n");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scanf ("%d", &amp;temp);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(temp != -1 </a:t>
            </a:r>
            <a:r>
              <a:rPr b="0" i="0" lang="it-IT" sz="1800" u="none" cap="none" strike="noStrike">
                <a:solidFill>
                  <a:srgbClr val="001FEF"/>
                </a:solidFill>
                <a:latin typeface="Courier"/>
                <a:ea typeface="Courier"/>
                <a:cs typeface="Courier"/>
                <a:sym typeface="Courier"/>
              </a:rPr>
              <a:t>&amp;&amp; i &lt; LUNG_SEQ</a:t>
            </a: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 {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a[i] = temp;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i++;                        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scanf ("%d", &amp;temp);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 (temp != -1 &amp;&amp; i == LUNG_SEQ)</a:t>
            </a:r>
            <a:endParaRPr b="0" i="0" sz="1800" u="none" cap="none" strike="noStrike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printf("Raggiunto il limite di %d valori\n\n", LUN_SEQ); 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(i &gt; 0) {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i--;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printf("%d\n", a[i]);  </a:t>
            </a:r>
            <a:endParaRPr/>
          </a:p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it-IT" sz="1800" u="none" cap="none" strike="noStrike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28" name="Google Shape;228;p20"/>
          <p:cNvSpPr txBox="1"/>
          <p:nvPr>
            <p:ph idx="4294967295" type="body"/>
          </p:nvPr>
        </p:nvSpPr>
        <p:spPr>
          <a:xfrm>
            <a:off x="246184" y="771158"/>
            <a:ext cx="8440616" cy="50493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18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Output Strutturato: Stampa di un istogramma */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#include &lt;stdio.h&gt;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#define SIZE 10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int main () {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int n[SIZE] = { 19, 3, 15, 7, 11, 9, 13, 5, 17, 1 };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int i, j;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printf("%s%13s%17s\n\n","Element","Value","Histogram");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for </a:t>
            </a: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(i = 0; i &lt; SIZE; i++) {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printf("%7d%13d", i, n[i]);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it-IT" sz="18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for </a:t>
            </a: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(j = 1; j &lt;= n[i] ; j++)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una riga di '*' */					</a:t>
            </a: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printf("*");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printf("\n");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return 0;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Output del programma</a:t>
            </a:r>
            <a:endParaRPr/>
          </a:p>
        </p:txBody>
      </p:sp>
      <p:sp>
        <p:nvSpPr>
          <p:cNvPr id="234" name="Google Shape;23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35" name="Google Shape;235;p21"/>
          <p:cNvSpPr/>
          <p:nvPr/>
        </p:nvSpPr>
        <p:spPr>
          <a:xfrm>
            <a:off x="545001" y="1542072"/>
            <a:ext cx="8245475" cy="435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Element        Value        Histogram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0           19        *******************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1            3        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2           15        ***************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3            7        *******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4           11        ***********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5            9        *********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6           13        *************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7            5        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8           17        *****************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9            1       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Esercizio</a:t>
            </a:r>
            <a:endParaRPr/>
          </a:p>
        </p:txBody>
      </p:sp>
      <p:sp>
        <p:nvSpPr>
          <p:cNvPr id="241" name="Google Shape;241;p22"/>
          <p:cNvSpPr txBox="1"/>
          <p:nvPr>
            <p:ph idx="1" type="body"/>
          </p:nvPr>
        </p:nvSpPr>
        <p:spPr>
          <a:xfrm>
            <a:off x="457200" y="1600200"/>
            <a:ext cx="8229600" cy="7698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Modificare il programma per visualizzare istogrammi verticali</a:t>
            </a:r>
            <a:endParaRPr/>
          </a:p>
        </p:txBody>
      </p:sp>
      <p:sp>
        <p:nvSpPr>
          <p:cNvPr id="242" name="Google Shape;242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457200" y="2552651"/>
            <a:ext cx="8229600" cy="377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                 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                 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             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             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            *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            *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    *       *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    *       *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    *   *   *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    *   *   *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*   *   *   *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*   *   *   *    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*   *   *   *   *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    *   *   *   *   *   *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*   *   *   *   *   *   *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*   *   *   *   *   *   *   *</a:t>
            </a:r>
            <a:endParaRPr/>
          </a:p>
          <a:p>
            <a:pPr indent="0" lvl="0" marL="0" marR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*   *   *   *   *   *   *   *   *  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19   3  15   7  11   9  13   5  17   1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0   1   2   3   4   5   6   7   8   9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49" name="Google Shape;249;p23"/>
          <p:cNvSpPr txBox="1"/>
          <p:nvPr>
            <p:ph idx="4294967295" type="body"/>
          </p:nvPr>
        </p:nvSpPr>
        <p:spPr>
          <a:xfrm>
            <a:off x="457200" y="609840"/>
            <a:ext cx="8229600" cy="5805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ct val="1000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SOLUZIONE ESERCIZIO ISTOGRAMMI VERTICALI */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00000"/>
              <a:buFont typeface="Courier"/>
              <a:buNone/>
            </a:pPr>
            <a:r>
              <a:rPr lang="it-IT" sz="18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#define SIZE 10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int main () {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int n[SIZE] = { 19, 3, 15, 7, 11, 9, 13, 5, 17, 1 };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int i, j, max = n[0];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for </a:t>
            </a: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(i = 1; i &lt; SIZE ; i++)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Calcola max di n[] */</a:t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    	if (max &lt; n[i]) max = n[i];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800">
                <a:solidFill>
                  <a:schemeClr val="accent2"/>
                </a:solidFill>
                <a:latin typeface="Courier"/>
                <a:ea typeface="Courier"/>
                <a:cs typeface="Courier"/>
                <a:sym typeface="Courier"/>
              </a:rPr>
              <a:t>for </a:t>
            </a: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(j = max ; j &gt; 0 ; j--) {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    	</a:t>
            </a:r>
            <a:r>
              <a:rPr lang="it-IT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for </a:t>
            </a: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(i = 0; i &lt; SIZE ; i++)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      		if (n[i] &gt;= j)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		printf("  *  ");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      		else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			printf("     ");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    		printf("\n");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  	}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for </a:t>
            </a: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(i = 0; i &lt; SIZE ; i++) printf("%3d  ", n[i]);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printf("\n");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8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for </a:t>
            </a: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(i = 0; i &lt; SIZE ; i++) printf("%3d  ", i);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printf("\n");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	return 0;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Ricerca di un elemento in un array</a:t>
            </a:r>
            <a:br>
              <a:rPr lang="it-IT"/>
            </a:br>
            <a:r>
              <a:rPr lang="it-IT"/>
              <a:t>(con uso del costrutto break)</a:t>
            </a:r>
            <a:endParaRPr/>
          </a:p>
        </p:txBody>
      </p:sp>
      <p:sp>
        <p:nvSpPr>
          <p:cNvPr id="255" name="Google Shape;25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290512" y="2138900"/>
            <a:ext cx="8562975" cy="3465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rgbClr val="339933"/>
                </a:solidFill>
                <a:latin typeface="Courier"/>
                <a:ea typeface="Courier"/>
                <a:cs typeface="Courier"/>
                <a:sym typeface="Courier"/>
              </a:rPr>
              <a:t>/* Frammento di programma che verifica la presenza di un valore (dato) in un array. Se è presente, stampa l'indice della prima occorrenza; se no stampa -1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3399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n, dato, risultato = -1, array[SIZE];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… </a:t>
            </a:r>
            <a:r>
              <a:rPr lang="it-IT" sz="1600">
                <a:solidFill>
                  <a:srgbClr val="339933"/>
                </a:solidFill>
                <a:latin typeface="Courier"/>
                <a:ea typeface="Courier"/>
                <a:cs typeface="Courier"/>
                <a:sym typeface="Courier"/>
              </a:rPr>
              <a:t>/* acquisizione valori array */</a:t>
            </a:r>
            <a:endParaRPr sz="1600">
              <a:solidFill>
                <a:srgbClr val="3399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printf("Valore da cercare? :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scanf("%d", &amp;dato);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for (n=0; n &lt;= SIZE-1; n++)</a:t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if (array[n] == dato)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risultato = n;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break;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printf("Il valore cercato si trova in posizione %d\n", risultato);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5890846" y="3022670"/>
            <a:ext cx="2795954" cy="861774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Ricerca sequenziale ...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Biblioteca ...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 txBox="1"/>
          <p:nvPr/>
        </p:nvSpPr>
        <p:spPr>
          <a:xfrm>
            <a:off x="948375" y="5837237"/>
            <a:ext cx="743267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ne scriva una versione (più elegante…) che non usi il break, ma una condizione di uscita dal ciclo “più raffinata”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Ricerca binaria su array (con break)</a:t>
            </a:r>
            <a:endParaRPr/>
          </a:p>
        </p:txBody>
      </p:sp>
      <p:sp>
        <p:nvSpPr>
          <p:cNvPr id="264" name="Google Shape;2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457200" y="1835661"/>
            <a:ext cx="8106508" cy="3711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dato, risultato=-1, array[SIZE], low=0, high=SIZE-1, mid;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… </a:t>
            </a:r>
            <a:r>
              <a:rPr lang="it-IT" sz="1600">
                <a:solidFill>
                  <a:srgbClr val="339933"/>
                </a:solidFill>
                <a:latin typeface="Courier"/>
                <a:ea typeface="Courier"/>
                <a:cs typeface="Courier"/>
                <a:sym typeface="Courier"/>
              </a:rPr>
              <a:t>/* acquisizione valori array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printf("Valore da cercare? : 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scanf("%d", &amp;dato);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(low &lt;= high)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mid = (low + high) / 2;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if (dato == array[mid])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      risultato = mid;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      break;</a:t>
            </a:r>
            <a:endParaRPr/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 else if (dato &lt; array[mid])</a:t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      high = mid - 1;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 else { </a:t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      low = mid + 1;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16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6667593" y="3977786"/>
            <a:ext cx="1772601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800">
                <a:solidFill>
                  <a:srgbClr val="001FEF"/>
                </a:solidFill>
                <a:latin typeface="Calibri"/>
                <a:ea typeface="Calibri"/>
                <a:cs typeface="Calibri"/>
                <a:sym typeface="Calibri"/>
              </a:rPr>
              <a:t>Termina?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800">
                <a:solidFill>
                  <a:srgbClr val="001FEF"/>
                </a:solidFill>
                <a:latin typeface="Calibri"/>
                <a:ea typeface="Calibri"/>
                <a:cs typeface="Calibri"/>
                <a:sym typeface="Calibri"/>
              </a:rPr>
              <a:t>Perché?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800">
                <a:solidFill>
                  <a:srgbClr val="001FEF"/>
                </a:solidFill>
                <a:latin typeface="Calibri"/>
                <a:ea typeface="Calibri"/>
                <a:cs typeface="Calibri"/>
                <a:sym typeface="Calibri"/>
              </a:rPr>
              <a:t>È corretto?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Array a più dimensioni</a:t>
            </a:r>
            <a:endParaRPr/>
          </a:p>
        </p:txBody>
      </p:sp>
      <p:sp>
        <p:nvSpPr>
          <p:cNvPr id="272" name="Google Shape;272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Gli array a 1D realizzano i vettori, quelli a 2D realizzano le matrici, … e così via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Dichiarazione: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int A[20][30]; 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A è una matrice di 20 × 30 elementi interi (600 variabili distinte)</a:t>
            </a:r>
            <a:endParaRPr/>
          </a:p>
          <a:p>
            <a:pPr indent="-110489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</a:t>
            </a: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float F[20][20][30];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F è una matrice 3D di 20×20×30 variabili di tipo float (12.000!)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Oppure a quattro dimensioni, ecc …</a:t>
            </a:r>
            <a:endParaRPr/>
          </a:p>
        </p:txBody>
      </p:sp>
      <p:sp>
        <p:nvSpPr>
          <p:cNvPr id="273" name="Google Shape;2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Excursus Matematico – Le Matrici</a:t>
            </a:r>
            <a:endParaRPr/>
          </a:p>
        </p:txBody>
      </p:sp>
      <p:sp>
        <p:nvSpPr>
          <p:cNvPr id="279" name="Google Shape;279;p27"/>
          <p:cNvSpPr txBox="1"/>
          <p:nvPr>
            <p:ph idx="1" type="body"/>
          </p:nvPr>
        </p:nvSpPr>
        <p:spPr>
          <a:xfrm>
            <a:off x="457200" y="1600200"/>
            <a:ext cx="6031523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 matematica, una matrice è uno schieramento rettangolare di oggetti (di solito numeri), organizzati in righe (orizzontali) e colonne (verticali)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 generale, una matrice ha m righe e n colonne, con m e n interi positivi fissati</a:t>
            </a:r>
            <a:endParaRPr/>
          </a:p>
          <a:p>
            <a:pPr indent="-174625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Spesso una matrice è descritta indicando con a</a:t>
            </a:r>
            <a:r>
              <a:rPr baseline="-25000" lang="it-IT"/>
              <a:t>ij</a:t>
            </a:r>
            <a:r>
              <a:rPr lang="it-IT"/>
              <a:t> il generico elemento posizionato alla riga i-esima e alla colonna j-esima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 vettori si possono considerare matrici                                                con una sola riga o una sola colonna                        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Vettore riga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Vettore colonna</a:t>
            </a:r>
            <a:endParaRPr/>
          </a:p>
        </p:txBody>
      </p:sp>
      <p:sp>
        <p:nvSpPr>
          <p:cNvPr id="280" name="Google Shape;28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81" name="Google Shape;28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1783" y="4404945"/>
            <a:ext cx="3662071" cy="1327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Excursus Matematico – Le Matrici</a:t>
            </a:r>
            <a:endParaRPr/>
          </a:p>
        </p:txBody>
      </p:sp>
      <p:sp>
        <p:nvSpPr>
          <p:cNvPr id="287" name="Google Shape;287;p28"/>
          <p:cNvSpPr txBox="1"/>
          <p:nvPr>
            <p:ph idx="1" type="body"/>
          </p:nvPr>
        </p:nvSpPr>
        <p:spPr>
          <a:xfrm>
            <a:off x="457200" y="1600200"/>
            <a:ext cx="599635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la matrice si chiama A, l'elemento a</a:t>
            </a:r>
            <a:r>
              <a:rPr baseline="-25000" lang="it-IT"/>
              <a:t>i,j</a:t>
            </a:r>
            <a:r>
              <a:rPr lang="it-IT"/>
              <a:t> può essere indicato anche come A[i,j] o (A)</a:t>
            </a:r>
            <a:r>
              <a:rPr baseline="-25000" lang="it-IT"/>
              <a:t>i,j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notazione A = (a</a:t>
            </a:r>
            <a:r>
              <a:rPr baseline="-25000" lang="it-IT"/>
              <a:t>i,j</a:t>
            </a:r>
            <a:r>
              <a:rPr lang="it-IT"/>
              <a:t>) indica sinteticamente che A è una matrice e che i suoi elementi sono denotati con a</a:t>
            </a:r>
            <a:r>
              <a:rPr baseline="-25000" lang="it-IT"/>
              <a:t>i,j</a:t>
            </a:r>
            <a:endParaRPr baseline="-25000"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Gli elementi con i due indici di riga e di colonna uguali, cioè gli elementi della forma a</a:t>
            </a:r>
            <a:r>
              <a:rPr baseline="-25000" lang="it-IT"/>
              <a:t>ii</a:t>
            </a:r>
            <a:r>
              <a:rPr lang="it-IT"/>
              <a:t> costituiscono la diagonale principale della matrice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88" name="Google Shape;28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pic>
        <p:nvPicPr>
          <p:cNvPr id="289" name="Google Shape;28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3554" y="1686719"/>
            <a:ext cx="2557463" cy="146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Excursus Matematico – Le Matrici</a:t>
            </a:r>
            <a:endParaRPr/>
          </a:p>
        </p:txBody>
      </p:sp>
      <p:sp>
        <p:nvSpPr>
          <p:cNvPr id="295" name="Google Shape;295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1FEF"/>
              </a:buClr>
              <a:buSzPct val="100000"/>
              <a:buNone/>
            </a:pPr>
            <a:r>
              <a:rPr i="1" lang="it-IT">
                <a:solidFill>
                  <a:srgbClr val="001FEF"/>
                </a:solidFill>
              </a:rPr>
              <a:t>Somma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Due matrici A e B si possono sommare se hanno le stesse dimensioni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La loro somma A + B è definita come la matrice i cui elementi sono ottenuti sommando i corrispettivi elementi di A e B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Formalmente (A + B)</a:t>
            </a:r>
            <a:r>
              <a:rPr baseline="-25000" lang="it-IT"/>
              <a:t>i,j </a:t>
            </a:r>
            <a:r>
              <a:rPr lang="it-IT"/>
              <a:t>:= (A)</a:t>
            </a:r>
            <a:r>
              <a:rPr baseline="-25000" lang="it-IT"/>
              <a:t>i,j</a:t>
            </a:r>
            <a:r>
              <a:rPr lang="it-IT"/>
              <a:t> + (B)</a:t>
            </a:r>
            <a:r>
              <a:rPr baseline="-25000" lang="it-IT"/>
              <a:t>i,j</a:t>
            </a:r>
            <a:r>
              <a:rPr lang="it-IT"/>
              <a:t>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u="sng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001FEF"/>
              </a:buClr>
              <a:buSzPct val="100000"/>
              <a:buNone/>
            </a:pPr>
            <a:r>
              <a:rPr i="1" lang="it-IT">
                <a:solidFill>
                  <a:srgbClr val="001FEF"/>
                </a:solidFill>
              </a:rPr>
              <a:t>Moltiplicazione per uno scalare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Data una matrice A ed un numero c (detto scalare), costruisce una nuova matrice cA, il cui ogni elemento è ottenuto moltiplicando l'elemento corrispondente di A per c</a:t>
            </a:r>
            <a:endParaRPr/>
          </a:p>
          <a:p>
            <a:pPr indent="-285750" lvl="1" marL="742950" rtl="0" algn="l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(cA)</a:t>
            </a:r>
            <a:r>
              <a:rPr baseline="-25000" lang="it-IT"/>
              <a:t>ij</a:t>
            </a:r>
            <a:r>
              <a:rPr lang="it-IT"/>
              <a:t> := c(A)</a:t>
            </a:r>
            <a:r>
              <a:rPr baseline="-25000" lang="it-IT"/>
              <a:t>i,j</a:t>
            </a:r>
            <a:endParaRPr baseline="-25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296" name="Google Shape;2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2756" y="3329385"/>
            <a:ext cx="5678488" cy="78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36712" y="5842795"/>
            <a:ext cx="5870575" cy="566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Excursus Matematico – Le Matrici</a:t>
            </a:r>
            <a:endParaRPr/>
          </a:p>
        </p:txBody>
      </p:sp>
      <p:sp>
        <p:nvSpPr>
          <p:cNvPr id="303" name="Google Shape;30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1FEF"/>
              </a:buClr>
              <a:buSzPct val="100000"/>
              <a:buNone/>
            </a:pPr>
            <a:r>
              <a:rPr i="1" lang="it-IT">
                <a:solidFill>
                  <a:srgbClr val="001FEF"/>
                </a:solidFill>
              </a:rPr>
              <a:t>Prodotto riga per colonna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La moltiplicazione è definita soltanto se il numero di righe di B coincide con il numero n di colonne di A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risultato è una matrice con lo stesso numero di righe di A e lo stesso numero di colonne di B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L’elemento (AB)</a:t>
            </a:r>
            <a:r>
              <a:rPr baseline="-25000" lang="it-IT"/>
              <a:t>i,j</a:t>
            </a:r>
            <a:r>
              <a:rPr lang="it-IT"/>
              <a:t> è dato dalla somma dei prodotti degli elementi dell’i-esima riga di A e della j-esima colonna di B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(AB)</a:t>
            </a:r>
            <a:r>
              <a:rPr baseline="-25000" lang="it-IT"/>
              <a:t>i,j</a:t>
            </a:r>
            <a:r>
              <a:rPr lang="it-IT"/>
              <a:t> = a</a:t>
            </a:r>
            <a:r>
              <a:rPr baseline="-25000" lang="it-IT"/>
              <a:t>i,1</a:t>
            </a:r>
            <a:r>
              <a:rPr lang="it-IT"/>
              <a:t>b</a:t>
            </a:r>
            <a:r>
              <a:rPr baseline="-25000" lang="it-IT"/>
              <a:t>1,j</a:t>
            </a:r>
            <a:r>
              <a:rPr lang="it-IT"/>
              <a:t> + a</a:t>
            </a:r>
            <a:r>
              <a:rPr baseline="-25000" lang="it-IT"/>
              <a:t>i,2</a:t>
            </a:r>
            <a:r>
              <a:rPr lang="it-IT"/>
              <a:t>b</a:t>
            </a:r>
            <a:r>
              <a:rPr baseline="-25000" lang="it-IT"/>
              <a:t>2,j </a:t>
            </a:r>
            <a:r>
              <a:rPr lang="it-IT"/>
              <a:t>+  . . .  + a</a:t>
            </a:r>
            <a:r>
              <a:rPr baseline="-25000" lang="it-IT"/>
              <a:t>i,n</a:t>
            </a:r>
            <a:r>
              <a:rPr lang="it-IT"/>
              <a:t>b</a:t>
            </a:r>
            <a:r>
              <a:rPr baseline="-25000" lang="it-IT"/>
              <a:t>n,j</a:t>
            </a:r>
            <a:endParaRPr baseline="-25000"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Motivazione: una matrice modellizza una applicazione lineare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prodotto di matrici corrisponde alla composizione di applicazioni lineari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Excursus Matematico – Le Matrici</a:t>
            </a:r>
            <a:endParaRPr/>
          </a:p>
        </p:txBody>
      </p:sp>
      <p:pic>
        <p:nvPicPr>
          <p:cNvPr id="309" name="Google Shape;30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2403" y="1535723"/>
            <a:ext cx="5803890" cy="4560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Excursus Matematico – Le Matrici</a:t>
            </a:r>
            <a:endParaRPr/>
          </a:p>
        </p:txBody>
      </p:sp>
      <p:sp>
        <p:nvSpPr>
          <p:cNvPr id="315" name="Google Shape;315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1FEF"/>
              </a:buClr>
              <a:buSzPts val="2200"/>
              <a:buFont typeface="Calibri"/>
              <a:buNone/>
            </a:pPr>
            <a:r>
              <a:rPr i="1" lang="it-IT" sz="2200">
                <a:solidFill>
                  <a:srgbClr val="001FEF"/>
                </a:solidFill>
              </a:rPr>
              <a:t>Matrici quadrate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it-IT" sz="2200"/>
              <a:t>Una matrice si dice quadrata se ha lo stesso numero di righe e di colonne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it-IT" sz="2200"/>
              <a:t>Una matrice quadrata ha una diagonale principale, quella formata da tutti gli elementi </a:t>
            </a:r>
            <a:r>
              <a:rPr i="1" lang="it-IT" sz="2200"/>
              <a:t>a</a:t>
            </a:r>
            <a:r>
              <a:rPr baseline="-25000" i="1" lang="it-IT" sz="2200"/>
              <a:t>i</a:t>
            </a:r>
            <a:r>
              <a:rPr baseline="-25000" lang="it-IT" sz="2200"/>
              <a:t>,</a:t>
            </a:r>
            <a:r>
              <a:rPr baseline="-25000" i="1" lang="it-IT" sz="2200"/>
              <a:t>i</a:t>
            </a:r>
            <a:r>
              <a:rPr lang="it-IT" sz="2200"/>
              <a:t> con indici uguali. La somma di questi elementi è chiamata traccia. L'operazione di </a:t>
            </a:r>
            <a:r>
              <a:rPr i="1" lang="it-IT" sz="2200">
                <a:solidFill>
                  <a:srgbClr val="001FEF"/>
                </a:solidFill>
              </a:rPr>
              <a:t>trasposizione</a:t>
            </a:r>
            <a:r>
              <a:rPr lang="it-IT" sz="2200">
                <a:solidFill>
                  <a:srgbClr val="001FEF"/>
                </a:solidFill>
              </a:rPr>
              <a:t> </a:t>
            </a:r>
            <a:r>
              <a:rPr lang="it-IT" sz="2200"/>
              <a:t>trasforma una matrice quadrata </a:t>
            </a:r>
            <a:r>
              <a:rPr i="1" lang="it-IT" sz="2200"/>
              <a:t>A</a:t>
            </a:r>
            <a:r>
              <a:rPr lang="it-IT" sz="2200"/>
              <a:t> nella matrice </a:t>
            </a:r>
            <a:r>
              <a:rPr i="1" lang="it-IT" sz="2200"/>
              <a:t>A</a:t>
            </a:r>
            <a:r>
              <a:rPr baseline="30000" i="1" lang="it-IT" sz="2200"/>
              <a:t>t</a:t>
            </a:r>
            <a:r>
              <a:rPr lang="it-IT" sz="2200"/>
              <a:t> ottenuta scambiando ogni </a:t>
            </a:r>
            <a:r>
              <a:rPr i="1" lang="it-IT" sz="2200"/>
              <a:t>a</a:t>
            </a:r>
            <a:r>
              <a:rPr baseline="-25000" i="1" lang="it-IT" sz="2200"/>
              <a:t>i</a:t>
            </a:r>
            <a:r>
              <a:rPr baseline="-25000" lang="it-IT" sz="2200"/>
              <a:t>,</a:t>
            </a:r>
            <a:r>
              <a:rPr baseline="-25000" i="1" lang="it-IT" sz="2200"/>
              <a:t>j</a:t>
            </a:r>
            <a:r>
              <a:rPr lang="it-IT" sz="2200"/>
              <a:t> con </a:t>
            </a:r>
            <a:r>
              <a:rPr i="1" lang="it-IT" sz="2200"/>
              <a:t>a</a:t>
            </a:r>
            <a:r>
              <a:rPr baseline="-25000" i="1" lang="it-IT" sz="2200"/>
              <a:t>j</a:t>
            </a:r>
            <a:r>
              <a:rPr baseline="-25000" lang="it-IT" sz="2200"/>
              <a:t>,</a:t>
            </a:r>
            <a:r>
              <a:rPr baseline="-25000" i="1" lang="it-IT" sz="2200"/>
              <a:t>i</a:t>
            </a:r>
            <a:r>
              <a:rPr lang="it-IT" sz="2200"/>
              <a:t>, in altre parole ribaltando la matrice intorno alla sua diagonale principale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it-IT" sz="2200"/>
              <a:t>Una matrice in cui </a:t>
            </a:r>
            <a:r>
              <a:rPr i="1" lang="it-IT" sz="2200"/>
              <a:t>a</a:t>
            </a:r>
            <a:r>
              <a:rPr baseline="-25000" i="1" lang="it-IT" sz="2200"/>
              <a:t>i</a:t>
            </a:r>
            <a:r>
              <a:rPr baseline="-25000" lang="it-IT" sz="2200"/>
              <a:t>,</a:t>
            </a:r>
            <a:r>
              <a:rPr baseline="-25000" i="1" lang="it-IT" sz="2200"/>
              <a:t>j</a:t>
            </a:r>
            <a:r>
              <a:rPr lang="it-IT" sz="2200"/>
              <a:t> = </a:t>
            </a:r>
            <a:r>
              <a:rPr i="1" lang="it-IT" sz="2200"/>
              <a:t>a</a:t>
            </a:r>
            <a:r>
              <a:rPr baseline="-25000" i="1" lang="it-IT" sz="2200"/>
              <a:t>j</a:t>
            </a:r>
            <a:r>
              <a:rPr baseline="-25000" lang="it-IT" sz="2200"/>
              <a:t>,</a:t>
            </a:r>
            <a:r>
              <a:rPr baseline="-25000" i="1" lang="it-IT" sz="2200"/>
              <a:t>i</a:t>
            </a:r>
            <a:r>
              <a:rPr lang="it-IT" sz="2200"/>
              <a:t> è una matrice </a:t>
            </a:r>
            <a:r>
              <a:rPr i="1" lang="it-IT" sz="2200">
                <a:solidFill>
                  <a:srgbClr val="001FEF"/>
                </a:solidFill>
              </a:rPr>
              <a:t>simmetrica</a:t>
            </a:r>
            <a:r>
              <a:rPr lang="it-IT" sz="2200"/>
              <a:t>. In altre parole, </a:t>
            </a:r>
            <a:r>
              <a:rPr i="1" lang="it-IT" sz="2200"/>
              <a:t>A</a:t>
            </a:r>
            <a:r>
              <a:rPr lang="it-IT" sz="2200"/>
              <a:t> è simmetrica se </a:t>
            </a:r>
            <a:r>
              <a:rPr i="1" lang="it-IT" sz="2200"/>
              <a:t>A</a:t>
            </a:r>
            <a:r>
              <a:rPr lang="it-IT" sz="2200"/>
              <a:t> = </a:t>
            </a:r>
            <a:r>
              <a:rPr i="1" lang="it-IT" sz="2200"/>
              <a:t>A</a:t>
            </a:r>
            <a:r>
              <a:rPr baseline="30000" i="1" lang="it-IT" sz="2200"/>
              <a:t>t</a:t>
            </a:r>
            <a:r>
              <a:rPr lang="it-IT" sz="2200"/>
              <a:t>. Se tutti gli elementi che non sono nella diagonale principale sono nulli, la matrice è detta </a:t>
            </a:r>
            <a:r>
              <a:rPr i="1" lang="it-IT" sz="2200">
                <a:solidFill>
                  <a:srgbClr val="001FEF"/>
                </a:solidFill>
              </a:rPr>
              <a:t>diagonale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21" name="Google Shape;321;p33"/>
          <p:cNvSpPr txBox="1"/>
          <p:nvPr/>
        </p:nvSpPr>
        <p:spPr>
          <a:xfrm>
            <a:off x="169739" y="1180616"/>
            <a:ext cx="8842375" cy="4601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Frammento di programma per verificare se una matrice è simmetrica */</a:t>
            </a:r>
            <a:endParaRPr sz="18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MatQuadra[N] [N], j, i=0;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sim = 1;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sim inizialmente vale 1 */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... inserimento dati nella matrice ... codice omesso ... */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 i &lt; N ) 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j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 (j &lt; N) {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Alla fine sim varrà 0 se e solo se non è simmetrica*/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if (MatQuadra[i][j]  !=  MatQuadra[j][i])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	sim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		</a:t>
            </a: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++j;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++i;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22" name="Google Shape;322;p33"/>
          <p:cNvSpPr txBox="1"/>
          <p:nvPr/>
        </p:nvSpPr>
        <p:spPr>
          <a:xfrm>
            <a:off x="5552894" y="4859914"/>
            <a:ext cx="2806538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800">
                <a:solidFill>
                  <a:srgbClr val="001FEF"/>
                </a:solidFill>
                <a:latin typeface="Calibri"/>
                <a:ea typeface="Calibri"/>
                <a:cs typeface="Calibri"/>
                <a:sym typeface="Calibri"/>
              </a:rPr>
              <a:t>È corretto?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2800">
                <a:solidFill>
                  <a:srgbClr val="001FEF"/>
                </a:solidFill>
                <a:latin typeface="Calibri"/>
                <a:ea typeface="Calibri"/>
                <a:cs typeface="Calibri"/>
                <a:sym typeface="Calibri"/>
              </a:rPr>
              <a:t>Si può migliorare?</a:t>
            </a:r>
            <a:endParaRPr i="1" sz="2800">
              <a:solidFill>
                <a:srgbClr val="001FE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È corretto, ma…</a:t>
            </a:r>
            <a:endParaRPr/>
          </a:p>
        </p:txBody>
      </p:sp>
      <p:sp>
        <p:nvSpPr>
          <p:cNvPr id="328" name="Google Shape;328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Confronta MatQuadra[i][j] con MatQuadra[j][i] e, poi, anche MatQuadra[j][i] con MatQuadra[i][j]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Confronta MatQuadra[i][i] con se stesso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trova una dissimmetria, continua con la verifica, ma è inutile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Esercizio: se ne scriva una versione “ottimizzata” che risolva i tre problemi</a:t>
            </a:r>
            <a:endParaRPr/>
          </a:p>
        </p:txBody>
      </p:sp>
      <p:sp>
        <p:nvSpPr>
          <p:cNvPr id="329" name="Google Shape;32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5"/>
          <p:cNvSpPr txBox="1"/>
          <p:nvPr/>
        </p:nvSpPr>
        <p:spPr>
          <a:xfrm>
            <a:off x="116986" y="1224578"/>
            <a:ext cx="8859960" cy="4601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Frammento di programma per verificare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   se una matrice è simmetrica */</a:t>
            </a:r>
            <a:endParaRPr sz="18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3CC33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MatQuadra[N] [N], j, i=0;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sim = 1;          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sim inizialmente vale 1 */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... inserimento dati nella matrice ... codice omesso ... */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(i &lt; N </a:t>
            </a:r>
            <a:r>
              <a:rPr i="1" lang="it-IT" sz="1800">
                <a:solidFill>
                  <a:srgbClr val="001FEF"/>
                </a:solidFill>
                <a:latin typeface="Courier"/>
                <a:ea typeface="Courier"/>
                <a:cs typeface="Courier"/>
                <a:sym typeface="Courier"/>
              </a:rPr>
              <a:t>&amp;&amp; sim</a:t>
            </a: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 {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j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 (j &lt; N </a:t>
            </a:r>
            <a:r>
              <a:rPr i="1" lang="it-IT" sz="1800">
                <a:solidFill>
                  <a:srgbClr val="001FEF"/>
                </a:solidFill>
                <a:latin typeface="Courier"/>
                <a:ea typeface="Courier"/>
                <a:cs typeface="Courier"/>
                <a:sym typeface="Courier"/>
              </a:rPr>
              <a:t>&amp;&amp; sim</a:t>
            </a: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		/* Alla fine sim varrà 0 se e solo se non è simmetrica */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if (MatQuadra[i][j] != MatQuadra[j][i])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	sim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++j;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++i;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 </a:t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35" name="Google Shape;335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Somma di matrici</a:t>
            </a:r>
            <a:endParaRPr/>
          </a:p>
        </p:txBody>
      </p:sp>
      <p:sp>
        <p:nvSpPr>
          <p:cNvPr id="343" name="Google Shape;343;p36"/>
          <p:cNvSpPr txBox="1"/>
          <p:nvPr>
            <p:ph idx="4294967295" type="body"/>
          </p:nvPr>
        </p:nvSpPr>
        <p:spPr>
          <a:xfrm>
            <a:off x="457200" y="1556239"/>
            <a:ext cx="5723792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#define N 3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#define M 4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int main() {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int a[N][M], b[N][M], c[N][M], i, j;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for (i=0; i&lt;N; i++)  </a:t>
            </a:r>
            <a:r>
              <a:rPr lang="it-IT" sz="160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"/>
              </a:rPr>
              <a:t>// Leggo mat. 1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for (j=0; j&lt;M; j++)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scanf("%d", &amp;a[i][j]);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800">
                <a:latin typeface="Courier"/>
                <a:ea typeface="Courier"/>
                <a:cs typeface="Courier"/>
                <a:sym typeface="Courier"/>
              </a:rPr>
              <a:t>	</a:t>
            </a:r>
            <a:endParaRPr sz="8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800"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for(i=0; i&lt;N; i++)   </a:t>
            </a:r>
            <a:r>
              <a:rPr lang="it-IT" sz="160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"/>
              </a:rPr>
              <a:t>// Leggo mat. 2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for (j=0; j&lt;M; j++)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scanf("%d", &amp;b[i][j]); 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</a:t>
            </a:r>
            <a:r>
              <a:rPr lang="it-IT" sz="160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"/>
              </a:rPr>
              <a:t>// Calcolo e stampo la somma</a:t>
            </a:r>
            <a:endParaRPr sz="1600">
              <a:solidFill>
                <a:srgbClr val="00B05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for( i=0; i&lt;N; i++ ) { </a:t>
            </a:r>
            <a:r>
              <a:rPr lang="it-IT" sz="1600">
                <a:solidFill>
                  <a:srgbClr val="00B050"/>
                </a:solidFill>
                <a:latin typeface="Courier"/>
                <a:ea typeface="Courier"/>
                <a:cs typeface="Courier"/>
                <a:sym typeface="Courier"/>
              </a:rPr>
              <a:t>// Calcolo somma</a:t>
            </a:r>
            <a:endParaRPr sz="1600">
              <a:solidFill>
                <a:srgbClr val="00B05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for (j=0; j&lt;M; j++) {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c[i][j]=a[i][j]+b[i][j];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printf("%d ", c[i][j]);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}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  	printf("\n");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return 0;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0000"/>
              <a:buFont typeface="Courier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600"/>
          </a:p>
        </p:txBody>
      </p:sp>
      <p:graphicFrame>
        <p:nvGraphicFramePr>
          <p:cNvPr id="344" name="Google Shape;344;p36"/>
          <p:cNvGraphicFramePr/>
          <p:nvPr/>
        </p:nvGraphicFramePr>
        <p:xfrm>
          <a:off x="6424531" y="1939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{F235A85D-C087-4EA1-A920-E6F4FF3075BD}</a:tableStyleId>
              </a:tblPr>
              <a:tblGrid>
                <a:gridCol w="401250"/>
                <a:gridCol w="401250"/>
                <a:gridCol w="401250"/>
                <a:gridCol w="401250"/>
                <a:gridCol w="399975"/>
              </a:tblGrid>
              <a:tr h="30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5" name="Google Shape;345;p36"/>
          <p:cNvSpPr txBox="1"/>
          <p:nvPr/>
        </p:nvSpPr>
        <p:spPr>
          <a:xfrm>
            <a:off x="7486664" y="3217569"/>
            <a:ext cx="30489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6"/>
          <p:cNvSpPr txBox="1"/>
          <p:nvPr/>
        </p:nvSpPr>
        <p:spPr>
          <a:xfrm>
            <a:off x="6093016" y="1395743"/>
            <a:ext cx="281359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c[i][j] = a[i][j] + b[i][j]</a:t>
            </a:r>
            <a:endParaRPr/>
          </a:p>
        </p:txBody>
      </p:sp>
      <p:graphicFrame>
        <p:nvGraphicFramePr>
          <p:cNvPr id="347" name="Google Shape;347;p36"/>
          <p:cNvGraphicFramePr/>
          <p:nvPr/>
        </p:nvGraphicFramePr>
        <p:xfrm>
          <a:off x="6424531" y="35144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{F235A85D-C087-4EA1-A920-E6F4FF3075BD}</a:tableStyleId>
              </a:tblPr>
              <a:tblGrid>
                <a:gridCol w="401250"/>
                <a:gridCol w="401250"/>
                <a:gridCol w="401250"/>
                <a:gridCol w="401250"/>
                <a:gridCol w="399975"/>
              </a:tblGrid>
              <a:tr h="30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7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8" name="Google Shape;348;p36"/>
          <p:cNvSpPr txBox="1"/>
          <p:nvPr/>
        </p:nvSpPr>
        <p:spPr>
          <a:xfrm>
            <a:off x="7486664" y="4776683"/>
            <a:ext cx="30489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9" name="Google Shape;349;p36"/>
          <p:cNvGraphicFramePr/>
          <p:nvPr/>
        </p:nvGraphicFramePr>
        <p:xfrm>
          <a:off x="6424531" y="5115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{F235A85D-C087-4EA1-A920-E6F4FF3075BD}</a:tableStyleId>
              </a:tblPr>
              <a:tblGrid>
                <a:gridCol w="401250"/>
                <a:gridCol w="401250"/>
                <a:gridCol w="401250"/>
                <a:gridCol w="401250"/>
                <a:gridCol w="399975"/>
              </a:tblGrid>
              <a:tr h="30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Prodotto di matrici</a:t>
            </a:r>
            <a:endParaRPr/>
          </a:p>
        </p:txBody>
      </p:sp>
      <p:sp>
        <p:nvSpPr>
          <p:cNvPr id="357" name="Google Shape;357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358" name="Google Shape;358;p37"/>
          <p:cNvSpPr txBox="1"/>
          <p:nvPr>
            <p:ph idx="4294967295" type="body"/>
          </p:nvPr>
        </p:nvSpPr>
        <p:spPr>
          <a:xfrm>
            <a:off x="220142" y="3366556"/>
            <a:ext cx="6632600" cy="3341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#define N 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#define M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#define L 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…</a:t>
            </a:r>
            <a:endParaRPr sz="16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for (i=0; i&lt;N; i++)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for (j=0; j&lt;L; j++)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c[i][j] = 0;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for (k=0; k&lt;M; k++)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	c[i][j] = c[i][j]+(a[i][k]*b[k][j]);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	printf("%d ", c[i][j]);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	printf("\n");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None/>
            </a:pPr>
            <a:r>
              <a:rPr lang="it-IT" sz="1600"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graphicFrame>
        <p:nvGraphicFramePr>
          <p:cNvPr id="359" name="Google Shape;359;p37"/>
          <p:cNvGraphicFramePr/>
          <p:nvPr/>
        </p:nvGraphicFramePr>
        <p:xfrm>
          <a:off x="401931" y="159464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{F235A85D-C087-4EA1-A920-E6F4FF3075BD}</a:tableStyleId>
              </a:tblPr>
              <a:tblGrid>
                <a:gridCol w="401250"/>
                <a:gridCol w="401250"/>
                <a:gridCol w="401250"/>
                <a:gridCol w="401250"/>
                <a:gridCol w="399975"/>
              </a:tblGrid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4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0" name="Google Shape;360;p37"/>
          <p:cNvGraphicFramePr/>
          <p:nvPr/>
        </p:nvGraphicFramePr>
        <p:xfrm>
          <a:off x="2864399" y="144002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{F235A85D-C087-4EA1-A920-E6F4FF3075BD}</a:tableStyleId>
              </a:tblPr>
              <a:tblGrid>
                <a:gridCol w="398850"/>
                <a:gridCol w="398850"/>
                <a:gridCol w="398850"/>
                <a:gridCol w="398850"/>
                <a:gridCol w="398850"/>
                <a:gridCol w="398850"/>
              </a:tblGrid>
              <a:tr h="37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4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0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61" name="Google Shape;361;p37"/>
          <p:cNvGraphicFramePr/>
          <p:nvPr/>
        </p:nvGraphicFramePr>
        <p:xfrm>
          <a:off x="5715000" y="1479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{F235A85D-C087-4EA1-A920-E6F4FF3075BD}</a:tableStyleId>
              </a:tblPr>
              <a:tblGrid>
                <a:gridCol w="465600"/>
                <a:gridCol w="357700"/>
                <a:gridCol w="348325"/>
                <a:gridCol w="1227225"/>
                <a:gridCol w="332650"/>
                <a:gridCol w="416150"/>
              </a:tblGrid>
              <a:tr h="288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it-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it-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it-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it-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it-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it-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it-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40"/>
                        <a:buFont typeface="Noto Sans Symbols"/>
                        <a:buNone/>
                      </a:pPr>
                      <a:r>
                        <a:rPr b="1" i="0" lang="it-IT" sz="1400" u="none" cap="none" strike="noStrike">
                          <a:solidFill>
                            <a:schemeClr val="dk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0+18+22+6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60"/>
                        <a:buFont typeface="Noto Sans Symbols"/>
                        <a:buNone/>
                      </a:pPr>
                      <a:r>
                        <a:rPr b="0" i="0" lang="it-IT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2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62" name="Google Shape;362;p37"/>
          <p:cNvSpPr txBox="1"/>
          <p:nvPr/>
        </p:nvSpPr>
        <p:spPr>
          <a:xfrm>
            <a:off x="5257541" y="3668228"/>
            <a:ext cx="3605104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c[1][2] =∑(a[1][k]*b[k][2])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 k = 0, ..., 3</a:t>
            </a:r>
            <a:endParaRPr/>
          </a:p>
        </p:txBody>
      </p:sp>
      <p:sp>
        <p:nvSpPr>
          <p:cNvPr id="363" name="Google Shape;363;p37"/>
          <p:cNvSpPr/>
          <p:nvPr/>
        </p:nvSpPr>
        <p:spPr>
          <a:xfrm>
            <a:off x="5370587" y="2161264"/>
            <a:ext cx="4074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7"/>
          <p:cNvSpPr/>
          <p:nvPr/>
        </p:nvSpPr>
        <p:spPr>
          <a:xfrm>
            <a:off x="2525845" y="2241261"/>
            <a:ext cx="3385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7"/>
          <p:cNvSpPr/>
          <p:nvPr/>
        </p:nvSpPr>
        <p:spPr>
          <a:xfrm>
            <a:off x="800100" y="2249371"/>
            <a:ext cx="1606841" cy="355974"/>
          </a:xfrm>
          <a:prstGeom prst="frame">
            <a:avLst>
              <a:gd fmla="val 10263" name="adj1"/>
            </a:avLst>
          </a:prstGeom>
          <a:solidFill>
            <a:schemeClr val="accent5"/>
          </a:solidFill>
          <a:ln cap="flat" cmpd="sng" w="25400">
            <a:solidFill>
              <a:srgbClr val="367D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6" name="Google Shape;366;p37"/>
          <p:cNvSpPr/>
          <p:nvPr/>
        </p:nvSpPr>
        <p:spPr>
          <a:xfrm rot="5400000">
            <a:off x="3478545" y="2342791"/>
            <a:ext cx="1545070" cy="430823"/>
          </a:xfrm>
          <a:prstGeom prst="frame">
            <a:avLst>
              <a:gd fmla="val 10366" name="adj1"/>
            </a:avLst>
          </a:prstGeom>
          <a:solidFill>
            <a:schemeClr val="accent5"/>
          </a:solidFill>
          <a:ln cap="flat" cmpd="sng" w="25400">
            <a:solidFill>
              <a:srgbClr val="367D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67" name="Google Shape;367;p37"/>
          <p:cNvSpPr/>
          <p:nvPr/>
        </p:nvSpPr>
        <p:spPr>
          <a:xfrm>
            <a:off x="6884964" y="2169636"/>
            <a:ext cx="1230335" cy="430823"/>
          </a:xfrm>
          <a:prstGeom prst="frame">
            <a:avLst>
              <a:gd fmla="val 12368" name="adj1"/>
            </a:avLst>
          </a:prstGeom>
          <a:solidFill>
            <a:schemeClr val="accent5"/>
          </a:solidFill>
          <a:ln cap="flat" cmpd="sng" w="25400">
            <a:solidFill>
              <a:srgbClr val="367D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t-IT"/>
              <a:t>STRINGHE</a:t>
            </a:r>
            <a:endParaRPr/>
          </a:p>
        </p:txBody>
      </p:sp>
      <p:sp>
        <p:nvSpPr>
          <p:cNvPr id="373" name="Google Shape;373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74" name="Google Shape;37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Le stringhe</a:t>
            </a:r>
            <a:endParaRPr/>
          </a:p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457200" y="1600200"/>
            <a:ext cx="8229600" cy="4176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Array di caratteri</a:t>
            </a:r>
            <a:endParaRPr i="1"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Rappresentano “caratteri da leggersi in fila”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Dichiarazione e inizializzazione di una stringa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	</a:t>
            </a: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char stringa[] = "word";</a:t>
            </a:r>
            <a:endParaRPr>
              <a:latin typeface="Courier"/>
              <a:ea typeface="Courier"/>
              <a:cs typeface="Courier"/>
              <a:sym typeface="Courier"/>
            </a:endParaRPr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carattere nullo '\0' termina le stringhe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Perciò l’array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stringa</a:t>
            </a:r>
            <a:r>
              <a:rPr lang="it-IT"/>
              <a:t> ha 5 elementi (non 4):</a:t>
            </a:r>
            <a:endParaRPr/>
          </a:p>
          <a:p>
            <a:pPr indent="-147955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Dichiarazione equivalente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	</a:t>
            </a:r>
            <a:r>
              <a:rPr lang="it-IT" sz="2600">
                <a:latin typeface="Courier"/>
                <a:ea typeface="Courier"/>
                <a:cs typeface="Courier"/>
                <a:sym typeface="Courier"/>
              </a:rPr>
              <a:t>char stringa[] = {'w','o','r','d','\0'};</a:t>
            </a:r>
            <a:endParaRPr/>
          </a:p>
        </p:txBody>
      </p:sp>
      <p:sp>
        <p:nvSpPr>
          <p:cNvPr id="381" name="Google Shape;381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grpSp>
        <p:nvGrpSpPr>
          <p:cNvPr id="382" name="Google Shape;382;p39"/>
          <p:cNvGrpSpPr/>
          <p:nvPr/>
        </p:nvGrpSpPr>
        <p:grpSpPr>
          <a:xfrm>
            <a:off x="2781300" y="5875947"/>
            <a:ext cx="3581400" cy="381000"/>
            <a:chOff x="1824" y="2733"/>
            <a:chExt cx="2256" cy="240"/>
          </a:xfrm>
        </p:grpSpPr>
        <p:sp>
          <p:nvSpPr>
            <p:cNvPr id="383" name="Google Shape;383;p39"/>
            <p:cNvSpPr/>
            <p:nvPr/>
          </p:nvSpPr>
          <p:spPr>
            <a:xfrm>
              <a:off x="1824" y="2733"/>
              <a:ext cx="2256" cy="2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p39"/>
            <p:cNvSpPr/>
            <p:nvPr/>
          </p:nvSpPr>
          <p:spPr>
            <a:xfrm>
              <a:off x="2892" y="2753"/>
              <a:ext cx="261" cy="207"/>
            </a:xfrm>
            <a:prstGeom prst="rect">
              <a:avLst/>
            </a:prstGeom>
            <a:solidFill>
              <a:srgbClr val="FFFFFF"/>
            </a:solidFill>
            <a:ln cap="flat" cmpd="sng" w="11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5" name="Google Shape;385;p39"/>
            <p:cNvSpPr/>
            <p:nvPr/>
          </p:nvSpPr>
          <p:spPr>
            <a:xfrm>
              <a:off x="2631" y="2753"/>
              <a:ext cx="261" cy="207"/>
            </a:xfrm>
            <a:prstGeom prst="rect">
              <a:avLst/>
            </a:prstGeom>
            <a:solidFill>
              <a:srgbClr val="FFFFFF"/>
            </a:solidFill>
            <a:ln cap="flat" cmpd="sng" w="11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6" name="Google Shape;386;p39"/>
            <p:cNvSpPr/>
            <p:nvPr/>
          </p:nvSpPr>
          <p:spPr>
            <a:xfrm>
              <a:off x="1849" y="2753"/>
              <a:ext cx="262" cy="207"/>
            </a:xfrm>
            <a:prstGeom prst="rect">
              <a:avLst/>
            </a:prstGeom>
            <a:solidFill>
              <a:srgbClr val="FFFFFF"/>
            </a:solidFill>
            <a:ln cap="flat" cmpd="sng" w="11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7" name="Google Shape;387;p39"/>
            <p:cNvSpPr/>
            <p:nvPr/>
          </p:nvSpPr>
          <p:spPr>
            <a:xfrm>
              <a:off x="2370" y="2753"/>
              <a:ext cx="262" cy="207"/>
            </a:xfrm>
            <a:prstGeom prst="rect">
              <a:avLst/>
            </a:prstGeom>
            <a:solidFill>
              <a:srgbClr val="FFFFFF"/>
            </a:solidFill>
            <a:ln cap="flat" cmpd="sng" w="11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8" name="Google Shape;388;p39"/>
            <p:cNvSpPr/>
            <p:nvPr/>
          </p:nvSpPr>
          <p:spPr>
            <a:xfrm>
              <a:off x="2110" y="2753"/>
              <a:ext cx="261" cy="207"/>
            </a:xfrm>
            <a:prstGeom prst="rect">
              <a:avLst/>
            </a:prstGeom>
            <a:solidFill>
              <a:srgbClr val="FFFFFF"/>
            </a:solidFill>
            <a:ln cap="flat" cmpd="sng" w="111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6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9" name="Google Shape;389;p39"/>
            <p:cNvSpPr/>
            <p:nvPr/>
          </p:nvSpPr>
          <p:spPr>
            <a:xfrm>
              <a:off x="2701" y="2756"/>
              <a:ext cx="86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sz="4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0" name="Google Shape;390;p39"/>
            <p:cNvSpPr/>
            <p:nvPr/>
          </p:nvSpPr>
          <p:spPr>
            <a:xfrm>
              <a:off x="2440" y="2756"/>
              <a:ext cx="51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</a:t>
              </a:r>
              <a:endParaRPr sz="4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1" name="Google Shape;391;p39"/>
            <p:cNvSpPr/>
            <p:nvPr/>
          </p:nvSpPr>
          <p:spPr>
            <a:xfrm>
              <a:off x="2179" y="2756"/>
              <a:ext cx="86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4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2" name="Google Shape;392;p39"/>
            <p:cNvSpPr/>
            <p:nvPr/>
          </p:nvSpPr>
          <p:spPr>
            <a:xfrm>
              <a:off x="1917" y="2756"/>
              <a:ext cx="111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</a:t>
              </a:r>
              <a:endParaRPr sz="4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3" name="Google Shape;393;p39"/>
            <p:cNvSpPr/>
            <p:nvPr/>
          </p:nvSpPr>
          <p:spPr>
            <a:xfrm>
              <a:off x="2952" y="2759"/>
              <a:ext cx="128" cy="1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it-IT" sz="19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\0</a:t>
              </a:r>
              <a:endParaRPr sz="44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394" name="Google Shape;394;p39"/>
            <p:cNvGrpSpPr/>
            <p:nvPr/>
          </p:nvGrpSpPr>
          <p:grpSpPr>
            <a:xfrm>
              <a:off x="3149" y="2750"/>
              <a:ext cx="267" cy="212"/>
              <a:chOff x="3149" y="2993"/>
              <a:chExt cx="267" cy="212"/>
            </a:xfrm>
          </p:grpSpPr>
          <p:sp>
            <p:nvSpPr>
              <p:cNvPr id="395" name="Google Shape;395;p39"/>
              <p:cNvSpPr/>
              <p:nvPr/>
            </p:nvSpPr>
            <p:spPr>
              <a:xfrm>
                <a:off x="3152" y="2996"/>
                <a:ext cx="261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96" name="Google Shape;396;p39"/>
              <p:cNvSpPr/>
              <p:nvPr/>
            </p:nvSpPr>
            <p:spPr>
              <a:xfrm>
                <a:off x="3149" y="2993"/>
                <a:ext cx="15" cy="26"/>
              </a:xfrm>
              <a:custGeom>
                <a:rect b="b" l="l" r="r" t="t"/>
                <a:pathLst>
                  <a:path extrusionOk="0" h="50" w="31">
                    <a:moveTo>
                      <a:pt x="13" y="5"/>
                    </a:moveTo>
                    <a:lnTo>
                      <a:pt x="6" y="5"/>
                    </a:lnTo>
                    <a:lnTo>
                      <a:pt x="6" y="11"/>
                    </a:lnTo>
                    <a:lnTo>
                      <a:pt x="31" y="11"/>
                    </a:lnTo>
                    <a:lnTo>
                      <a:pt x="31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50"/>
                    </a:lnTo>
                    <a:lnTo>
                      <a:pt x="13" y="50"/>
                    </a:lnTo>
                    <a:lnTo>
                      <a:pt x="13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97" name="Google Shape;397;p39"/>
              <p:cNvSpPr/>
              <p:nvPr/>
            </p:nvSpPr>
            <p:spPr>
              <a:xfrm>
                <a:off x="3149" y="3035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98" name="Google Shape;398;p39"/>
              <p:cNvSpPr/>
              <p:nvPr/>
            </p:nvSpPr>
            <p:spPr>
              <a:xfrm>
                <a:off x="3149" y="3074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99" name="Google Shape;399;p39"/>
              <p:cNvSpPr/>
              <p:nvPr/>
            </p:nvSpPr>
            <p:spPr>
              <a:xfrm>
                <a:off x="3149" y="3113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0" name="Google Shape;400;p39"/>
              <p:cNvSpPr/>
              <p:nvPr/>
            </p:nvSpPr>
            <p:spPr>
              <a:xfrm>
                <a:off x="3149" y="3153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1" name="Google Shape;401;p39"/>
              <p:cNvSpPr/>
              <p:nvPr/>
            </p:nvSpPr>
            <p:spPr>
              <a:xfrm>
                <a:off x="3149" y="3192"/>
                <a:ext cx="18" cy="13"/>
              </a:xfrm>
              <a:custGeom>
                <a:rect b="b" l="l" r="r" t="t"/>
                <a:pathLst>
                  <a:path extrusionOk="0" h="27" w="36">
                    <a:moveTo>
                      <a:pt x="13" y="0"/>
                    </a:moveTo>
                    <a:lnTo>
                      <a:pt x="0" y="0"/>
                    </a:lnTo>
                    <a:lnTo>
                      <a:pt x="0" y="21"/>
                    </a:lnTo>
                    <a:lnTo>
                      <a:pt x="0" y="27"/>
                    </a:lnTo>
                    <a:lnTo>
                      <a:pt x="6" y="27"/>
                    </a:lnTo>
                    <a:lnTo>
                      <a:pt x="36" y="27"/>
                    </a:lnTo>
                    <a:lnTo>
                      <a:pt x="36" y="16"/>
                    </a:lnTo>
                    <a:lnTo>
                      <a:pt x="6" y="16"/>
                    </a:lnTo>
                    <a:lnTo>
                      <a:pt x="6" y="21"/>
                    </a:lnTo>
                    <a:lnTo>
                      <a:pt x="13" y="2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2" name="Google Shape;402;p39"/>
              <p:cNvSpPr/>
              <p:nvPr/>
            </p:nvSpPr>
            <p:spPr>
              <a:xfrm>
                <a:off x="3188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3" name="Google Shape;403;p39"/>
              <p:cNvSpPr/>
              <p:nvPr/>
            </p:nvSpPr>
            <p:spPr>
              <a:xfrm>
                <a:off x="3236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4" name="Google Shape;404;p39"/>
              <p:cNvSpPr/>
              <p:nvPr/>
            </p:nvSpPr>
            <p:spPr>
              <a:xfrm>
                <a:off x="3285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5" name="Google Shape;405;p39"/>
              <p:cNvSpPr/>
              <p:nvPr/>
            </p:nvSpPr>
            <p:spPr>
              <a:xfrm>
                <a:off x="3334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6" name="Google Shape;406;p39"/>
              <p:cNvSpPr/>
              <p:nvPr/>
            </p:nvSpPr>
            <p:spPr>
              <a:xfrm>
                <a:off x="3382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7" name="Google Shape;407;p39"/>
              <p:cNvSpPr/>
              <p:nvPr/>
            </p:nvSpPr>
            <p:spPr>
              <a:xfrm>
                <a:off x="3409" y="3165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8" name="Google Shape;408;p39"/>
              <p:cNvSpPr/>
              <p:nvPr/>
            </p:nvSpPr>
            <p:spPr>
              <a:xfrm>
                <a:off x="3409" y="3126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09" name="Google Shape;409;p39"/>
              <p:cNvSpPr/>
              <p:nvPr/>
            </p:nvSpPr>
            <p:spPr>
              <a:xfrm>
                <a:off x="3409" y="3087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0" name="Google Shape;410;p39"/>
              <p:cNvSpPr/>
              <p:nvPr/>
            </p:nvSpPr>
            <p:spPr>
              <a:xfrm>
                <a:off x="3409" y="3048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1" name="Google Shape;411;p39"/>
              <p:cNvSpPr/>
              <p:nvPr/>
            </p:nvSpPr>
            <p:spPr>
              <a:xfrm>
                <a:off x="3409" y="3009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2" name="Google Shape;412;p39"/>
              <p:cNvSpPr/>
              <p:nvPr/>
            </p:nvSpPr>
            <p:spPr>
              <a:xfrm>
                <a:off x="3380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3" name="Google Shape;413;p39"/>
              <p:cNvSpPr/>
              <p:nvPr/>
            </p:nvSpPr>
            <p:spPr>
              <a:xfrm>
                <a:off x="3331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4" name="Google Shape;414;p39"/>
              <p:cNvSpPr/>
              <p:nvPr/>
            </p:nvSpPr>
            <p:spPr>
              <a:xfrm>
                <a:off x="3283" y="2993"/>
                <a:ext cx="27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5" name="Google Shape;415;p39"/>
              <p:cNvSpPr/>
              <p:nvPr/>
            </p:nvSpPr>
            <p:spPr>
              <a:xfrm>
                <a:off x="3234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6" name="Google Shape;416;p39"/>
              <p:cNvSpPr/>
              <p:nvPr/>
            </p:nvSpPr>
            <p:spPr>
              <a:xfrm>
                <a:off x="3185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417" name="Google Shape;417;p39"/>
            <p:cNvGrpSpPr/>
            <p:nvPr/>
          </p:nvGrpSpPr>
          <p:grpSpPr>
            <a:xfrm>
              <a:off x="3409" y="2750"/>
              <a:ext cx="268" cy="212"/>
              <a:chOff x="3409" y="2993"/>
              <a:chExt cx="268" cy="212"/>
            </a:xfrm>
          </p:grpSpPr>
          <p:sp>
            <p:nvSpPr>
              <p:cNvPr id="418" name="Google Shape;418;p39"/>
              <p:cNvSpPr/>
              <p:nvPr/>
            </p:nvSpPr>
            <p:spPr>
              <a:xfrm>
                <a:off x="3413" y="2996"/>
                <a:ext cx="260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9" name="Google Shape;419;p39"/>
              <p:cNvSpPr/>
              <p:nvPr/>
            </p:nvSpPr>
            <p:spPr>
              <a:xfrm>
                <a:off x="3409" y="2993"/>
                <a:ext cx="16" cy="26"/>
              </a:xfrm>
              <a:custGeom>
                <a:rect b="b" l="l" r="r" t="t"/>
                <a:pathLst>
                  <a:path extrusionOk="0" h="50" w="31">
                    <a:moveTo>
                      <a:pt x="14" y="5"/>
                    </a:moveTo>
                    <a:lnTo>
                      <a:pt x="7" y="5"/>
                    </a:lnTo>
                    <a:lnTo>
                      <a:pt x="7" y="11"/>
                    </a:lnTo>
                    <a:lnTo>
                      <a:pt x="31" y="11"/>
                    </a:lnTo>
                    <a:lnTo>
                      <a:pt x="31" y="0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50"/>
                    </a:lnTo>
                    <a:lnTo>
                      <a:pt x="14" y="50"/>
                    </a:ln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0" name="Google Shape;420;p39"/>
              <p:cNvSpPr/>
              <p:nvPr/>
            </p:nvSpPr>
            <p:spPr>
              <a:xfrm>
                <a:off x="3409" y="3035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1" name="Google Shape;421;p39"/>
              <p:cNvSpPr/>
              <p:nvPr/>
            </p:nvSpPr>
            <p:spPr>
              <a:xfrm>
                <a:off x="3409" y="3074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2" name="Google Shape;422;p39"/>
              <p:cNvSpPr/>
              <p:nvPr/>
            </p:nvSpPr>
            <p:spPr>
              <a:xfrm>
                <a:off x="3409" y="3113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3" name="Google Shape;423;p39"/>
              <p:cNvSpPr/>
              <p:nvPr/>
            </p:nvSpPr>
            <p:spPr>
              <a:xfrm>
                <a:off x="3409" y="3153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4" name="Google Shape;424;p39"/>
              <p:cNvSpPr/>
              <p:nvPr/>
            </p:nvSpPr>
            <p:spPr>
              <a:xfrm>
                <a:off x="3409" y="3192"/>
                <a:ext cx="19" cy="13"/>
              </a:xfrm>
              <a:custGeom>
                <a:rect b="b" l="l" r="r" t="t"/>
                <a:pathLst>
                  <a:path extrusionOk="0" h="27" w="36">
                    <a:moveTo>
                      <a:pt x="14" y="0"/>
                    </a:moveTo>
                    <a:lnTo>
                      <a:pt x="0" y="0"/>
                    </a:lnTo>
                    <a:lnTo>
                      <a:pt x="0" y="21"/>
                    </a:lnTo>
                    <a:lnTo>
                      <a:pt x="0" y="27"/>
                    </a:lnTo>
                    <a:lnTo>
                      <a:pt x="7" y="27"/>
                    </a:lnTo>
                    <a:lnTo>
                      <a:pt x="36" y="27"/>
                    </a:lnTo>
                    <a:lnTo>
                      <a:pt x="36" y="16"/>
                    </a:lnTo>
                    <a:lnTo>
                      <a:pt x="7" y="16"/>
                    </a:lnTo>
                    <a:lnTo>
                      <a:pt x="7" y="21"/>
                    </a:lnTo>
                    <a:lnTo>
                      <a:pt x="14" y="21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5" name="Google Shape;425;p39"/>
              <p:cNvSpPr/>
              <p:nvPr/>
            </p:nvSpPr>
            <p:spPr>
              <a:xfrm>
                <a:off x="3448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6" name="Google Shape;426;p39"/>
              <p:cNvSpPr/>
              <p:nvPr/>
            </p:nvSpPr>
            <p:spPr>
              <a:xfrm>
                <a:off x="3497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7" name="Google Shape;427;p39"/>
              <p:cNvSpPr/>
              <p:nvPr/>
            </p:nvSpPr>
            <p:spPr>
              <a:xfrm>
                <a:off x="3546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8" name="Google Shape;428;p39"/>
              <p:cNvSpPr/>
              <p:nvPr/>
            </p:nvSpPr>
            <p:spPr>
              <a:xfrm>
                <a:off x="3594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9" name="Google Shape;429;p39"/>
              <p:cNvSpPr/>
              <p:nvPr/>
            </p:nvSpPr>
            <p:spPr>
              <a:xfrm>
                <a:off x="3643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0" name="Google Shape;430;p39"/>
              <p:cNvSpPr/>
              <p:nvPr/>
            </p:nvSpPr>
            <p:spPr>
              <a:xfrm>
                <a:off x="3670" y="3165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1" name="Google Shape;431;p39"/>
              <p:cNvSpPr/>
              <p:nvPr/>
            </p:nvSpPr>
            <p:spPr>
              <a:xfrm>
                <a:off x="3670" y="3126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2" name="Google Shape;432;p39"/>
              <p:cNvSpPr/>
              <p:nvPr/>
            </p:nvSpPr>
            <p:spPr>
              <a:xfrm>
                <a:off x="3670" y="3087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3" name="Google Shape;433;p39"/>
              <p:cNvSpPr/>
              <p:nvPr/>
            </p:nvSpPr>
            <p:spPr>
              <a:xfrm>
                <a:off x="3670" y="3048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4" name="Google Shape;434;p39"/>
              <p:cNvSpPr/>
              <p:nvPr/>
            </p:nvSpPr>
            <p:spPr>
              <a:xfrm>
                <a:off x="3670" y="3009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5" name="Google Shape;435;p39"/>
              <p:cNvSpPr/>
              <p:nvPr/>
            </p:nvSpPr>
            <p:spPr>
              <a:xfrm>
                <a:off x="3640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6" name="Google Shape;436;p39"/>
              <p:cNvSpPr/>
              <p:nvPr/>
            </p:nvSpPr>
            <p:spPr>
              <a:xfrm>
                <a:off x="3592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7" name="Google Shape;437;p39"/>
              <p:cNvSpPr/>
              <p:nvPr/>
            </p:nvSpPr>
            <p:spPr>
              <a:xfrm>
                <a:off x="3543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8" name="Google Shape;438;p39"/>
              <p:cNvSpPr/>
              <p:nvPr/>
            </p:nvSpPr>
            <p:spPr>
              <a:xfrm>
                <a:off x="3494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39" name="Google Shape;439;p39"/>
              <p:cNvSpPr/>
              <p:nvPr/>
            </p:nvSpPr>
            <p:spPr>
              <a:xfrm>
                <a:off x="3446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440" name="Google Shape;440;p39"/>
            <p:cNvGrpSpPr/>
            <p:nvPr/>
          </p:nvGrpSpPr>
          <p:grpSpPr>
            <a:xfrm>
              <a:off x="3670" y="2750"/>
              <a:ext cx="268" cy="212"/>
              <a:chOff x="3670" y="2993"/>
              <a:chExt cx="268" cy="212"/>
            </a:xfrm>
          </p:grpSpPr>
          <p:sp>
            <p:nvSpPr>
              <p:cNvPr id="441" name="Google Shape;441;p39"/>
              <p:cNvSpPr/>
              <p:nvPr/>
            </p:nvSpPr>
            <p:spPr>
              <a:xfrm>
                <a:off x="3673" y="2996"/>
                <a:ext cx="261" cy="20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2" name="Google Shape;442;p39"/>
              <p:cNvSpPr/>
              <p:nvPr/>
            </p:nvSpPr>
            <p:spPr>
              <a:xfrm>
                <a:off x="3670" y="2993"/>
                <a:ext cx="16" cy="26"/>
              </a:xfrm>
              <a:custGeom>
                <a:rect b="b" l="l" r="r" t="t"/>
                <a:pathLst>
                  <a:path extrusionOk="0" h="50" w="31">
                    <a:moveTo>
                      <a:pt x="14" y="5"/>
                    </a:moveTo>
                    <a:lnTo>
                      <a:pt x="7" y="5"/>
                    </a:lnTo>
                    <a:lnTo>
                      <a:pt x="7" y="11"/>
                    </a:lnTo>
                    <a:lnTo>
                      <a:pt x="31" y="11"/>
                    </a:lnTo>
                    <a:lnTo>
                      <a:pt x="31" y="0"/>
                    </a:lnTo>
                    <a:lnTo>
                      <a:pt x="7" y="0"/>
                    </a:lnTo>
                    <a:lnTo>
                      <a:pt x="0" y="0"/>
                    </a:lnTo>
                    <a:lnTo>
                      <a:pt x="0" y="5"/>
                    </a:lnTo>
                    <a:lnTo>
                      <a:pt x="0" y="50"/>
                    </a:lnTo>
                    <a:lnTo>
                      <a:pt x="14" y="50"/>
                    </a:lnTo>
                    <a:lnTo>
                      <a:pt x="1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3" name="Google Shape;443;p39"/>
              <p:cNvSpPr/>
              <p:nvPr/>
            </p:nvSpPr>
            <p:spPr>
              <a:xfrm>
                <a:off x="3670" y="3035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4" name="Google Shape;444;p39"/>
              <p:cNvSpPr/>
              <p:nvPr/>
            </p:nvSpPr>
            <p:spPr>
              <a:xfrm>
                <a:off x="3670" y="3074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5" name="Google Shape;445;p39"/>
              <p:cNvSpPr/>
              <p:nvPr/>
            </p:nvSpPr>
            <p:spPr>
              <a:xfrm>
                <a:off x="3670" y="3113"/>
                <a:ext cx="7" cy="2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6" name="Google Shape;446;p39"/>
              <p:cNvSpPr/>
              <p:nvPr/>
            </p:nvSpPr>
            <p:spPr>
              <a:xfrm>
                <a:off x="3670" y="3153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7" name="Google Shape;447;p39"/>
              <p:cNvSpPr/>
              <p:nvPr/>
            </p:nvSpPr>
            <p:spPr>
              <a:xfrm>
                <a:off x="3670" y="3192"/>
                <a:ext cx="18" cy="13"/>
              </a:xfrm>
              <a:custGeom>
                <a:rect b="b" l="l" r="r" t="t"/>
                <a:pathLst>
                  <a:path extrusionOk="0" h="27" w="36">
                    <a:moveTo>
                      <a:pt x="14" y="0"/>
                    </a:moveTo>
                    <a:lnTo>
                      <a:pt x="0" y="0"/>
                    </a:lnTo>
                    <a:lnTo>
                      <a:pt x="0" y="21"/>
                    </a:lnTo>
                    <a:lnTo>
                      <a:pt x="0" y="27"/>
                    </a:lnTo>
                    <a:lnTo>
                      <a:pt x="7" y="27"/>
                    </a:lnTo>
                    <a:lnTo>
                      <a:pt x="36" y="27"/>
                    </a:lnTo>
                    <a:lnTo>
                      <a:pt x="36" y="16"/>
                    </a:lnTo>
                    <a:lnTo>
                      <a:pt x="7" y="16"/>
                    </a:lnTo>
                    <a:lnTo>
                      <a:pt x="7" y="21"/>
                    </a:lnTo>
                    <a:lnTo>
                      <a:pt x="14" y="21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8" name="Google Shape;448;p39"/>
              <p:cNvSpPr/>
              <p:nvPr/>
            </p:nvSpPr>
            <p:spPr>
              <a:xfrm>
                <a:off x="3709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49" name="Google Shape;449;p39"/>
              <p:cNvSpPr/>
              <p:nvPr/>
            </p:nvSpPr>
            <p:spPr>
              <a:xfrm>
                <a:off x="3758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0" name="Google Shape;450;p39"/>
              <p:cNvSpPr/>
              <p:nvPr/>
            </p:nvSpPr>
            <p:spPr>
              <a:xfrm>
                <a:off x="3806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1" name="Google Shape;451;p39"/>
              <p:cNvSpPr/>
              <p:nvPr/>
            </p:nvSpPr>
            <p:spPr>
              <a:xfrm>
                <a:off x="3855" y="3199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2" name="Google Shape;452;p39"/>
              <p:cNvSpPr/>
              <p:nvPr/>
            </p:nvSpPr>
            <p:spPr>
              <a:xfrm>
                <a:off x="3904" y="3199"/>
                <a:ext cx="27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3" name="Google Shape;453;p39"/>
              <p:cNvSpPr/>
              <p:nvPr/>
            </p:nvSpPr>
            <p:spPr>
              <a:xfrm>
                <a:off x="3931" y="3165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4" name="Google Shape;454;p39"/>
              <p:cNvSpPr/>
              <p:nvPr/>
            </p:nvSpPr>
            <p:spPr>
              <a:xfrm>
                <a:off x="3931" y="3126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5" name="Google Shape;455;p39"/>
              <p:cNvSpPr/>
              <p:nvPr/>
            </p:nvSpPr>
            <p:spPr>
              <a:xfrm>
                <a:off x="3931" y="3087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6" name="Google Shape;456;p39"/>
              <p:cNvSpPr/>
              <p:nvPr/>
            </p:nvSpPr>
            <p:spPr>
              <a:xfrm>
                <a:off x="3931" y="3048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7" name="Google Shape;457;p39"/>
              <p:cNvSpPr/>
              <p:nvPr/>
            </p:nvSpPr>
            <p:spPr>
              <a:xfrm>
                <a:off x="3931" y="3009"/>
                <a:ext cx="7" cy="22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8" name="Google Shape;458;p39"/>
              <p:cNvSpPr/>
              <p:nvPr/>
            </p:nvSpPr>
            <p:spPr>
              <a:xfrm>
                <a:off x="3901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59" name="Google Shape;459;p39"/>
              <p:cNvSpPr/>
              <p:nvPr/>
            </p:nvSpPr>
            <p:spPr>
              <a:xfrm>
                <a:off x="3852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0" name="Google Shape;460;p39"/>
              <p:cNvSpPr/>
              <p:nvPr/>
            </p:nvSpPr>
            <p:spPr>
              <a:xfrm>
                <a:off x="3804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1" name="Google Shape;461;p39"/>
              <p:cNvSpPr/>
              <p:nvPr/>
            </p:nvSpPr>
            <p:spPr>
              <a:xfrm>
                <a:off x="3755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2" name="Google Shape;462;p39"/>
              <p:cNvSpPr/>
              <p:nvPr/>
            </p:nvSpPr>
            <p:spPr>
              <a:xfrm>
                <a:off x="3706" y="2993"/>
                <a:ext cx="28" cy="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600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Stringhe e caratteri</a:t>
            </a:r>
            <a:endParaRPr/>
          </a:p>
        </p:txBody>
      </p:sp>
      <p:sp>
        <p:nvSpPr>
          <p:cNvPr id="468" name="Google Shape;468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Qual è la differenza tra 'x' e "x"?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‘x’ è una costante di tipo char</a:t>
            </a:r>
            <a:endParaRPr/>
          </a:p>
          <a:p>
            <a:pPr indent="-22860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Rappresentata in memoria occupando 1 byte in codifica ASCII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“x” è una stringa costante</a:t>
            </a:r>
            <a:endParaRPr/>
          </a:p>
          <a:p>
            <a:pPr indent="-22860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Rappresentata in memoria con un array di char contente i caratteri ‘x’ e ‘\0’</a:t>
            </a:r>
            <a:endParaRPr/>
          </a:p>
          <a:p>
            <a:pPr indent="-9906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rgbClr val="001FEF"/>
              </a:buClr>
              <a:buSzPct val="100000"/>
              <a:buChar char="•"/>
            </a:pPr>
            <a:r>
              <a:rPr i="1" lang="it-IT">
                <a:solidFill>
                  <a:srgbClr val="001FEF"/>
                </a:solidFill>
              </a:rPr>
              <a:t>Attenzione</a:t>
            </a:r>
            <a:r>
              <a:rPr lang="it-IT"/>
              <a:t>: le stringhe </a:t>
            </a:r>
            <a:r>
              <a:rPr i="1" lang="it-IT">
                <a:solidFill>
                  <a:srgbClr val="001FEF"/>
                </a:solidFill>
              </a:rPr>
              <a:t>non</a:t>
            </a:r>
            <a:r>
              <a:rPr lang="it-IT">
                <a:solidFill>
                  <a:srgbClr val="001FEF"/>
                </a:solidFill>
              </a:rPr>
              <a:t> </a:t>
            </a:r>
            <a:r>
              <a:rPr lang="it-IT"/>
              <a:t>sono propriamente un tipo di dato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Non sono un tipo di base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Non hanno operatori nativi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Una serie di funzioni della libreria </a:t>
            </a:r>
            <a:r>
              <a:rPr lang="it-IT">
                <a:latin typeface="Courier"/>
                <a:ea typeface="Courier"/>
                <a:cs typeface="Courier"/>
                <a:sym typeface="Courier"/>
              </a:rPr>
              <a:t>string.h</a:t>
            </a:r>
            <a:r>
              <a:rPr lang="it-IT"/>
              <a:t> permette di manipolarle</a:t>
            </a:r>
            <a:endParaRPr/>
          </a:p>
        </p:txBody>
      </p:sp>
      <p:sp>
        <p:nvSpPr>
          <p:cNvPr id="469" name="Google Shape;469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Operazioni su stringhe</a:t>
            </a:r>
            <a:endParaRPr/>
          </a:p>
        </p:txBody>
      </p:sp>
      <p:sp>
        <p:nvSpPr>
          <p:cNvPr id="475" name="Google Shape;475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76" name="Google Shape;476;p41"/>
          <p:cNvSpPr txBox="1"/>
          <p:nvPr>
            <p:ph idx="4294967295" type="body"/>
          </p:nvPr>
        </p:nvSpPr>
        <p:spPr>
          <a:xfrm>
            <a:off x="738554" y="1508919"/>
            <a:ext cx="7666892" cy="4756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char str1[32];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str1 ha spazio per 32 char.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char str2[64];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str2 ha spazio per 64 char.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33CC33"/>
              </a:buClr>
              <a:buSzPts val="18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inizializza str1 con la stringa "alfa"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strcpy(str1, "alfa");   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str1 contiene "alfa" 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33CC33"/>
              </a:buClr>
              <a:buSzPts val="18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copia str1 in str2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strcpy(str2, str1);     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str2 contiene "alfa" 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33CC33"/>
              </a:buClr>
              <a:buSzPts val="18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lunghezza di str1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x = strlen(str1);       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x assume valore 4    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33CC33"/>
              </a:buClr>
              <a:buSzPts val="18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scrivi str1 su standard output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printf("%s", str1);     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scrive str1 su stdout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rgbClr val="33CC33"/>
              </a:buClr>
              <a:buSzPts val="18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leggi str1 da standard input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scanf("%s", str1);      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str1 “riceve” da stdin */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Operazioni su stringhe</a:t>
            </a:r>
            <a:endParaRPr/>
          </a:p>
        </p:txBody>
      </p:sp>
      <p:sp>
        <p:nvSpPr>
          <p:cNvPr id="482" name="Google Shape;482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83" name="Google Shape;483;p42"/>
          <p:cNvSpPr txBox="1"/>
          <p:nvPr>
            <p:ph idx="4294967295" type="body"/>
          </p:nvPr>
        </p:nvSpPr>
        <p:spPr>
          <a:xfrm>
            <a:off x="668216" y="1600200"/>
            <a:ext cx="7561384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char str1[32];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char str2[64];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scanf("%s", str1);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&gt; ciao↵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ora str1 contiene "ciao"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strcpy(str2, str1);	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str2 riceve "ciao"*/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val = strlen(str2);  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val  = 4         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printf("%s\n", str2);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&gt; ciao	</a:t>
            </a: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stampa "ciao" */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>
              <a:latin typeface="Courier"/>
              <a:ea typeface="Courier"/>
              <a:cs typeface="Courier"/>
              <a:sym typeface="Courier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latin typeface="Courier"/>
                <a:ea typeface="Courier"/>
                <a:cs typeface="Courier"/>
                <a:sym typeface="Courier"/>
              </a:rPr>
              <a:t>Attenzione:     strlen("")   vale 0 !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Particolarità delle stringhe</a:t>
            </a:r>
            <a:endParaRPr/>
          </a:p>
        </p:txBody>
      </p:sp>
      <p:sp>
        <p:nvSpPr>
          <p:cNvPr id="489" name="Google Shape;489;p4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Inizializzazione e accesso ai singoli caratteri: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	</a:t>
            </a: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char stringa[] = "word";</a:t>
            </a:r>
            <a:endParaRPr/>
          </a:p>
          <a:p>
            <a:pPr indent="0" lvl="0" marL="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		stringa[3]</a:t>
            </a:r>
            <a:r>
              <a:rPr lang="it-IT"/>
              <a:t> è un’espressione di valore 'd'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nome dell’array rappresenta l’indirizzo del suo primo elemento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Quando ci si vuole riferire all’intero array nella scanf non si mette il simbolo &amp;!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>
                <a:latin typeface="Courier"/>
                <a:ea typeface="Courier"/>
                <a:cs typeface="Courier"/>
                <a:sym typeface="Courier"/>
              </a:rPr>
              <a:t>scanf("%s", stringa);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Questa scanf legge in input i caratteri fino a quando trova il carattere “blank” (lo spazio), o l’invio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Se il buffer contiene una stringa “troppo lunga”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La stringa è memorizzata oltre la fine dell’array!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rgbClr val="001FEF"/>
              </a:buClr>
              <a:buSzPct val="100000"/>
              <a:buChar char="–"/>
            </a:pPr>
            <a:r>
              <a:rPr i="1" lang="it-IT">
                <a:solidFill>
                  <a:srgbClr val="001FEF"/>
                </a:solidFill>
              </a:rPr>
              <a:t>È un errore grave!</a:t>
            </a:r>
            <a:endParaRPr/>
          </a:p>
        </p:txBody>
      </p:sp>
      <p:sp>
        <p:nvSpPr>
          <p:cNvPr id="490" name="Google Shape;49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496" name="Google Shape;496;p44"/>
          <p:cNvSpPr txBox="1"/>
          <p:nvPr/>
        </p:nvSpPr>
        <p:spPr>
          <a:xfrm>
            <a:off x="396416" y="444960"/>
            <a:ext cx="7879080" cy="6247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Stringhe e array di caratteri */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#include &lt;stdio.h&gt;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#include &lt;string.h&gt;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main () {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char str1[20], str2[] = "string literal";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int i;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printf("\n Enter a string: ");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A50021"/>
                </a:solidFill>
                <a:latin typeface="Courier"/>
                <a:ea typeface="Courier"/>
                <a:cs typeface="Courier"/>
                <a:sym typeface="Courier"/>
              </a:rPr>
              <a:t>	scanf("%s", str1);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printf("str1: %s\n str2: %s\n", str1, str2);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printf("str1 with spaces is: \n");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i = 0;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while( str1[i] != '\0' ) {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printf ("%c ", str1[i]);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	i++;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}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 ("\n");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return 0;</a:t>
            </a:r>
            <a:b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</a:b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497" name="Google Shape;497;p44"/>
          <p:cNvSpPr/>
          <p:nvPr/>
        </p:nvSpPr>
        <p:spPr>
          <a:xfrm>
            <a:off x="4857567" y="5215496"/>
            <a:ext cx="41767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&gt; Enter a string: Hello guys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&gt; str1: Hello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&gt; str2: string literal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&gt; str1 with spaces is: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&gt; H e l l o </a:t>
            </a:r>
            <a:endParaRPr/>
          </a:p>
        </p:txBody>
      </p:sp>
      <p:sp>
        <p:nvSpPr>
          <p:cNvPr id="498" name="Google Shape;498;p44"/>
          <p:cNvSpPr txBox="1"/>
          <p:nvPr/>
        </p:nvSpPr>
        <p:spPr>
          <a:xfrm>
            <a:off x="5823764" y="932422"/>
            <a:ext cx="2831123" cy="1107996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scanf</a:t>
            </a:r>
            <a:r>
              <a:rPr lang="it-IT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interrompe la scansione quando incontra uno spazio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strcpy(s1, s2)</a:t>
            </a:r>
            <a:endParaRPr/>
          </a:p>
        </p:txBody>
      </p:sp>
      <p:sp>
        <p:nvSpPr>
          <p:cNvPr id="504" name="Google Shape;504;p45"/>
          <p:cNvSpPr txBox="1"/>
          <p:nvPr>
            <p:ph idx="1" type="body"/>
          </p:nvPr>
        </p:nvSpPr>
        <p:spPr>
          <a:xfrm>
            <a:off x="457200" y="1600200"/>
            <a:ext cx="8229600" cy="11880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E se non ci fosse la funzione strcpy()?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Assegneremmo sempre un carattere alla volta!</a:t>
            </a:r>
            <a:endParaRPr/>
          </a:p>
        </p:txBody>
      </p:sp>
      <p:sp>
        <p:nvSpPr>
          <p:cNvPr id="505" name="Google Shape;505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06" name="Google Shape;506;p45"/>
          <p:cNvSpPr/>
          <p:nvPr/>
        </p:nvSpPr>
        <p:spPr>
          <a:xfrm>
            <a:off x="575469" y="2934990"/>
            <a:ext cx="7993062" cy="22755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char s1[N], s2[M];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Assegnamento di s2, omesso 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i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(i &lt;= strlen(s2) &amp;&amp; i &lt; N) {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s1[i] = s2[i];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++i;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</p:txBody>
      </p:sp>
      <p:sp>
        <p:nvSpPr>
          <p:cNvPr id="507" name="Google Shape;507;p45"/>
          <p:cNvSpPr txBox="1"/>
          <p:nvPr/>
        </p:nvSpPr>
        <p:spPr>
          <a:xfrm>
            <a:off x="1104900" y="5275622"/>
            <a:ext cx="6934200" cy="1015663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N.B. Funziona correttamente se s2 è una stringa ben formata (cioè terminata da '\0') e se s1 è sufficientemente grande da contenere i caratteri di s2 (N &gt;= strlen(s2))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Quiz</a:t>
            </a:r>
            <a:endParaRPr/>
          </a:p>
        </p:txBody>
      </p:sp>
      <p:sp>
        <p:nvSpPr>
          <p:cNvPr id="513" name="Google Shape;513;p46"/>
          <p:cNvSpPr txBox="1"/>
          <p:nvPr>
            <p:ph idx="1" type="body"/>
          </p:nvPr>
        </p:nvSpPr>
        <p:spPr>
          <a:xfrm>
            <a:off x="457200" y="1600200"/>
            <a:ext cx="8229600" cy="4503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Che cosa stampano le seguenti printf()?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it-IT"/>
              <a:t>		</a:t>
            </a: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char ciao[6] = “ciao”;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	ciao[strlen(ciao)] = ciao[2];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Courier"/>
              <a:ea typeface="Courier"/>
              <a:cs typeface="Courier"/>
              <a:sym typeface="Courier"/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	printf(“%s\n”, ciao);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it-IT" sz="2400">
                <a:latin typeface="Courier"/>
                <a:ea typeface="Courier"/>
                <a:cs typeface="Courier"/>
                <a:sym typeface="Courier"/>
              </a:rPr>
              <a:t>		printf(“%d\n”, strlen(ciao));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514" name="Google Shape;514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15" name="Google Shape;515;p46"/>
          <p:cNvSpPr txBox="1"/>
          <p:nvPr/>
        </p:nvSpPr>
        <p:spPr>
          <a:xfrm>
            <a:off x="850106" y="5105156"/>
            <a:ext cx="7443788" cy="461665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Morale: mai dimenticare che c'è anche il carattere '\0'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Confrontare due stringhe</a:t>
            </a:r>
            <a:endParaRPr/>
          </a:p>
        </p:txBody>
      </p:sp>
      <p:sp>
        <p:nvSpPr>
          <p:cNvPr id="521" name="Google Shape;521;p47"/>
          <p:cNvSpPr txBox="1"/>
          <p:nvPr>
            <p:ph idx="1" type="body"/>
          </p:nvPr>
        </p:nvSpPr>
        <p:spPr>
          <a:xfrm>
            <a:off x="457200" y="1600200"/>
            <a:ext cx="8229600" cy="1340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Una funzione apposita: </a:t>
            </a:r>
            <a:r>
              <a:rPr lang="it-IT" sz="3100">
                <a:latin typeface="Courier"/>
                <a:ea typeface="Courier"/>
                <a:cs typeface="Courier"/>
                <a:sym typeface="Courier"/>
              </a:rPr>
              <a:t>strcmp(s1, s2)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Restituisce un intero</a:t>
            </a:r>
            <a:endParaRPr/>
          </a:p>
          <a:p>
            <a:pPr indent="-228600" lvl="2" marL="1143000" rtl="0" algn="l"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0 se le stringhe sono uguali</a:t>
            </a:r>
            <a:endParaRPr/>
          </a:p>
          <a:p>
            <a:pPr indent="-285750" lvl="1" marL="742950" rtl="0" algn="l">
              <a:spcBef>
                <a:spcPts val="3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Confronta le due stringhe fino al ‘\0’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522" name="Google Shape;522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23" name="Google Shape;523;p47"/>
          <p:cNvSpPr/>
          <p:nvPr/>
        </p:nvSpPr>
        <p:spPr>
          <a:xfrm>
            <a:off x="1524000" y="2940203"/>
            <a:ext cx="6096000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char s1[32], s2[64];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diverse;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18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/* Acquisizione di valori per le stringhe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CC33"/>
              </a:buClr>
              <a:buSzPts val="1800"/>
              <a:buFont typeface="Courier"/>
              <a:buNone/>
            </a:pPr>
            <a:r>
              <a:rPr lang="it-IT" sz="1800">
                <a:solidFill>
                  <a:srgbClr val="33CC33"/>
                </a:solidFill>
                <a:latin typeface="Courier"/>
                <a:ea typeface="Courier"/>
                <a:cs typeface="Courier"/>
                <a:sym typeface="Courier"/>
              </a:rPr>
              <a:t>   (codice omesso)*/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diverse = strcmp(s1, s2);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sz="1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 (diverse ==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printf("UGUALI\n");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else if (diverse &lt; 0)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printf("%s PRECEDE %s\n", s1, s2);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"/>
              <a:buNone/>
            </a:pPr>
            <a:r>
              <a:rPr lang="it-IT" sz="1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printf("%s SEGUE %s\n", s1, s2);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strcmp(s1, s2)</a:t>
            </a:r>
            <a:endParaRPr/>
          </a:p>
        </p:txBody>
      </p:sp>
      <p:sp>
        <p:nvSpPr>
          <p:cNvPr id="529" name="Google Shape;529;p48"/>
          <p:cNvSpPr txBox="1"/>
          <p:nvPr>
            <p:ph idx="1" type="body"/>
          </p:nvPr>
        </p:nvSpPr>
        <p:spPr>
          <a:xfrm>
            <a:off x="457200" y="1600201"/>
            <a:ext cx="8229600" cy="160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it-IT"/>
              <a:t>E se non ci fosse?</a:t>
            </a:r>
            <a:endParaRPr/>
          </a:p>
          <a:p>
            <a:pPr indent="-285750" lvl="1" marL="74295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it-IT"/>
              <a:t>Controlliamo un carattere alla volta</a:t>
            </a:r>
            <a:endParaRPr/>
          </a:p>
          <a:p>
            <a:pPr indent="-285750" lvl="1" marL="742950" rtl="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–"/>
            </a:pPr>
            <a:r>
              <a:rPr lang="it-IT"/>
              <a:t>Interrompiamo il controllo appena sono diverse</a:t>
            </a:r>
            <a:endParaRPr/>
          </a:p>
        </p:txBody>
      </p:sp>
      <p:sp>
        <p:nvSpPr>
          <p:cNvPr id="530" name="Google Shape;530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31" name="Google Shape;531;p48"/>
          <p:cNvSpPr/>
          <p:nvPr/>
        </p:nvSpPr>
        <p:spPr>
          <a:xfrm>
            <a:off x="457201" y="3612357"/>
            <a:ext cx="82296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char s1[N], s2[M];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int i = 0;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…</a:t>
            </a:r>
            <a:endParaRPr sz="24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while (i&lt;strlen(s1) &amp;&amp; i&lt;strlen(s2)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                &amp;&amp; s1[i] == s2[i]) i++;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 (s1[i] == s2[i]) </a:t>
            </a:r>
            <a:r>
              <a:rPr lang="it-IT" sz="2400">
                <a:solidFill>
                  <a:srgbClr val="339933"/>
                </a:solidFill>
                <a:latin typeface="Courier"/>
                <a:ea typeface="Courier"/>
                <a:cs typeface="Courier"/>
                <a:sym typeface="Courier"/>
              </a:rPr>
              <a:t>/* s1[i] == ‘\0’*/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	… Le stringhe sono uguali …</a:t>
            </a:r>
            <a:endParaRPr sz="28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4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it-IT"/>
              <a:t>STRUCT</a:t>
            </a:r>
            <a:endParaRPr/>
          </a:p>
        </p:txBody>
      </p:sp>
      <p:sp>
        <p:nvSpPr>
          <p:cNvPr id="537" name="Google Shape;537;p4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538" name="Google Shape;538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Aggregazione di variabili</a:t>
            </a:r>
            <a:endParaRPr/>
          </a:p>
        </p:txBody>
      </p:sp>
      <p:sp>
        <p:nvSpPr>
          <p:cNvPr id="544" name="Google Shape;544;p5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Gruppi di variabili </a:t>
            </a:r>
            <a:r>
              <a:rPr i="1" lang="it-IT">
                <a:solidFill>
                  <a:srgbClr val="001FEF"/>
                </a:solidFill>
              </a:rPr>
              <a:t>omogenee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Array (vettori)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it-IT"/>
              <a:t>Gruppi di variabili </a:t>
            </a:r>
            <a:r>
              <a:rPr i="1" lang="it-IT">
                <a:solidFill>
                  <a:srgbClr val="001FEF"/>
                </a:solidFill>
              </a:rPr>
              <a:t>eterogenee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it-IT"/>
              <a:t>Struct (record)</a:t>
            </a:r>
            <a:endParaRPr/>
          </a:p>
        </p:txBody>
      </p:sp>
      <p:sp>
        <p:nvSpPr>
          <p:cNvPr id="545" name="Google Shape;545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it-IT"/>
              <a:t>Dichiarazione dei dati: </a:t>
            </a:r>
            <a:br>
              <a:rPr lang="it-IT"/>
            </a:br>
            <a:r>
              <a:rPr lang="it-IT"/>
              <a:t>dati complessi o strutturati</a:t>
            </a:r>
            <a:endParaRPr/>
          </a:p>
        </p:txBody>
      </p:sp>
      <p:sp>
        <p:nvSpPr>
          <p:cNvPr id="551" name="Google Shape;551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Record (o struct): memorizzano aggregazioni di dati (ciascun dato è chiamato “campo”) di diversa natura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struct {</a:t>
            </a:r>
            <a:endParaRPr/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char via[20];		/* 1o campo:  stringa	 */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int numero;			/* 2o campo:  intero	 */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int CAP;				/* 3o campo:  intero	 */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	char citta[20];	/* 4o campo:  stringa	 */</a:t>
            </a:r>
            <a:endParaRPr sz="2200">
              <a:latin typeface="Courier"/>
              <a:ea typeface="Courier"/>
              <a:cs typeface="Courier"/>
              <a:sym typeface="Courier"/>
            </a:endParaRPr>
          </a:p>
          <a:p>
            <a:pPr indent="0" lvl="1" marL="457200" rtl="0" algn="l">
              <a:spcBef>
                <a:spcPts val="407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200">
                <a:latin typeface="Courier"/>
                <a:ea typeface="Courier"/>
                <a:cs typeface="Courier"/>
                <a:sym typeface="Courier"/>
              </a:rPr>
              <a:t>} indirizzo;</a:t>
            </a:r>
            <a:endParaRPr/>
          </a:p>
          <a:p>
            <a:pPr indent="-121284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Indirizzo: un record con 4 campi di vario tipo</a:t>
            </a:r>
            <a:endParaRPr/>
          </a:p>
        </p:txBody>
      </p:sp>
      <p:sp>
        <p:nvSpPr>
          <p:cNvPr id="552" name="Google Shape;552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  <p:sp>
        <p:nvSpPr>
          <p:cNvPr id="553" name="Google Shape;553;p51"/>
          <p:cNvSpPr/>
          <p:nvPr/>
        </p:nvSpPr>
        <p:spPr>
          <a:xfrm>
            <a:off x="3428268" y="4832349"/>
            <a:ext cx="3930894" cy="381000"/>
          </a:xfrm>
          <a:prstGeom prst="wedgeRoundRectCallout">
            <a:avLst>
              <a:gd fmla="val -61478" name="adj1"/>
              <a:gd fmla="val -36826" name="adj2"/>
              <a:gd fmla="val 16667" name="adj3"/>
            </a:avLst>
          </a:prstGeom>
          <a:solidFill>
            <a:schemeClr val="lt1"/>
          </a:solidFill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</a:t>
            </a:r>
            <a:r>
              <a:rPr lang="it-IT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ome della variabile di tipo  record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Uso dei record</a:t>
            </a:r>
            <a:endParaRPr/>
          </a:p>
        </p:txBody>
      </p:sp>
      <p:sp>
        <p:nvSpPr>
          <p:cNvPr id="559" name="Google Shape;559;p5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record (o struct) è una sorta di “contenitore” di campi </a:t>
            </a:r>
            <a:r>
              <a:rPr i="1" lang="it-IT">
                <a:solidFill>
                  <a:srgbClr val="001FEF"/>
                </a:solidFill>
              </a:rPr>
              <a:t>di tipo eterogeneo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Il record raggruppa dati più semplici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Ne rende più ordinata la gestione, evitando confusioni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 campi del record non sono visibili direttamente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Il loro nome deve essere preceduto da quello del record a cui appartengono</a:t>
            </a:r>
            <a:endParaRPr/>
          </a:p>
          <a:p>
            <a:pPr indent="-228600" lvl="2" marL="1143000" rtl="0" algn="l"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Interponendo . come separatore</a:t>
            </a:r>
            <a:endParaRPr/>
          </a:p>
          <a:p>
            <a:pPr indent="-285750" lvl="1" marL="74295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Sono identificatori </a:t>
            </a:r>
            <a:r>
              <a:rPr i="1" lang="it-IT">
                <a:solidFill>
                  <a:srgbClr val="001FEF"/>
                </a:solidFill>
              </a:rPr>
              <a:t>locali</a:t>
            </a:r>
            <a:r>
              <a:rPr lang="it-IT">
                <a:solidFill>
                  <a:srgbClr val="001FEF"/>
                </a:solidFill>
              </a:rPr>
              <a:t> </a:t>
            </a:r>
            <a:r>
              <a:rPr lang="it-IT"/>
              <a:t>all’interno di una variabile di tipo strutturato, da usarsi come suffissi</a:t>
            </a:r>
            <a:endParaRPr/>
          </a:p>
        </p:txBody>
      </p:sp>
      <p:sp>
        <p:nvSpPr>
          <p:cNvPr id="560" name="Google Shape;560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Operazioni su record</a:t>
            </a:r>
            <a:endParaRPr/>
          </a:p>
        </p:txBody>
      </p:sp>
      <p:sp>
        <p:nvSpPr>
          <p:cNvPr id="566" name="Google Shape;566;p5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Assegnamento ai campi del record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strcpy(indirizzo.via, "Ponzio");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indirizzo.numero = 34;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indirizzo.CAP = 20133;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strcpy(indirizzo.citta, "Milano");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Accesso (leggere, scrivere…)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printf("%d\n", indirizzo.numero);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&gt; 34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printf("%d\n", strlen(indirizzo.citta));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&gt; 6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printf("%s\n", indirizzo.citta);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&gt; Milano</a:t>
            </a:r>
            <a:endParaRPr sz="2900">
              <a:latin typeface="Courier"/>
              <a:ea typeface="Courier"/>
              <a:cs typeface="Courier"/>
              <a:sym typeface="Courier"/>
            </a:endParaRPr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scanf("%s", indirizzo.via);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&gt; Ponzio↵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scanf("%d", &amp;indirizzo.CAP);</a:t>
            </a:r>
            <a:endParaRPr/>
          </a:p>
          <a:p>
            <a:pPr indent="0" lvl="1" marL="457200" rtl="0" algn="l">
              <a:spcBef>
                <a:spcPts val="31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900">
                <a:latin typeface="Courier"/>
                <a:ea typeface="Courier"/>
                <a:cs typeface="Courier"/>
                <a:sym typeface="Courier"/>
              </a:rPr>
              <a:t>&gt; 20133↵</a:t>
            </a:r>
            <a:endParaRPr/>
          </a:p>
        </p:txBody>
      </p:sp>
      <p:sp>
        <p:nvSpPr>
          <p:cNvPr id="567" name="Google Shape;567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it-IT"/>
              <a:t>Ancora operazioni su record</a:t>
            </a:r>
            <a:endParaRPr/>
          </a:p>
        </p:txBody>
      </p:sp>
      <p:sp>
        <p:nvSpPr>
          <p:cNvPr id="573" name="Google Shape;573;p5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Dati due record identici (cioè dichiarati insieme)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È lecito assegnare globalmente il primo al secondo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	</a:t>
            </a: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struct { … /* campi */ } rec1, rec2;</a:t>
            </a:r>
            <a:endParaRPr/>
          </a:p>
          <a:p>
            <a:pPr indent="-18542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È lecito scrivere: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/>
              <a:t>		</a:t>
            </a:r>
            <a:r>
              <a:rPr lang="it-IT" sz="2800">
                <a:latin typeface="Courier"/>
                <a:ea typeface="Courier"/>
                <a:cs typeface="Courier"/>
                <a:sym typeface="Courier"/>
              </a:rPr>
              <a:t>rec2 = rec1;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Tutti i campi di rec1 sono ordinatamente copiati nei campi corrispondenti di rec2.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Se i due record sono diversi (anche solo per l’ordine dei campi) l’assegnamento è privo di senso !</a:t>
            </a:r>
            <a:endParaRPr/>
          </a:p>
          <a:p>
            <a:pPr indent="-285750" lvl="1" marL="74295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it-IT"/>
              <a:t>Memento: l’assegnamento </a:t>
            </a:r>
            <a:r>
              <a:rPr i="1" lang="it-IT">
                <a:solidFill>
                  <a:srgbClr val="001FEF"/>
                </a:solidFill>
              </a:rPr>
              <a:t>diretto</a:t>
            </a:r>
            <a:r>
              <a:rPr lang="it-IT">
                <a:solidFill>
                  <a:srgbClr val="001FEF"/>
                </a:solidFill>
              </a:rPr>
              <a:t> </a:t>
            </a:r>
            <a:r>
              <a:rPr lang="it-IT"/>
              <a:t>tra array è vietato</a:t>
            </a:r>
            <a:endParaRPr/>
          </a:p>
          <a:p>
            <a:pPr indent="-228600" lvl="2" marL="1143000" rtl="0" algn="l"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it-IT"/>
              <a:t>Deve avvenire elemento per elemento</a:t>
            </a:r>
            <a:endParaRPr/>
          </a:p>
        </p:txBody>
      </p:sp>
      <p:sp>
        <p:nvSpPr>
          <p:cNvPr id="574" name="Google Shape;574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rmal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2000-09-24T09:01:15Z</dcterms:created>
  <dc:creator>Gerardo Pelosi</dc:creator>
</cp:coreProperties>
</file>