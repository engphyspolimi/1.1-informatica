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51d9be78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51d9be78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51d9be781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51d9be78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6112639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6112639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51d9be781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51d9be781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61126392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161126392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61126392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61126392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61126392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161126392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61126392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161126392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61126392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161126392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61126392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61126392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61126392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61126392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61126392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61126392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61126392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161126392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61126392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161126392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61126392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161126392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61126392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61126392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61126392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161126392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61126392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61126392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Liste e Pile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Informatica A  -  19/11/2024</a:t>
            </a:r>
            <a:endParaRPr/>
          </a:p>
        </p:txBody>
      </p:sp>
      <p:pic>
        <p:nvPicPr>
          <p:cNvPr descr="a stack of ice cream cones with the words &quot; 31 flavors &quot; (Fornito da Tenor)" id="133" name="Google Shape;133;p25"/>
          <p:cNvPicPr preferRelativeResize="0"/>
          <p:nvPr/>
        </p:nvPicPr>
        <p:blipFill rotWithShape="1">
          <a:blip r:embed="rId3">
            <a:alphaModFix/>
          </a:blip>
          <a:srcRect b="35195" l="0" r="0" t="0"/>
          <a:stretch/>
        </p:blipFill>
        <p:spPr>
          <a:xfrm>
            <a:off x="4145287" y="0"/>
            <a:ext cx="44063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 - Liste, Strutture Autoreferenziali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234626" y="1606226"/>
            <a:ext cx="1806300" cy="18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 </a:t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175" y="1831699"/>
            <a:ext cx="4457826" cy="18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 - Funzioni di Memoria</a:t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2538938" y="1633775"/>
            <a:ext cx="489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restituisce come valore di tipo </a:t>
            </a: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size_t</a:t>
            </a:r>
            <a:r>
              <a:rPr lang="it" sz="1300"/>
              <a:t> il numero totale di byte nell’array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1572263" y="2200625"/>
            <a:ext cx="96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malloc</a:t>
            </a:r>
            <a:r>
              <a:rPr lang="it" sz="1300"/>
              <a:t>  </a:t>
            </a:r>
            <a:endParaRPr/>
          </a:p>
        </p:txBody>
      </p:sp>
      <p:sp>
        <p:nvSpPr>
          <p:cNvPr id="148" name="Google Shape;148;p27"/>
          <p:cNvSpPr txBox="1"/>
          <p:nvPr/>
        </p:nvSpPr>
        <p:spPr>
          <a:xfrm>
            <a:off x="2538938" y="2200625"/>
            <a:ext cx="489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alloca la memoria relativa al numero di bit richiesti in input e restituisce un   puntatore </a:t>
            </a: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void *</a:t>
            </a:r>
            <a:r>
              <a:rPr lang="it" sz="1300"/>
              <a:t> alla memoria allocata</a:t>
            </a: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1572263" y="1633775"/>
            <a:ext cx="11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sizeof </a:t>
            </a:r>
            <a:r>
              <a:rPr lang="it" sz="1300"/>
              <a:t> </a:t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2298338" y="2200625"/>
            <a:ext cx="3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→ </a:t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2298338" y="1633775"/>
            <a:ext cx="3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→ 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1821188" y="2877025"/>
            <a:ext cx="5119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struct node* newPtr = malloc(sizeof(structNode));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2538938" y="3353325"/>
            <a:ext cx="503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ritorna la memoria al sistema quando non è più necessaria</a:t>
            </a:r>
            <a:endParaRPr sz="1300"/>
          </a:p>
        </p:txBody>
      </p:sp>
      <p:sp>
        <p:nvSpPr>
          <p:cNvPr id="154" name="Google Shape;154;p27"/>
          <p:cNvSpPr txBox="1"/>
          <p:nvPr/>
        </p:nvSpPr>
        <p:spPr>
          <a:xfrm>
            <a:off x="1572263" y="3353325"/>
            <a:ext cx="11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free </a:t>
            </a:r>
            <a:r>
              <a:rPr lang="it" sz="1300"/>
              <a:t> 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2298338" y="3353325"/>
            <a:ext cx="3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→ 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3548763" y="3829625"/>
            <a:ext cx="168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free(newPtr)</a:t>
            </a: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 - Insert/Print</a:t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775" y="1417275"/>
            <a:ext cx="4216475" cy="329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725" y="2368298"/>
            <a:ext cx="2293700" cy="12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1</a:t>
            </a:r>
            <a:endParaRPr/>
          </a:p>
        </p:txBody>
      </p:sp>
      <p:sp>
        <p:nvSpPr>
          <p:cNvPr id="169" name="Google Shape;169;p29"/>
          <p:cNvSpPr txBox="1"/>
          <p:nvPr>
            <p:ph idx="4294967295" type="subTitle"/>
          </p:nvPr>
        </p:nvSpPr>
        <p:spPr>
          <a:xfrm>
            <a:off x="727950" y="1458400"/>
            <a:ext cx="39012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concateni due liste collegate di caratteri. Il programma deve includere la funzione </a:t>
            </a:r>
            <a:r>
              <a:rPr lang="i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concatenate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 riceve come argomenti i puntatori a entrambe le liste e concatena la seconda lista alla prima.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400" y="575700"/>
            <a:ext cx="3244375" cy="336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400" y="3936777"/>
            <a:ext cx="3817076" cy="11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2</a:t>
            </a:r>
            <a:endParaRPr/>
          </a:p>
        </p:txBody>
      </p:sp>
      <p:sp>
        <p:nvSpPr>
          <p:cNvPr id="177" name="Google Shape;177;p30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in grado di fondere due liste ordinate di interi in una singola lista ordinata. La funzione </a:t>
            </a:r>
            <a:r>
              <a:rPr lang="i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merge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 ricevere i puntatori al primo nodo di ognuna delle liste da fondere e restituire un puntatore al primo nodo della lista fusa.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13" y="707850"/>
            <a:ext cx="3096868" cy="372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475" y="1263300"/>
            <a:ext cx="3532525" cy="2642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3</a:t>
            </a:r>
            <a:endParaRPr/>
          </a:p>
        </p:txBody>
      </p:sp>
      <p:sp>
        <p:nvSpPr>
          <p:cNvPr id="185" name="Google Shape;185;p31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inserisca a caso 25 interi da 0 a 100 in ordine in una lista collegata. Il programma deve calcolare la somma degli elementi e la loro media in virgola mobile.</a:t>
            </a:r>
            <a:endParaRPr/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600" y="1015600"/>
            <a:ext cx="3649320" cy="37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2600" y="1263300"/>
            <a:ext cx="3099000" cy="27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</a:t>
            </a:r>
            <a:endParaRPr/>
          </a:p>
        </p:txBody>
      </p:sp>
      <p:sp>
        <p:nvSpPr>
          <p:cNvPr id="193" name="Google Shape;193;p32"/>
          <p:cNvSpPr txBox="1"/>
          <p:nvPr>
            <p:ph idx="4294967295" type="subTitle"/>
          </p:nvPr>
        </p:nvSpPr>
        <p:spPr>
          <a:xfrm>
            <a:off x="729450" y="1237800"/>
            <a:ext cx="6358200" cy="30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Scrivere un programma che, attraverso una lista, permette di gestire le luce dell’albero di Natale.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lista contiene: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numero identificativo del led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colore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acceso/spento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programma deve includere funzioni per: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Collegare un nuovo led in ordine crescente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Scollegare un led dalla coda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Switchare led accesi con led spent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Creare una nuova lista con i led rossi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 (1)</a:t>
            </a:r>
            <a:endParaRPr/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25" y="1697925"/>
            <a:ext cx="5153074" cy="258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225" y="0"/>
            <a:ext cx="3154701" cy="322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4554" y="3224900"/>
            <a:ext cx="2445596" cy="19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 (2)</a:t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25" y="1290925"/>
            <a:ext cx="3875923" cy="372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875" y="1290927"/>
            <a:ext cx="4092800" cy="31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 (3)</a:t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025" y="638475"/>
            <a:ext cx="5787149" cy="228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7025" y="2921700"/>
            <a:ext cx="6146974" cy="1887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 (3)</a:t>
            </a:r>
            <a:endParaRPr/>
          </a:p>
        </p:txBody>
      </p:sp>
      <p:pic>
        <p:nvPicPr>
          <p:cNvPr id="221" name="Google Shape;2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025" y="638475"/>
            <a:ext cx="5787149" cy="228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7025" y="2921700"/>
            <a:ext cx="6146974" cy="1887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 (4)</a:t>
            </a:r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545326"/>
            <a:ext cx="8075902" cy="298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 - Pile</a:t>
            </a:r>
            <a:endParaRPr/>
          </a:p>
        </p:txBody>
      </p:sp>
      <p:sp>
        <p:nvSpPr>
          <p:cNvPr id="234" name="Google Shape;234;p38"/>
          <p:cNvSpPr txBox="1"/>
          <p:nvPr/>
        </p:nvSpPr>
        <p:spPr>
          <a:xfrm>
            <a:off x="441750" y="1684150"/>
            <a:ext cx="8107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Una pila (o stack) può essere implementata come versione vincolata di una lista collegata, in cui è possibile aggiungere nuovi nodi ed eliminare quelli esistenti solo in cima.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Last-In, First-Out (LIFO) →</a:t>
            </a:r>
            <a:r>
              <a:rPr lang="it"/>
              <a:t> </a:t>
            </a:r>
            <a:r>
              <a:rPr lang="it"/>
              <a:t> Il primo elemento a uscire è l’ultimo entrato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 fa riferimento ad una pila tramite un puntatore all’elemento in cima e Il membro link nell’ultimo nodo della pila è impostato a NULL, indicando il fondo della pila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 - Push/Pop</a:t>
            </a:r>
            <a:endParaRPr/>
          </a:p>
        </p:txBody>
      </p:sp>
      <p:pic>
        <p:nvPicPr>
          <p:cNvPr id="240" name="Google Shape;2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25" y="1582250"/>
            <a:ext cx="4373501" cy="2652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925" y="1899600"/>
            <a:ext cx="4548174" cy="201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5</a:t>
            </a:r>
            <a:endParaRPr/>
          </a:p>
        </p:txBody>
      </p:sp>
      <p:sp>
        <p:nvSpPr>
          <p:cNvPr id="247" name="Google Shape;247;p40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crei una lista collegata di 10 caratteri e poi crei una copia della lista in ordine inverso. </a:t>
            </a:r>
            <a:endParaRPr/>
          </a:p>
        </p:txBody>
      </p:sp>
      <p:pic>
        <p:nvPicPr>
          <p:cNvPr id="248" name="Google Shape;2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400" y="890575"/>
            <a:ext cx="3353415" cy="37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100" y="2571750"/>
            <a:ext cx="3686900" cy="17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6</a:t>
            </a:r>
            <a:endParaRPr/>
          </a:p>
        </p:txBody>
      </p:sp>
      <p:sp>
        <p:nvSpPr>
          <p:cNvPr id="255" name="Google Shape;255;p41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riceva in ingresso una riga di testo e usi una pila per stampare la riga in ordine inverso.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56" name="Google Shape;2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600" y="449950"/>
            <a:ext cx="3732949" cy="37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3600" y="4177750"/>
            <a:ext cx="3422850" cy="6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7</a:t>
            </a:r>
            <a:endParaRPr/>
          </a:p>
        </p:txBody>
      </p:sp>
      <p:sp>
        <p:nvSpPr>
          <p:cNvPr id="263" name="Google Shape;263;p42"/>
          <p:cNvSpPr txBox="1"/>
          <p:nvPr>
            <p:ph idx="4294967295" type="subTitle"/>
          </p:nvPr>
        </p:nvSpPr>
        <p:spPr>
          <a:xfrm>
            <a:off x="300000" y="1458400"/>
            <a:ext cx="4411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usi una pila per determinare se una stringa è un palindromo (cioè la stringa si legge allo stesso modo in avanti e all’indietro). Il programma deve ignorare spazi e punteggiatura.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438" y="2516525"/>
            <a:ext cx="3529874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801" y="563475"/>
            <a:ext cx="4276650" cy="40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