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Roboto Mon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Mono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RobotoMono-italic.fntdata"/><Relationship Id="rId27" Type="http://schemas.openxmlformats.org/officeDocument/2006/relationships/font" Target="fonts/RobotoMon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621529acd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621529acd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1621529acd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1621529acd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621529acd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1621529acd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1621529acd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1621529acd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1621529acd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1621529acd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1621529acd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1621529acd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1621529acd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1621529acd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621529acd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1621529acd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1621529acd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1621529acd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1621529acd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1621529acd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1621529acd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1621529acd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9" name="Google Shape;79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8" name="Google Shape;88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5" name="Google Shape;95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02" name="Google Shape;102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9" name="Google Shape;109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3" name="Google Shape;113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0" name="Google Shape;120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Liste e Pile</a:t>
            </a:r>
            <a:endParaRPr/>
          </a:p>
        </p:txBody>
      </p:sp>
      <p:sp>
        <p:nvSpPr>
          <p:cNvPr id="132" name="Google Shape;132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Informatica A  -  19/11/2024</a:t>
            </a:r>
            <a:endParaRPr/>
          </a:p>
        </p:txBody>
      </p:sp>
      <p:pic>
        <p:nvPicPr>
          <p:cNvPr descr="a stack of ice cream cones with the words &quot; 31 flavors &quot; (Fornito da Tenor)" id="133" name="Google Shape;133;p25"/>
          <p:cNvPicPr preferRelativeResize="0"/>
          <p:nvPr/>
        </p:nvPicPr>
        <p:blipFill rotWithShape="1">
          <a:blip r:embed="rId3">
            <a:alphaModFix/>
          </a:blip>
          <a:srcRect b="35195" l="0" r="0" t="0"/>
          <a:stretch/>
        </p:blipFill>
        <p:spPr>
          <a:xfrm>
            <a:off x="4145287" y="0"/>
            <a:ext cx="440633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Recap - Liste, Strutture Autoreferenziali</a:t>
            </a:r>
            <a:endParaRPr/>
          </a:p>
        </p:txBody>
      </p:sp>
      <p:sp>
        <p:nvSpPr>
          <p:cNvPr id="139" name="Google Shape;139;p26"/>
          <p:cNvSpPr txBox="1"/>
          <p:nvPr/>
        </p:nvSpPr>
        <p:spPr>
          <a:xfrm>
            <a:off x="234626" y="1606226"/>
            <a:ext cx="1806300" cy="180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 </a:t>
            </a:r>
            <a:endParaRPr/>
          </a:p>
        </p:txBody>
      </p:sp>
      <p:pic>
        <p:nvPicPr>
          <p:cNvPr id="140" name="Google Shape;1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175" y="1831699"/>
            <a:ext cx="4457826" cy="186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Recap - Funzioni di Memoria</a:t>
            </a:r>
            <a:endParaRPr/>
          </a:p>
        </p:txBody>
      </p:sp>
      <p:sp>
        <p:nvSpPr>
          <p:cNvPr id="146" name="Google Shape;146;p27"/>
          <p:cNvSpPr txBox="1"/>
          <p:nvPr/>
        </p:nvSpPr>
        <p:spPr>
          <a:xfrm>
            <a:off x="2538938" y="1633775"/>
            <a:ext cx="489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restituisce come valore di tipo </a:t>
            </a:r>
            <a:r>
              <a:rPr lang="it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size_t</a:t>
            </a:r>
            <a:r>
              <a:rPr lang="it" sz="1300"/>
              <a:t> il numero totale di byte nell’array</a:t>
            </a:r>
            <a:endParaRPr/>
          </a:p>
        </p:txBody>
      </p:sp>
      <p:sp>
        <p:nvSpPr>
          <p:cNvPr id="147" name="Google Shape;147;p27"/>
          <p:cNvSpPr txBox="1"/>
          <p:nvPr/>
        </p:nvSpPr>
        <p:spPr>
          <a:xfrm>
            <a:off x="1572263" y="2200625"/>
            <a:ext cx="966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malloc</a:t>
            </a:r>
            <a:r>
              <a:rPr lang="it" sz="1300"/>
              <a:t>  </a:t>
            </a:r>
            <a:endParaRPr/>
          </a:p>
        </p:txBody>
      </p:sp>
      <p:sp>
        <p:nvSpPr>
          <p:cNvPr id="148" name="Google Shape;148;p27"/>
          <p:cNvSpPr txBox="1"/>
          <p:nvPr/>
        </p:nvSpPr>
        <p:spPr>
          <a:xfrm>
            <a:off x="2538938" y="2200625"/>
            <a:ext cx="489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alloca la memoria relativa al numero di bit richiesti in input e restituisce un   puntatore </a:t>
            </a:r>
            <a:r>
              <a:rPr lang="it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void *</a:t>
            </a:r>
            <a:r>
              <a:rPr lang="it" sz="1300"/>
              <a:t> alla memoria allocata</a:t>
            </a:r>
            <a:endParaRPr/>
          </a:p>
        </p:txBody>
      </p:sp>
      <p:sp>
        <p:nvSpPr>
          <p:cNvPr id="149" name="Google Shape;149;p27"/>
          <p:cNvSpPr txBox="1"/>
          <p:nvPr/>
        </p:nvSpPr>
        <p:spPr>
          <a:xfrm>
            <a:off x="1572263" y="1633775"/>
            <a:ext cx="1127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sizeof </a:t>
            </a:r>
            <a:r>
              <a:rPr lang="it" sz="1300"/>
              <a:t> </a:t>
            </a:r>
            <a:endParaRPr/>
          </a:p>
        </p:txBody>
      </p:sp>
      <p:sp>
        <p:nvSpPr>
          <p:cNvPr id="150" name="Google Shape;150;p27"/>
          <p:cNvSpPr txBox="1"/>
          <p:nvPr/>
        </p:nvSpPr>
        <p:spPr>
          <a:xfrm>
            <a:off x="2298338" y="2200625"/>
            <a:ext cx="32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→ </a:t>
            </a:r>
            <a:endParaRPr/>
          </a:p>
        </p:txBody>
      </p:sp>
      <p:sp>
        <p:nvSpPr>
          <p:cNvPr id="151" name="Google Shape;151;p27"/>
          <p:cNvSpPr txBox="1"/>
          <p:nvPr/>
        </p:nvSpPr>
        <p:spPr>
          <a:xfrm>
            <a:off x="2298338" y="1633775"/>
            <a:ext cx="32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→ </a:t>
            </a:r>
            <a:endParaRPr/>
          </a:p>
        </p:txBody>
      </p:sp>
      <p:sp>
        <p:nvSpPr>
          <p:cNvPr id="152" name="Google Shape;152;p27"/>
          <p:cNvSpPr txBox="1"/>
          <p:nvPr/>
        </p:nvSpPr>
        <p:spPr>
          <a:xfrm>
            <a:off x="1821188" y="2877025"/>
            <a:ext cx="5119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struct node* newPtr = malloc(sizeof(structNode));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2538938" y="3353325"/>
            <a:ext cx="503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ritorna la memoria al sistema quando non è più necessaria</a:t>
            </a:r>
            <a:endParaRPr sz="1300"/>
          </a:p>
        </p:txBody>
      </p:sp>
      <p:sp>
        <p:nvSpPr>
          <p:cNvPr id="154" name="Google Shape;154;p27"/>
          <p:cNvSpPr txBox="1"/>
          <p:nvPr/>
        </p:nvSpPr>
        <p:spPr>
          <a:xfrm>
            <a:off x="1572263" y="3353325"/>
            <a:ext cx="1127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free </a:t>
            </a:r>
            <a:r>
              <a:rPr lang="it" sz="1300"/>
              <a:t> </a:t>
            </a:r>
            <a:endParaRPr/>
          </a:p>
        </p:txBody>
      </p:sp>
      <p:sp>
        <p:nvSpPr>
          <p:cNvPr id="155" name="Google Shape;155;p27"/>
          <p:cNvSpPr txBox="1"/>
          <p:nvPr/>
        </p:nvSpPr>
        <p:spPr>
          <a:xfrm>
            <a:off x="2298338" y="3353325"/>
            <a:ext cx="32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→ </a:t>
            </a:r>
            <a:endParaRPr/>
          </a:p>
        </p:txBody>
      </p:sp>
      <p:sp>
        <p:nvSpPr>
          <p:cNvPr id="156" name="Google Shape;156;p27"/>
          <p:cNvSpPr txBox="1"/>
          <p:nvPr/>
        </p:nvSpPr>
        <p:spPr>
          <a:xfrm>
            <a:off x="3548763" y="3829625"/>
            <a:ext cx="168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free(newPtr);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1</a:t>
            </a:r>
            <a:endParaRPr/>
          </a:p>
        </p:txBody>
      </p:sp>
      <p:sp>
        <p:nvSpPr>
          <p:cNvPr id="162" name="Google Shape;162;p28"/>
          <p:cNvSpPr txBox="1"/>
          <p:nvPr>
            <p:ph idx="4294967295" type="subTitle"/>
          </p:nvPr>
        </p:nvSpPr>
        <p:spPr>
          <a:xfrm>
            <a:off x="727950" y="1458400"/>
            <a:ext cx="3901200" cy="32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Scrivete un programma che concateni due liste collegate di caratteri. Il programma deve includere la funzione </a:t>
            </a:r>
            <a:r>
              <a:rPr lang="it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concatenate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che riceve come argomenti i puntatori a entrambe le liste e concatena la seconda lista alla prima.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2</a:t>
            </a:r>
            <a:endParaRPr/>
          </a:p>
        </p:txBody>
      </p:sp>
      <p:sp>
        <p:nvSpPr>
          <p:cNvPr id="168" name="Google Shape;168;p29"/>
          <p:cNvSpPr txBox="1"/>
          <p:nvPr>
            <p:ph idx="4294967295" type="subTitle"/>
          </p:nvPr>
        </p:nvSpPr>
        <p:spPr>
          <a:xfrm>
            <a:off x="300000" y="1458400"/>
            <a:ext cx="2023800" cy="32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Scrivete un programma in grado di fondere due liste ordinate di interi in una singola lista ordinata. La funzione </a:t>
            </a:r>
            <a:r>
              <a:rPr lang="it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merge</a:t>
            </a: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deve ricevere i puntatori al primo nodo di ognuna delle liste da fondere e restituire un puntatore al primo nodo della lista fusa.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3</a:t>
            </a:r>
            <a:endParaRPr/>
          </a:p>
        </p:txBody>
      </p:sp>
      <p:sp>
        <p:nvSpPr>
          <p:cNvPr id="174" name="Google Shape;174;p30"/>
          <p:cNvSpPr txBox="1"/>
          <p:nvPr>
            <p:ph idx="4294967295" type="subTitle"/>
          </p:nvPr>
        </p:nvSpPr>
        <p:spPr>
          <a:xfrm>
            <a:off x="300000" y="1458400"/>
            <a:ext cx="2023800" cy="32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Scrivete un programma che inserisca a caso 25 interi da 0 a 100 in ordine in una lista collegata. Il programma deve calcolare la somma degli elementi e la loro media in virgola mobile.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4</a:t>
            </a:r>
            <a:endParaRPr/>
          </a:p>
        </p:txBody>
      </p:sp>
      <p:sp>
        <p:nvSpPr>
          <p:cNvPr id="180" name="Google Shape;180;p31"/>
          <p:cNvSpPr txBox="1"/>
          <p:nvPr>
            <p:ph idx="4294967295" type="subTitle"/>
          </p:nvPr>
        </p:nvSpPr>
        <p:spPr>
          <a:xfrm>
            <a:off x="729450" y="1237800"/>
            <a:ext cx="6358200" cy="305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Scrivere un programma che, attraverso una lista, permette di gestire le luce dell’albero di Natale.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lista contiene: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numero identificativo del led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colore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x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acceso/spento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Il programma deve includere funzioni per: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Collegare un nuovo led in ordine crescente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Scollegare un led dalla coda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Switchare led accesi con led spent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Creare una nuova lista con i led rossi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Recap - Pile</a:t>
            </a:r>
            <a:endParaRPr/>
          </a:p>
        </p:txBody>
      </p:sp>
      <p:sp>
        <p:nvSpPr>
          <p:cNvPr id="186" name="Google Shape;186;p32"/>
          <p:cNvSpPr txBox="1"/>
          <p:nvPr/>
        </p:nvSpPr>
        <p:spPr>
          <a:xfrm>
            <a:off x="441750" y="1684150"/>
            <a:ext cx="81078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Una pila (o stack) può essere implementata come versione vincolata di una lista collegata, in cui è possibile aggiungere nuovi nodi ed eliminare quelli esistenti solo in cima.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Last-In, First-Out (LIFO) →</a:t>
            </a:r>
            <a:r>
              <a:rPr lang="it"/>
              <a:t>  Il primo elemento a uscire è l’ultimo entrato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Si fa riferimento ad una pila tramite un puntatore all’elemento in cima e Il membro link nell’ultimo nodo della pila è impostato a NULL, indicando il fondo della pila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5</a:t>
            </a:r>
            <a:endParaRPr/>
          </a:p>
        </p:txBody>
      </p:sp>
      <p:sp>
        <p:nvSpPr>
          <p:cNvPr id="192" name="Google Shape;192;p33"/>
          <p:cNvSpPr txBox="1"/>
          <p:nvPr>
            <p:ph idx="4294967295" type="subTitle"/>
          </p:nvPr>
        </p:nvSpPr>
        <p:spPr>
          <a:xfrm>
            <a:off x="300000" y="1458400"/>
            <a:ext cx="2023800" cy="32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Scrivete un programma che crei una lista collegata di 10 caratteri e poi crei una copia della lista in ordine inverso.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6</a:t>
            </a:r>
            <a:endParaRPr/>
          </a:p>
        </p:txBody>
      </p:sp>
      <p:sp>
        <p:nvSpPr>
          <p:cNvPr id="198" name="Google Shape;198;p34"/>
          <p:cNvSpPr txBox="1"/>
          <p:nvPr>
            <p:ph idx="4294967295" type="subTitle"/>
          </p:nvPr>
        </p:nvSpPr>
        <p:spPr>
          <a:xfrm>
            <a:off x="300000" y="1458400"/>
            <a:ext cx="2023800" cy="32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Scrivete un programma che riceva in ingresso una riga di testo e usi una pila per stampare la riga in ordine inverso.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type="title"/>
          </p:nvPr>
        </p:nvSpPr>
        <p:spPr>
          <a:xfrm>
            <a:off x="729450" y="575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Esercizio 7</a:t>
            </a:r>
            <a:endParaRPr/>
          </a:p>
        </p:txBody>
      </p:sp>
      <p:sp>
        <p:nvSpPr>
          <p:cNvPr id="204" name="Google Shape;204;p35"/>
          <p:cNvSpPr txBox="1"/>
          <p:nvPr>
            <p:ph idx="4294967295" type="subTitle"/>
          </p:nvPr>
        </p:nvSpPr>
        <p:spPr>
          <a:xfrm>
            <a:off x="300000" y="1458400"/>
            <a:ext cx="4411800" cy="32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Scrivete un programma che usi una pila per determinare se una stringa è un palindromo (cioè la stringa si legge allo stesso modo in avanti e all’indietro). Il programma deve ignorare spazi e punteggiatura.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